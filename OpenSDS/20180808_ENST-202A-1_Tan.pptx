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058400" cy="7772400"/>
  <p:notesSz cx="10058400" cy="7772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82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79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‹Nr.›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‹Nr.›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5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‹Nr.›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‹Nr.›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99326" y="1749149"/>
            <a:ext cx="2045564" cy="7556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693775" y="4093070"/>
            <a:ext cx="5857529" cy="23347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‹Nr.›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577559" y="1440602"/>
            <a:ext cx="766965" cy="2744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4921" y="2016213"/>
            <a:ext cx="7588557" cy="327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7574" y="2761148"/>
            <a:ext cx="7543251" cy="1769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7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2269" y="6155394"/>
            <a:ext cx="106679" cy="126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‹Nr.›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hyperlink" Target="http://nvmexpress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vmexpress.org/wp-conten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50.jpg"/><Relationship Id="rId7" Type="http://schemas.openxmlformats.org/officeDocument/2006/relationships/image" Target="../media/image54.jp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jp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mailto:info@opensds.io" TargetMode="External"/><Relationship Id="rId3" Type="http://schemas.openxmlformats.org/officeDocument/2006/relationships/image" Target="../media/image66.png"/><Relationship Id="rId7" Type="http://schemas.openxmlformats.org/officeDocument/2006/relationships/hyperlink" Target="http://www.opensds.io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75" y="3385892"/>
            <a:ext cx="707517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b="1" spc="10" dirty="0">
                <a:latin typeface="Arial"/>
                <a:cs typeface="Arial"/>
              </a:rPr>
              <a:t>Ma</a:t>
            </a:r>
            <a:r>
              <a:rPr sz="1950" b="1" spc="5" dirty="0">
                <a:latin typeface="Arial"/>
                <a:cs typeface="Arial"/>
              </a:rPr>
              <a:t>n</a:t>
            </a:r>
            <a:r>
              <a:rPr sz="1950" b="1" spc="10" dirty="0">
                <a:latin typeface="Arial"/>
                <a:cs typeface="Arial"/>
              </a:rPr>
              <a:t>a</a:t>
            </a:r>
            <a:r>
              <a:rPr sz="1950" b="1" spc="5" dirty="0">
                <a:latin typeface="Arial"/>
                <a:cs typeface="Arial"/>
              </a:rPr>
              <a:t>gin</a:t>
            </a:r>
            <a:r>
              <a:rPr sz="1950" b="1" spc="10" dirty="0">
                <a:latin typeface="Arial"/>
                <a:cs typeface="Arial"/>
              </a:rPr>
              <a:t>g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spc="5" dirty="0">
                <a:latin typeface="Arial"/>
                <a:cs typeface="Arial"/>
              </a:rPr>
              <a:t>Flash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spc="5" dirty="0">
                <a:latin typeface="Arial"/>
                <a:cs typeface="Arial"/>
              </a:rPr>
              <a:t>In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spc="15" dirty="0">
                <a:latin typeface="Arial"/>
                <a:cs typeface="Arial"/>
              </a:rPr>
              <a:t>O</a:t>
            </a:r>
            <a:r>
              <a:rPr sz="1950" b="1" spc="5" dirty="0">
                <a:latin typeface="Arial"/>
                <a:cs typeface="Arial"/>
              </a:rPr>
              <a:t>p</a:t>
            </a:r>
            <a:r>
              <a:rPr sz="1950" b="1" spc="10" dirty="0">
                <a:latin typeface="Arial"/>
                <a:cs typeface="Arial"/>
              </a:rPr>
              <a:t>e</a:t>
            </a:r>
            <a:r>
              <a:rPr sz="1950" b="1" spc="5" dirty="0">
                <a:latin typeface="Arial"/>
                <a:cs typeface="Arial"/>
              </a:rPr>
              <a:t>n</a:t>
            </a:r>
            <a:r>
              <a:rPr sz="1950" b="1" spc="10" dirty="0">
                <a:latin typeface="Arial"/>
                <a:cs typeface="Arial"/>
              </a:rPr>
              <a:t>SDS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spc="5" dirty="0">
                <a:latin typeface="Arial"/>
                <a:cs typeface="Arial"/>
              </a:rPr>
              <a:t>For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spc="5" dirty="0">
                <a:latin typeface="Arial"/>
                <a:cs typeface="Arial"/>
              </a:rPr>
              <a:t>Clou</a:t>
            </a:r>
            <a:r>
              <a:rPr sz="1950" b="1" spc="10" dirty="0">
                <a:latin typeface="Arial"/>
                <a:cs typeface="Arial"/>
              </a:rPr>
              <a:t>d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spc="5" dirty="0">
                <a:latin typeface="Arial"/>
                <a:cs typeface="Arial"/>
              </a:rPr>
              <a:t>Native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spc="5" dirty="0">
                <a:latin typeface="Arial"/>
                <a:cs typeface="Arial"/>
              </a:rPr>
              <a:t>F</a:t>
            </a:r>
            <a:r>
              <a:rPr sz="1950" b="1" spc="10" dirty="0">
                <a:latin typeface="Arial"/>
                <a:cs typeface="Arial"/>
              </a:rPr>
              <a:t>ramew</a:t>
            </a:r>
            <a:r>
              <a:rPr sz="1950" b="1" spc="5" dirty="0">
                <a:latin typeface="Arial"/>
                <a:cs typeface="Arial"/>
              </a:rPr>
              <a:t>orks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8902" y="3949038"/>
            <a:ext cx="649351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20" dirty="0">
                <a:latin typeface="Arial"/>
                <a:cs typeface="Arial"/>
              </a:rPr>
              <a:t>STEVEN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b="1" spc="-70" dirty="0">
                <a:latin typeface="Arial"/>
                <a:cs typeface="Arial"/>
              </a:rPr>
              <a:t>T</a:t>
            </a:r>
            <a:r>
              <a:rPr sz="1150" b="1" spc="15" dirty="0">
                <a:latin typeface="Arial"/>
                <a:cs typeface="Arial"/>
              </a:rPr>
              <a:t>AN,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spc="20" dirty="0">
                <a:latin typeface="Arial"/>
                <a:cs typeface="Arial"/>
              </a:rPr>
              <a:t>OpenSDS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20" dirty="0">
                <a:latin typeface="Arial"/>
                <a:cs typeface="Arial"/>
              </a:rPr>
              <a:t>TSC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Chai</a:t>
            </a:r>
            <a:r>
              <a:rPr sz="1150" spc="-60" dirty="0">
                <a:latin typeface="Arial"/>
                <a:cs typeface="Arial"/>
              </a:rPr>
              <a:t>r</a:t>
            </a:r>
            <a:r>
              <a:rPr sz="1150" spc="5" dirty="0">
                <a:latin typeface="Arial"/>
                <a:cs typeface="Arial"/>
              </a:rPr>
              <a:t>,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20" dirty="0">
                <a:latin typeface="Arial"/>
                <a:cs typeface="Arial"/>
              </a:rPr>
              <a:t>VP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20" dirty="0">
                <a:latin typeface="Arial"/>
                <a:cs typeface="Arial"/>
              </a:rPr>
              <a:t>&amp;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25" dirty="0">
                <a:latin typeface="Arial"/>
                <a:cs typeface="Arial"/>
              </a:rPr>
              <a:t>C</a:t>
            </a:r>
            <a:r>
              <a:rPr sz="1150" spc="-5" dirty="0">
                <a:latin typeface="Arial"/>
                <a:cs typeface="Arial"/>
              </a:rPr>
              <a:t>T</a:t>
            </a:r>
            <a:r>
              <a:rPr sz="1150" spc="25" dirty="0">
                <a:latin typeface="Arial"/>
                <a:cs typeface="Arial"/>
              </a:rPr>
              <a:t>O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Cloud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Storage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Solution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0" dirty="0">
                <a:latin typeface="Arial"/>
                <a:cs typeface="Arial"/>
              </a:rPr>
              <a:t>-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Huawei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@stevenphtan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150" b="1" spc="20" dirty="0">
                <a:latin typeface="Arial"/>
                <a:cs typeface="Arial"/>
              </a:rPr>
              <a:t>ANJANE</a:t>
            </a:r>
            <a:r>
              <a:rPr sz="1150" b="1" spc="-90" dirty="0">
                <a:latin typeface="Arial"/>
                <a:cs typeface="Arial"/>
              </a:rPr>
              <a:t>Y</a:t>
            </a:r>
            <a:r>
              <a:rPr sz="1150" b="1" spc="25" dirty="0">
                <a:latin typeface="Arial"/>
                <a:cs typeface="Arial"/>
              </a:rPr>
              <a:t>A</a:t>
            </a:r>
            <a:r>
              <a:rPr sz="1150" b="1" spc="-5" dirty="0">
                <a:latin typeface="Times New Roman"/>
                <a:cs typeface="Times New Roman"/>
              </a:rPr>
              <a:t> </a:t>
            </a:r>
            <a:r>
              <a:rPr sz="1150" b="1" spc="20" dirty="0">
                <a:latin typeface="Arial"/>
                <a:cs typeface="Arial"/>
              </a:rPr>
              <a:t>‘REDDY’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spc="25" dirty="0">
                <a:latin typeface="Arial"/>
                <a:cs typeface="Arial"/>
              </a:rPr>
              <a:t>CHAGA</a:t>
            </a:r>
            <a:r>
              <a:rPr sz="1150" b="1" spc="20" dirty="0">
                <a:latin typeface="Arial"/>
                <a:cs typeface="Arial"/>
              </a:rPr>
              <a:t>M</a:t>
            </a:r>
            <a:r>
              <a:rPr sz="1150" spc="5" dirty="0">
                <a:latin typeface="Arial"/>
                <a:cs typeface="Arial"/>
              </a:rPr>
              <a:t>,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20" dirty="0">
                <a:latin typeface="Arial"/>
                <a:cs typeface="Arial"/>
              </a:rPr>
              <a:t>OpenSDS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TSC,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Chief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20" dirty="0">
                <a:latin typeface="Arial"/>
                <a:cs typeface="Arial"/>
              </a:rPr>
              <a:t>SDS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Architect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–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0" dirty="0">
                <a:latin typeface="Arial"/>
                <a:cs typeface="Arial"/>
              </a:rPr>
              <a:t>Intel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2744330" y="2669252"/>
            <a:ext cx="1536065" cy="866140"/>
          </a:xfrm>
          <a:custGeom>
            <a:avLst/>
            <a:gdLst/>
            <a:ahLst/>
            <a:cxnLst/>
            <a:rect l="l" t="t" r="r" b="b"/>
            <a:pathLst>
              <a:path w="1536064" h="866139">
                <a:moveTo>
                  <a:pt x="0" y="866000"/>
                </a:moveTo>
                <a:lnTo>
                  <a:pt x="1535966" y="866000"/>
                </a:lnTo>
                <a:lnTo>
                  <a:pt x="1535966" y="0"/>
                </a:lnTo>
                <a:lnTo>
                  <a:pt x="0" y="0"/>
                </a:lnTo>
                <a:lnTo>
                  <a:pt x="0" y="866000"/>
                </a:lnTo>
                <a:close/>
              </a:path>
            </a:pathLst>
          </a:custGeom>
          <a:solidFill>
            <a:srgbClr val="3C97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65292" y="2806465"/>
            <a:ext cx="1100455" cy="615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635" algn="ctr">
              <a:lnSpc>
                <a:spcPct val="100699"/>
              </a:lnSpc>
            </a:pPr>
            <a:r>
              <a:rPr sz="1350" b="1" spc="10" dirty="0">
                <a:solidFill>
                  <a:srgbClr val="FFFFFF"/>
                </a:solidFill>
                <a:latin typeface="Arial"/>
                <a:cs typeface="Arial"/>
              </a:rPr>
              <a:t>Control/</a:t>
            </a:r>
            <a:r>
              <a:rPr sz="13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3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0" dirty="0">
                <a:solidFill>
                  <a:srgbClr val="FFFFFF"/>
                </a:solidFill>
                <a:latin typeface="Arial"/>
                <a:cs typeface="Arial"/>
              </a:rPr>
              <a:t>Plane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4330" y="3569753"/>
            <a:ext cx="1536065" cy="866140"/>
          </a:xfrm>
          <a:custGeom>
            <a:avLst/>
            <a:gdLst/>
            <a:ahLst/>
            <a:cxnLst/>
            <a:rect l="l" t="t" r="r" b="b"/>
            <a:pathLst>
              <a:path w="1536064" h="866139">
                <a:moveTo>
                  <a:pt x="0" y="866000"/>
                </a:moveTo>
                <a:lnTo>
                  <a:pt x="1535954" y="866000"/>
                </a:lnTo>
                <a:lnTo>
                  <a:pt x="1535954" y="0"/>
                </a:lnTo>
                <a:lnTo>
                  <a:pt x="0" y="0"/>
                </a:lnTo>
                <a:lnTo>
                  <a:pt x="0" y="866000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53133" y="3917906"/>
            <a:ext cx="92519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1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35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0" dirty="0">
                <a:solidFill>
                  <a:srgbClr val="FFFFFF"/>
                </a:solidFill>
                <a:latin typeface="Arial"/>
                <a:cs typeface="Arial"/>
              </a:rPr>
              <a:t>Plane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4330" y="4470236"/>
            <a:ext cx="1536065" cy="866140"/>
          </a:xfrm>
          <a:custGeom>
            <a:avLst/>
            <a:gdLst/>
            <a:ahLst/>
            <a:cxnLst/>
            <a:rect l="l" t="t" r="r" b="b"/>
            <a:pathLst>
              <a:path w="1536064" h="866139">
                <a:moveTo>
                  <a:pt x="0" y="865988"/>
                </a:moveTo>
                <a:lnTo>
                  <a:pt x="1535966" y="865988"/>
                </a:lnTo>
                <a:lnTo>
                  <a:pt x="1535966" y="0"/>
                </a:lnTo>
                <a:lnTo>
                  <a:pt x="0" y="0"/>
                </a:lnTo>
                <a:lnTo>
                  <a:pt x="0" y="865988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38045" y="4712927"/>
            <a:ext cx="1355090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2595" marR="5080" indent="-430530">
              <a:lnSpc>
                <a:spcPts val="1580"/>
              </a:lnSpc>
            </a:pPr>
            <a:r>
              <a:rPr sz="1350" b="1" spc="10" dirty="0">
                <a:solidFill>
                  <a:srgbClr val="FFFFFF"/>
                </a:solidFill>
                <a:latin typeface="Arial"/>
                <a:cs typeface="Arial"/>
              </a:rPr>
              <a:t>Storage/Service</a:t>
            </a:r>
            <a:r>
              <a:rPr sz="13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0" dirty="0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80275" y="2669252"/>
            <a:ext cx="4046220" cy="866140"/>
          </a:xfrm>
          <a:custGeom>
            <a:avLst/>
            <a:gdLst/>
            <a:ahLst/>
            <a:cxnLst/>
            <a:rect l="l" t="t" r="r" b="b"/>
            <a:pathLst>
              <a:path w="4046220" h="866139">
                <a:moveTo>
                  <a:pt x="0" y="866000"/>
                </a:moveTo>
                <a:lnTo>
                  <a:pt x="4046097" y="866000"/>
                </a:lnTo>
                <a:lnTo>
                  <a:pt x="4046097" y="0"/>
                </a:lnTo>
                <a:lnTo>
                  <a:pt x="0" y="0"/>
                </a:lnTo>
                <a:lnTo>
                  <a:pt x="0" y="866000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61183" y="2846906"/>
            <a:ext cx="3890010" cy="527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Standard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REST</a:t>
            </a:r>
            <a:r>
              <a:rPr sz="11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API,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Pane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Management,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Policy-</a:t>
            </a:r>
            <a:r>
              <a:rPr sz="11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Based,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Services,</a:t>
            </a:r>
            <a:r>
              <a:rPr sz="115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Orchestration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Automation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80275" y="3569753"/>
            <a:ext cx="4046220" cy="866140"/>
          </a:xfrm>
          <a:custGeom>
            <a:avLst/>
            <a:gdLst/>
            <a:ahLst/>
            <a:cxnLst/>
            <a:rect l="l" t="t" r="r" b="b"/>
            <a:pathLst>
              <a:path w="4046220" h="866139">
                <a:moveTo>
                  <a:pt x="0" y="866000"/>
                </a:moveTo>
                <a:lnTo>
                  <a:pt x="4046097" y="866000"/>
                </a:lnTo>
                <a:lnTo>
                  <a:pt x="4046097" y="0"/>
                </a:lnTo>
                <a:lnTo>
                  <a:pt x="0" y="0"/>
                </a:lnTo>
                <a:lnTo>
                  <a:pt x="0" y="86600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21749" y="3837799"/>
            <a:ext cx="356870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marR="5080" indent="-89535">
              <a:lnSpc>
                <a:spcPct val="100000"/>
              </a:lnSpc>
            </a:pP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0" dirty="0">
                <a:solidFill>
                  <a:srgbClr val="FFFFFF"/>
                </a:solidFill>
                <a:latin typeface="Arial"/>
                <a:cs typeface="Arial"/>
              </a:rPr>
              <a:t>Reliabilit</a:t>
            </a:r>
            <a:r>
              <a:rPr sz="1150" b="1" spc="-7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50" b="1" spc="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sz="11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-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50" b="1" spc="10" dirty="0">
                <a:solidFill>
                  <a:srgbClr val="FFFFFF"/>
                </a:solidFill>
                <a:latin typeface="Arial"/>
                <a:cs typeface="Arial"/>
              </a:rPr>
              <a:t>vailabilit</a:t>
            </a:r>
            <a:r>
              <a:rPr sz="1150" b="1" spc="-7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50" b="1" spc="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Protection,</a:t>
            </a:r>
            <a:r>
              <a:rPr sz="11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Mobilit</a:t>
            </a:r>
            <a:r>
              <a:rPr sz="1150" b="1" spc="-7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50" b="1" spc="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Reduction,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I/O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80275" y="4470236"/>
            <a:ext cx="4046220" cy="866140"/>
          </a:xfrm>
          <a:custGeom>
            <a:avLst/>
            <a:gdLst/>
            <a:ahLst/>
            <a:cxnLst/>
            <a:rect l="l" t="t" r="r" b="b"/>
            <a:pathLst>
              <a:path w="4046220" h="866139">
                <a:moveTo>
                  <a:pt x="0" y="865988"/>
                </a:moveTo>
                <a:lnTo>
                  <a:pt x="4046097" y="865988"/>
                </a:lnTo>
                <a:lnTo>
                  <a:pt x="4046097" y="0"/>
                </a:lnTo>
                <a:lnTo>
                  <a:pt x="0" y="0"/>
                </a:lnTo>
                <a:lnTo>
                  <a:pt x="0" y="865988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618358" y="4738293"/>
            <a:ext cx="337566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9135" marR="5080" indent="-687070">
              <a:lnSpc>
                <a:spcPct val="100000"/>
              </a:lnSpc>
            </a:pP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DAS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(HDD/Flash),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SAN,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NAS,</a:t>
            </a:r>
            <a:r>
              <a:rPr sz="11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50" b="1" spc="-5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A,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Commodit</a:t>
            </a:r>
            <a:r>
              <a:rPr sz="1150" b="1" spc="-7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50" b="1" spc="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1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Private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Cloud,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sz="11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79825" y="2669249"/>
            <a:ext cx="1536065" cy="2667000"/>
          </a:xfrm>
          <a:custGeom>
            <a:avLst/>
            <a:gdLst/>
            <a:ahLst/>
            <a:cxnLst/>
            <a:rect l="l" t="t" r="r" b="b"/>
            <a:pathLst>
              <a:path w="1536064" h="2667000">
                <a:moveTo>
                  <a:pt x="0" y="2666975"/>
                </a:moveTo>
                <a:lnTo>
                  <a:pt x="1535954" y="2666975"/>
                </a:lnTo>
                <a:lnTo>
                  <a:pt x="1535954" y="0"/>
                </a:lnTo>
                <a:lnTo>
                  <a:pt x="0" y="0"/>
                </a:lnTo>
                <a:lnTo>
                  <a:pt x="0" y="2666975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57859" y="3787054"/>
            <a:ext cx="986790" cy="465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745" marR="5080" indent="-106680">
              <a:lnSpc>
                <a:spcPct val="101000"/>
              </a:lnSpc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Open</a:t>
            </a:r>
            <a:r>
              <a:rPr sz="15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SDS</a:t>
            </a:r>
            <a:r>
              <a:rPr sz="15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39179" y="3281723"/>
            <a:ext cx="1417237" cy="5070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57567" y="5711484"/>
            <a:ext cx="7188200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b="1" spc="10" dirty="0">
                <a:latin typeface="Arial"/>
                <a:cs typeface="Arial"/>
              </a:rPr>
              <a:t>Dec</a:t>
            </a:r>
            <a:r>
              <a:rPr sz="1750" b="1" spc="5" dirty="0">
                <a:latin typeface="Arial"/>
                <a:cs typeface="Arial"/>
              </a:rPr>
              <a:t>oupled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contro</a:t>
            </a:r>
            <a:r>
              <a:rPr sz="1750" b="1" dirty="0">
                <a:latin typeface="Arial"/>
                <a:cs typeface="Arial"/>
              </a:rPr>
              <a:t>l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plane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fro</a:t>
            </a:r>
            <a:r>
              <a:rPr sz="1750" b="1" spc="15" dirty="0">
                <a:latin typeface="Arial"/>
                <a:cs typeface="Arial"/>
              </a:rPr>
              <a:t>m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data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plane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an</a:t>
            </a:r>
            <a:r>
              <a:rPr sz="1750" b="1" spc="10" dirty="0">
                <a:latin typeface="Arial"/>
                <a:cs typeface="Arial"/>
              </a:rPr>
              <a:t>d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storage/service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layer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2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Th</a:t>
            </a:r>
            <a:r>
              <a:rPr spc="10" dirty="0"/>
              <a:t>e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10" dirty="0"/>
              <a:t>Pr</a:t>
            </a:r>
            <a:r>
              <a:rPr dirty="0"/>
              <a:t>oj</a:t>
            </a:r>
            <a:r>
              <a:rPr spc="10" dirty="0"/>
              <a:t>ects</a:t>
            </a:r>
          </a:p>
        </p:txBody>
      </p:sp>
      <p:sp>
        <p:nvSpPr>
          <p:cNvPr id="3" name="object 3"/>
          <p:cNvSpPr/>
          <p:nvPr/>
        </p:nvSpPr>
        <p:spPr>
          <a:xfrm>
            <a:off x="4952969" y="3706892"/>
            <a:ext cx="3774440" cy="1214120"/>
          </a:xfrm>
          <a:custGeom>
            <a:avLst/>
            <a:gdLst/>
            <a:ahLst/>
            <a:cxnLst/>
            <a:rect l="l" t="t" r="r" b="b"/>
            <a:pathLst>
              <a:path w="3774440" h="1214120">
                <a:moveTo>
                  <a:pt x="0" y="1213628"/>
                </a:moveTo>
                <a:lnTo>
                  <a:pt x="3773972" y="1213628"/>
                </a:lnTo>
                <a:lnTo>
                  <a:pt x="3773972" y="0"/>
                </a:lnTo>
                <a:lnTo>
                  <a:pt x="0" y="0"/>
                </a:lnTo>
                <a:lnTo>
                  <a:pt x="0" y="1213628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78242" y="3760830"/>
            <a:ext cx="1929764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05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Hotpot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ts val="1005"/>
              </a:lnSpc>
            </a:pPr>
            <a:r>
              <a:rPr sz="850" spc="15" dirty="0">
                <a:solidFill>
                  <a:srgbClr val="FFFFFF"/>
                </a:solidFill>
                <a:latin typeface="Arial"/>
                <a:cs typeface="Arial"/>
              </a:rPr>
              <a:t>Discove</a:t>
            </a:r>
            <a:r>
              <a:rPr sz="850" spc="-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850" spc="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FFFFFF"/>
                </a:solidFill>
                <a:latin typeface="Arial"/>
                <a:cs typeface="Arial"/>
              </a:rPr>
              <a:t>Pool,</a:t>
            </a:r>
            <a:r>
              <a:rPr sz="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FFFFFF"/>
                </a:solidFill>
                <a:latin typeface="Arial"/>
                <a:cs typeface="Arial"/>
              </a:rPr>
              <a:t>Provision,</a:t>
            </a:r>
            <a:r>
              <a:rPr sz="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FFFFFF"/>
                </a:solidFill>
                <a:latin typeface="Arial"/>
                <a:cs typeface="Arial"/>
              </a:rPr>
              <a:t>Orchestrate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77971" y="4181915"/>
            <a:ext cx="713740" cy="271780"/>
          </a:xfrm>
          <a:custGeom>
            <a:avLst/>
            <a:gdLst/>
            <a:ahLst/>
            <a:cxnLst/>
            <a:rect l="l" t="t" r="r" b="b"/>
            <a:pathLst>
              <a:path w="713739" h="271779">
                <a:moveTo>
                  <a:pt x="0" y="271212"/>
                </a:moveTo>
                <a:lnTo>
                  <a:pt x="713707" y="271212"/>
                </a:lnTo>
                <a:lnTo>
                  <a:pt x="713707" y="0"/>
                </a:lnTo>
                <a:lnTo>
                  <a:pt x="0" y="0"/>
                </a:lnTo>
                <a:lnTo>
                  <a:pt x="0" y="271212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43263" y="4181519"/>
            <a:ext cx="713740" cy="271780"/>
          </a:xfrm>
          <a:custGeom>
            <a:avLst/>
            <a:gdLst/>
            <a:ahLst/>
            <a:cxnLst/>
            <a:rect l="l" t="t" r="r" b="b"/>
            <a:pathLst>
              <a:path w="713740" h="271779">
                <a:moveTo>
                  <a:pt x="0" y="271212"/>
                </a:moveTo>
                <a:lnTo>
                  <a:pt x="713719" y="271212"/>
                </a:lnTo>
                <a:lnTo>
                  <a:pt x="713719" y="0"/>
                </a:lnTo>
                <a:lnTo>
                  <a:pt x="0" y="0"/>
                </a:lnTo>
                <a:lnTo>
                  <a:pt x="0" y="271212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08555" y="4181519"/>
            <a:ext cx="713740" cy="271780"/>
          </a:xfrm>
          <a:custGeom>
            <a:avLst/>
            <a:gdLst/>
            <a:ahLst/>
            <a:cxnLst/>
            <a:rect l="l" t="t" r="r" b="b"/>
            <a:pathLst>
              <a:path w="713740" h="271779">
                <a:moveTo>
                  <a:pt x="0" y="271212"/>
                </a:moveTo>
                <a:lnTo>
                  <a:pt x="713719" y="271212"/>
                </a:lnTo>
                <a:lnTo>
                  <a:pt x="713719" y="0"/>
                </a:lnTo>
                <a:lnTo>
                  <a:pt x="0" y="0"/>
                </a:lnTo>
                <a:lnTo>
                  <a:pt x="0" y="271212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05232" y="5115293"/>
            <a:ext cx="4208780" cy="424815"/>
          </a:xfrm>
          <a:custGeom>
            <a:avLst/>
            <a:gdLst/>
            <a:ahLst/>
            <a:cxnLst/>
            <a:rect l="l" t="t" r="r" b="b"/>
            <a:pathLst>
              <a:path w="4208780" h="424814">
                <a:moveTo>
                  <a:pt x="2104278" y="0"/>
                </a:moveTo>
                <a:lnTo>
                  <a:pt x="1931693" y="703"/>
                </a:lnTo>
                <a:lnTo>
                  <a:pt x="1598592" y="6165"/>
                </a:lnTo>
                <a:lnTo>
                  <a:pt x="1285193" y="16670"/>
                </a:lnTo>
                <a:lnTo>
                  <a:pt x="995829" y="31782"/>
                </a:lnTo>
                <a:lnTo>
                  <a:pt x="861514" y="40929"/>
                </a:lnTo>
                <a:lnTo>
                  <a:pt x="734831" y="51064"/>
                </a:lnTo>
                <a:lnTo>
                  <a:pt x="616324" y="62132"/>
                </a:lnTo>
                <a:lnTo>
                  <a:pt x="506533" y="74079"/>
                </a:lnTo>
                <a:lnTo>
                  <a:pt x="406000" y="86850"/>
                </a:lnTo>
                <a:lnTo>
                  <a:pt x="315266" y="100391"/>
                </a:lnTo>
                <a:lnTo>
                  <a:pt x="234873" y="114646"/>
                </a:lnTo>
                <a:lnTo>
                  <a:pt x="165363" y="129562"/>
                </a:lnTo>
                <a:lnTo>
                  <a:pt x="107276" y="145083"/>
                </a:lnTo>
                <a:lnTo>
                  <a:pt x="61155" y="161156"/>
                </a:lnTo>
                <a:lnTo>
                  <a:pt x="6975" y="194736"/>
                </a:lnTo>
                <a:lnTo>
                  <a:pt x="0" y="212134"/>
                </a:lnTo>
                <a:lnTo>
                  <a:pt x="6975" y="229532"/>
                </a:lnTo>
                <a:lnTo>
                  <a:pt x="61155" y="263112"/>
                </a:lnTo>
                <a:lnTo>
                  <a:pt x="107276" y="279184"/>
                </a:lnTo>
                <a:lnTo>
                  <a:pt x="165363" y="294705"/>
                </a:lnTo>
                <a:lnTo>
                  <a:pt x="234873" y="309620"/>
                </a:lnTo>
                <a:lnTo>
                  <a:pt x="315266" y="323876"/>
                </a:lnTo>
                <a:lnTo>
                  <a:pt x="406000" y="337416"/>
                </a:lnTo>
                <a:lnTo>
                  <a:pt x="506533" y="350187"/>
                </a:lnTo>
                <a:lnTo>
                  <a:pt x="616324" y="362134"/>
                </a:lnTo>
                <a:lnTo>
                  <a:pt x="734831" y="373202"/>
                </a:lnTo>
                <a:lnTo>
                  <a:pt x="861514" y="383336"/>
                </a:lnTo>
                <a:lnTo>
                  <a:pt x="995829" y="392483"/>
                </a:lnTo>
                <a:lnTo>
                  <a:pt x="1137236" y="400588"/>
                </a:lnTo>
                <a:lnTo>
                  <a:pt x="1439159" y="413451"/>
                </a:lnTo>
                <a:lnTo>
                  <a:pt x="1762950" y="421489"/>
                </a:lnTo>
                <a:lnTo>
                  <a:pt x="2104278" y="424266"/>
                </a:lnTo>
                <a:lnTo>
                  <a:pt x="2276863" y="423563"/>
                </a:lnTo>
                <a:lnTo>
                  <a:pt x="2609966" y="418101"/>
                </a:lnTo>
                <a:lnTo>
                  <a:pt x="2923367" y="407595"/>
                </a:lnTo>
                <a:lnTo>
                  <a:pt x="3212735" y="392483"/>
                </a:lnTo>
                <a:lnTo>
                  <a:pt x="3347053" y="383336"/>
                </a:lnTo>
                <a:lnTo>
                  <a:pt x="3473737" y="373202"/>
                </a:lnTo>
                <a:lnTo>
                  <a:pt x="3592246" y="362134"/>
                </a:lnTo>
                <a:lnTo>
                  <a:pt x="3702040" y="350187"/>
                </a:lnTo>
                <a:lnTo>
                  <a:pt x="3802575" y="337416"/>
                </a:lnTo>
                <a:lnTo>
                  <a:pt x="3893311" y="323876"/>
                </a:lnTo>
                <a:lnTo>
                  <a:pt x="3973706" y="309620"/>
                </a:lnTo>
                <a:lnTo>
                  <a:pt x="4043219" y="294705"/>
                </a:lnTo>
                <a:lnTo>
                  <a:pt x="4101307" y="279184"/>
                </a:lnTo>
                <a:lnTo>
                  <a:pt x="4147429" y="263112"/>
                </a:lnTo>
                <a:lnTo>
                  <a:pt x="4201611" y="229532"/>
                </a:lnTo>
                <a:lnTo>
                  <a:pt x="4208586" y="212134"/>
                </a:lnTo>
                <a:lnTo>
                  <a:pt x="4201611" y="194736"/>
                </a:lnTo>
                <a:lnTo>
                  <a:pt x="4147429" y="161156"/>
                </a:lnTo>
                <a:lnTo>
                  <a:pt x="4101307" y="145083"/>
                </a:lnTo>
                <a:lnTo>
                  <a:pt x="4043219" y="129562"/>
                </a:lnTo>
                <a:lnTo>
                  <a:pt x="3973706" y="114646"/>
                </a:lnTo>
                <a:lnTo>
                  <a:pt x="3893311" y="100391"/>
                </a:lnTo>
                <a:lnTo>
                  <a:pt x="3802575" y="86850"/>
                </a:lnTo>
                <a:lnTo>
                  <a:pt x="3702040" y="74079"/>
                </a:lnTo>
                <a:lnTo>
                  <a:pt x="3592246" y="62132"/>
                </a:lnTo>
                <a:lnTo>
                  <a:pt x="3473737" y="51064"/>
                </a:lnTo>
                <a:lnTo>
                  <a:pt x="3347053" y="40929"/>
                </a:lnTo>
                <a:lnTo>
                  <a:pt x="3212735" y="31782"/>
                </a:lnTo>
                <a:lnTo>
                  <a:pt x="2923367" y="16670"/>
                </a:lnTo>
                <a:lnTo>
                  <a:pt x="2769400" y="10814"/>
                </a:lnTo>
                <a:lnTo>
                  <a:pt x="2445606" y="2776"/>
                </a:lnTo>
                <a:lnTo>
                  <a:pt x="2104278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62412" y="5006555"/>
            <a:ext cx="210847" cy="2107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24821" y="4971120"/>
            <a:ext cx="350206" cy="2529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11249" y="5008459"/>
            <a:ext cx="219086" cy="2189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67684" y="4938896"/>
            <a:ext cx="326349" cy="3262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75774" y="5246809"/>
            <a:ext cx="164465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4945" marR="5080" indent="-182880">
              <a:lnSpc>
                <a:spcPts val="890"/>
              </a:lnSpc>
              <a:tabLst>
                <a:tab pos="860425" algn="l"/>
                <a:tab pos="1016635" algn="l"/>
              </a:tabLst>
            </a:pP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Direct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Attached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		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Software-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r>
              <a:rPr sz="8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Defined</a:t>
            </a:r>
            <a:r>
              <a:rPr sz="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24726" y="5246809"/>
            <a:ext cx="522605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 marR="5080" indent="-61594">
              <a:lnSpc>
                <a:spcPts val="890"/>
              </a:lnSpc>
            </a:pP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0183" y="5246809"/>
            <a:ext cx="40005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4450">
              <a:lnSpc>
                <a:spcPts val="89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17804" y="3188463"/>
            <a:ext cx="130810" cy="139065"/>
          </a:xfrm>
          <a:custGeom>
            <a:avLst/>
            <a:gdLst/>
            <a:ahLst/>
            <a:cxnLst/>
            <a:rect l="l" t="t" r="r" b="b"/>
            <a:pathLst>
              <a:path w="130810" h="139064">
                <a:moveTo>
                  <a:pt x="0" y="0"/>
                </a:moveTo>
                <a:lnTo>
                  <a:pt x="130267" y="69358"/>
                </a:lnTo>
                <a:lnTo>
                  <a:pt x="0" y="138716"/>
                </a:lnTo>
                <a:lnTo>
                  <a:pt x="0" y="0"/>
                </a:lnTo>
                <a:close/>
              </a:path>
            </a:pathLst>
          </a:custGeom>
          <a:ln w="251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34909" y="2966333"/>
            <a:ext cx="2452370" cy="938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50" b="1" spc="15" dirty="0">
                <a:latin typeface="Arial"/>
                <a:cs typeface="Arial"/>
              </a:rPr>
              <a:t>SUSHI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ts val="1360"/>
              </a:lnSpc>
            </a:pPr>
            <a:r>
              <a:rPr sz="1150" spc="15" dirty="0">
                <a:latin typeface="Arial"/>
                <a:cs typeface="Arial"/>
              </a:rPr>
              <a:t>The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Northbound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Plug-ins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Project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3000"/>
              </a:lnSpc>
              <a:spcBef>
                <a:spcPts val="745"/>
              </a:spcBef>
            </a:pPr>
            <a:r>
              <a:rPr sz="1000" spc="20" dirty="0">
                <a:solidFill>
                  <a:srgbClr val="7F7F7F"/>
                </a:solidFill>
                <a:latin typeface="Arial"/>
                <a:cs typeface="Arial"/>
              </a:rPr>
              <a:t>Common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plug-ins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to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7F7F7F"/>
                </a:solidFill>
                <a:latin typeface="Arial"/>
                <a:cs typeface="Arial"/>
              </a:rPr>
              <a:t>enable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7F7F7F"/>
                </a:solidFill>
                <a:latin typeface="Arial"/>
                <a:cs typeface="Arial"/>
              </a:rPr>
              <a:t>OpenSDS</a:t>
            </a:r>
            <a:r>
              <a:rPr sz="1000" spc="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storage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services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cloud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application</a:t>
            </a:r>
            <a:r>
              <a:rPr sz="1000" spc="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7F7F7F"/>
                </a:solidFill>
                <a:latin typeface="Arial"/>
                <a:cs typeface="Arial"/>
              </a:rPr>
              <a:t>frameworks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17804" y="4347231"/>
            <a:ext cx="130810" cy="139065"/>
          </a:xfrm>
          <a:custGeom>
            <a:avLst/>
            <a:gdLst/>
            <a:ahLst/>
            <a:cxnLst/>
            <a:rect l="l" t="t" r="r" b="b"/>
            <a:pathLst>
              <a:path w="130810" h="139064">
                <a:moveTo>
                  <a:pt x="0" y="0"/>
                </a:moveTo>
                <a:lnTo>
                  <a:pt x="130267" y="69358"/>
                </a:lnTo>
                <a:lnTo>
                  <a:pt x="0" y="138716"/>
                </a:lnTo>
                <a:lnTo>
                  <a:pt x="0" y="0"/>
                </a:lnTo>
                <a:close/>
              </a:path>
            </a:pathLst>
          </a:custGeom>
          <a:ln w="251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42886" y="4142964"/>
            <a:ext cx="2374900" cy="941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50" b="1" spc="15" dirty="0">
                <a:latin typeface="Arial"/>
                <a:cs typeface="Arial"/>
              </a:rPr>
              <a:t>HOTPOT</a:t>
            </a:r>
            <a:endParaRPr sz="1350">
              <a:latin typeface="Arial"/>
              <a:cs typeface="Arial"/>
            </a:endParaRPr>
          </a:p>
          <a:p>
            <a:pPr marL="30480" indent="-18415">
              <a:lnSpc>
                <a:spcPts val="1360"/>
              </a:lnSpc>
            </a:pPr>
            <a:r>
              <a:rPr sz="1150" spc="15" dirty="0">
                <a:latin typeface="Arial"/>
                <a:cs typeface="Arial"/>
              </a:rPr>
              <a:t>The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Storage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Controller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Project</a:t>
            </a:r>
            <a:endParaRPr sz="1150">
              <a:latin typeface="Arial"/>
              <a:cs typeface="Arial"/>
            </a:endParaRPr>
          </a:p>
          <a:p>
            <a:pPr marL="30480" marR="5080">
              <a:lnSpc>
                <a:spcPct val="103000"/>
              </a:lnSpc>
              <a:spcBef>
                <a:spcPts val="765"/>
              </a:spcBef>
            </a:pP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Single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control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block,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5" dirty="0">
                <a:solidFill>
                  <a:srgbClr val="7F7F7F"/>
                </a:solidFill>
                <a:latin typeface="Arial"/>
                <a:cs typeface="Arial"/>
              </a:rPr>
              <a:t>file,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object</a:t>
            </a:r>
            <a:r>
              <a:rPr sz="1000" spc="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services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across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storage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7F7F7F"/>
                </a:solidFill>
                <a:latin typeface="Arial"/>
                <a:cs typeface="Arial"/>
              </a:rPr>
              <a:t>on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7F7F7F"/>
                </a:solidFill>
                <a:latin typeface="Arial"/>
                <a:cs typeface="Arial"/>
              </a:rPr>
              <a:t>premise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sz="1000" spc="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in</a:t>
            </a:r>
            <a:r>
              <a:rPr sz="1000" spc="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000" spc="10" dirty="0">
                <a:solidFill>
                  <a:srgbClr val="7F7F7F"/>
                </a:solidFill>
                <a:latin typeface="Arial"/>
                <a:cs typeface="Arial"/>
              </a:rPr>
              <a:t>clouds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61715" y="2587903"/>
            <a:ext cx="327025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b="1" spc="5" dirty="0">
                <a:latin typeface="Arial"/>
                <a:cs typeface="Arial"/>
              </a:rPr>
              <a:t>CLOUD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91478" y="2573734"/>
            <a:ext cx="567690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b="1" spc="5" dirty="0">
                <a:latin typeface="Arial"/>
                <a:cs typeface="Arial"/>
              </a:rPr>
              <a:t>ENTERPRISE</a:t>
            </a:r>
            <a:endParaRPr sz="6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29019" y="3270529"/>
            <a:ext cx="0" cy="341630"/>
          </a:xfrm>
          <a:custGeom>
            <a:avLst/>
            <a:gdLst/>
            <a:ahLst/>
            <a:cxnLst/>
            <a:rect l="l" t="t" r="r" b="b"/>
            <a:pathLst>
              <a:path h="341629">
                <a:moveTo>
                  <a:pt x="0" y="0"/>
                </a:moveTo>
                <a:lnTo>
                  <a:pt x="0" y="341642"/>
                </a:lnTo>
              </a:path>
            </a:pathLst>
          </a:custGeom>
          <a:ln w="12561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70702" y="3522512"/>
            <a:ext cx="116839" cy="114935"/>
          </a:xfrm>
          <a:custGeom>
            <a:avLst/>
            <a:gdLst/>
            <a:ahLst/>
            <a:cxnLst/>
            <a:rect l="l" t="t" r="r" b="b"/>
            <a:pathLst>
              <a:path w="116839" h="114935">
                <a:moveTo>
                  <a:pt x="14020" y="0"/>
                </a:moveTo>
                <a:lnTo>
                  <a:pt x="2042" y="6979"/>
                </a:lnTo>
                <a:lnTo>
                  <a:pt x="0" y="14660"/>
                </a:lnTo>
                <a:lnTo>
                  <a:pt x="58308" y="114574"/>
                </a:lnTo>
                <a:lnTo>
                  <a:pt x="87406" y="64739"/>
                </a:lnTo>
                <a:lnTo>
                  <a:pt x="58308" y="64739"/>
                </a:lnTo>
                <a:lnTo>
                  <a:pt x="25206" y="7985"/>
                </a:lnTo>
                <a:lnTo>
                  <a:pt x="21701" y="2011"/>
                </a:lnTo>
                <a:lnTo>
                  <a:pt x="14020" y="0"/>
                </a:lnTo>
                <a:close/>
              </a:path>
              <a:path w="116839" h="114935">
                <a:moveTo>
                  <a:pt x="102626" y="0"/>
                </a:moveTo>
                <a:lnTo>
                  <a:pt x="94914" y="2011"/>
                </a:lnTo>
                <a:lnTo>
                  <a:pt x="58308" y="64739"/>
                </a:lnTo>
                <a:lnTo>
                  <a:pt x="87406" y="64739"/>
                </a:lnTo>
                <a:lnTo>
                  <a:pt x="113141" y="20665"/>
                </a:lnTo>
                <a:lnTo>
                  <a:pt x="116616" y="14660"/>
                </a:lnTo>
                <a:lnTo>
                  <a:pt x="114604" y="6979"/>
                </a:lnTo>
                <a:lnTo>
                  <a:pt x="102626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55148" y="3270529"/>
            <a:ext cx="0" cy="341630"/>
          </a:xfrm>
          <a:custGeom>
            <a:avLst/>
            <a:gdLst/>
            <a:ahLst/>
            <a:cxnLst/>
            <a:rect l="l" t="t" r="r" b="b"/>
            <a:pathLst>
              <a:path h="341629">
                <a:moveTo>
                  <a:pt x="0" y="0"/>
                </a:moveTo>
                <a:lnTo>
                  <a:pt x="0" y="341642"/>
                </a:lnTo>
              </a:path>
            </a:pathLst>
          </a:custGeom>
          <a:ln w="12561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96848" y="3522512"/>
            <a:ext cx="116839" cy="114935"/>
          </a:xfrm>
          <a:custGeom>
            <a:avLst/>
            <a:gdLst/>
            <a:ahLst/>
            <a:cxnLst/>
            <a:rect l="l" t="t" r="r" b="b"/>
            <a:pathLst>
              <a:path w="116839" h="114935">
                <a:moveTo>
                  <a:pt x="14020" y="0"/>
                </a:moveTo>
                <a:lnTo>
                  <a:pt x="2042" y="6979"/>
                </a:lnTo>
                <a:lnTo>
                  <a:pt x="0" y="14660"/>
                </a:lnTo>
                <a:lnTo>
                  <a:pt x="58308" y="114574"/>
                </a:lnTo>
                <a:lnTo>
                  <a:pt x="87406" y="64739"/>
                </a:lnTo>
                <a:lnTo>
                  <a:pt x="58308" y="64739"/>
                </a:lnTo>
                <a:lnTo>
                  <a:pt x="25206" y="7985"/>
                </a:lnTo>
                <a:lnTo>
                  <a:pt x="21701" y="2011"/>
                </a:lnTo>
                <a:lnTo>
                  <a:pt x="14020" y="0"/>
                </a:lnTo>
                <a:close/>
              </a:path>
              <a:path w="116839" h="114935">
                <a:moveTo>
                  <a:pt x="102626" y="0"/>
                </a:moveTo>
                <a:lnTo>
                  <a:pt x="94914" y="2011"/>
                </a:lnTo>
                <a:lnTo>
                  <a:pt x="58308" y="64739"/>
                </a:lnTo>
                <a:lnTo>
                  <a:pt x="87406" y="64739"/>
                </a:lnTo>
                <a:lnTo>
                  <a:pt x="113141" y="20665"/>
                </a:lnTo>
                <a:lnTo>
                  <a:pt x="116616" y="14660"/>
                </a:lnTo>
                <a:lnTo>
                  <a:pt x="114604" y="6979"/>
                </a:lnTo>
                <a:lnTo>
                  <a:pt x="102626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81308" y="3270529"/>
            <a:ext cx="0" cy="341630"/>
          </a:xfrm>
          <a:custGeom>
            <a:avLst/>
            <a:gdLst/>
            <a:ahLst/>
            <a:cxnLst/>
            <a:rect l="l" t="t" r="r" b="b"/>
            <a:pathLst>
              <a:path h="341629">
                <a:moveTo>
                  <a:pt x="0" y="0"/>
                </a:moveTo>
                <a:lnTo>
                  <a:pt x="0" y="341642"/>
                </a:lnTo>
              </a:path>
            </a:pathLst>
          </a:custGeom>
          <a:ln w="12561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22994" y="3522512"/>
            <a:ext cx="116839" cy="114935"/>
          </a:xfrm>
          <a:custGeom>
            <a:avLst/>
            <a:gdLst/>
            <a:ahLst/>
            <a:cxnLst/>
            <a:rect l="l" t="t" r="r" b="b"/>
            <a:pathLst>
              <a:path w="116840" h="114935">
                <a:moveTo>
                  <a:pt x="14020" y="0"/>
                </a:moveTo>
                <a:lnTo>
                  <a:pt x="2042" y="6979"/>
                </a:lnTo>
                <a:lnTo>
                  <a:pt x="0" y="14660"/>
                </a:lnTo>
                <a:lnTo>
                  <a:pt x="58308" y="114574"/>
                </a:lnTo>
                <a:lnTo>
                  <a:pt x="87406" y="64739"/>
                </a:lnTo>
                <a:lnTo>
                  <a:pt x="58308" y="64739"/>
                </a:lnTo>
                <a:lnTo>
                  <a:pt x="25206" y="7985"/>
                </a:lnTo>
                <a:lnTo>
                  <a:pt x="21701" y="2011"/>
                </a:lnTo>
                <a:lnTo>
                  <a:pt x="14020" y="0"/>
                </a:lnTo>
                <a:close/>
              </a:path>
              <a:path w="116840" h="114935">
                <a:moveTo>
                  <a:pt x="102626" y="0"/>
                </a:moveTo>
                <a:lnTo>
                  <a:pt x="94914" y="2011"/>
                </a:lnTo>
                <a:lnTo>
                  <a:pt x="58308" y="64739"/>
                </a:lnTo>
                <a:lnTo>
                  <a:pt x="87406" y="64739"/>
                </a:lnTo>
                <a:lnTo>
                  <a:pt x="116646" y="14660"/>
                </a:lnTo>
                <a:lnTo>
                  <a:pt x="114604" y="6979"/>
                </a:lnTo>
                <a:lnTo>
                  <a:pt x="102626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159756" y="3270529"/>
            <a:ext cx="0" cy="341630"/>
          </a:xfrm>
          <a:custGeom>
            <a:avLst/>
            <a:gdLst/>
            <a:ahLst/>
            <a:cxnLst/>
            <a:rect l="l" t="t" r="r" b="b"/>
            <a:pathLst>
              <a:path h="341629">
                <a:moveTo>
                  <a:pt x="0" y="0"/>
                </a:moveTo>
                <a:lnTo>
                  <a:pt x="0" y="341642"/>
                </a:lnTo>
              </a:path>
            </a:pathLst>
          </a:custGeom>
          <a:ln w="12561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101431" y="3522512"/>
            <a:ext cx="116839" cy="114935"/>
          </a:xfrm>
          <a:custGeom>
            <a:avLst/>
            <a:gdLst/>
            <a:ahLst/>
            <a:cxnLst/>
            <a:rect l="l" t="t" r="r" b="b"/>
            <a:pathLst>
              <a:path w="116840" h="114935">
                <a:moveTo>
                  <a:pt x="14020" y="0"/>
                </a:moveTo>
                <a:lnTo>
                  <a:pt x="2042" y="6979"/>
                </a:lnTo>
                <a:lnTo>
                  <a:pt x="0" y="14660"/>
                </a:lnTo>
                <a:lnTo>
                  <a:pt x="58338" y="114574"/>
                </a:lnTo>
                <a:lnTo>
                  <a:pt x="87421" y="64739"/>
                </a:lnTo>
                <a:lnTo>
                  <a:pt x="58338" y="64739"/>
                </a:lnTo>
                <a:lnTo>
                  <a:pt x="21701" y="2011"/>
                </a:lnTo>
                <a:lnTo>
                  <a:pt x="14020" y="0"/>
                </a:lnTo>
                <a:close/>
              </a:path>
              <a:path w="116840" h="114935">
                <a:moveTo>
                  <a:pt x="102626" y="0"/>
                </a:moveTo>
                <a:lnTo>
                  <a:pt x="94945" y="2011"/>
                </a:lnTo>
                <a:lnTo>
                  <a:pt x="91439" y="7985"/>
                </a:lnTo>
                <a:lnTo>
                  <a:pt x="58338" y="64739"/>
                </a:lnTo>
                <a:lnTo>
                  <a:pt x="87421" y="64739"/>
                </a:lnTo>
                <a:lnTo>
                  <a:pt x="113141" y="20665"/>
                </a:lnTo>
                <a:lnTo>
                  <a:pt x="116616" y="14660"/>
                </a:lnTo>
                <a:lnTo>
                  <a:pt x="114604" y="6979"/>
                </a:lnTo>
                <a:lnTo>
                  <a:pt x="102626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07437" y="3270529"/>
            <a:ext cx="0" cy="341630"/>
          </a:xfrm>
          <a:custGeom>
            <a:avLst/>
            <a:gdLst/>
            <a:ahLst/>
            <a:cxnLst/>
            <a:rect l="l" t="t" r="r" b="b"/>
            <a:pathLst>
              <a:path h="341629">
                <a:moveTo>
                  <a:pt x="0" y="0"/>
                </a:moveTo>
                <a:lnTo>
                  <a:pt x="0" y="341642"/>
                </a:lnTo>
              </a:path>
            </a:pathLst>
          </a:custGeom>
          <a:ln w="12561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049140" y="3522512"/>
            <a:ext cx="116839" cy="114935"/>
          </a:xfrm>
          <a:custGeom>
            <a:avLst/>
            <a:gdLst/>
            <a:ahLst/>
            <a:cxnLst/>
            <a:rect l="l" t="t" r="r" b="b"/>
            <a:pathLst>
              <a:path w="116840" h="114935">
                <a:moveTo>
                  <a:pt x="14020" y="0"/>
                </a:moveTo>
                <a:lnTo>
                  <a:pt x="2042" y="6979"/>
                </a:lnTo>
                <a:lnTo>
                  <a:pt x="0" y="14660"/>
                </a:lnTo>
                <a:lnTo>
                  <a:pt x="58308" y="114574"/>
                </a:lnTo>
                <a:lnTo>
                  <a:pt x="87406" y="64739"/>
                </a:lnTo>
                <a:lnTo>
                  <a:pt x="58308" y="64739"/>
                </a:lnTo>
                <a:lnTo>
                  <a:pt x="25206" y="7985"/>
                </a:lnTo>
                <a:lnTo>
                  <a:pt x="21701" y="2011"/>
                </a:lnTo>
                <a:lnTo>
                  <a:pt x="14020" y="0"/>
                </a:lnTo>
                <a:close/>
              </a:path>
              <a:path w="116840" h="114935">
                <a:moveTo>
                  <a:pt x="102626" y="0"/>
                </a:moveTo>
                <a:lnTo>
                  <a:pt x="94945" y="2011"/>
                </a:lnTo>
                <a:lnTo>
                  <a:pt x="58308" y="64739"/>
                </a:lnTo>
                <a:lnTo>
                  <a:pt x="87406" y="64739"/>
                </a:lnTo>
                <a:lnTo>
                  <a:pt x="113141" y="20665"/>
                </a:lnTo>
                <a:lnTo>
                  <a:pt x="116616" y="14660"/>
                </a:lnTo>
                <a:lnTo>
                  <a:pt x="114604" y="6979"/>
                </a:lnTo>
                <a:lnTo>
                  <a:pt x="102626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633596" y="3265379"/>
            <a:ext cx="0" cy="341630"/>
          </a:xfrm>
          <a:custGeom>
            <a:avLst/>
            <a:gdLst/>
            <a:ahLst/>
            <a:cxnLst/>
            <a:rect l="l" t="t" r="r" b="b"/>
            <a:pathLst>
              <a:path h="341629">
                <a:moveTo>
                  <a:pt x="0" y="0"/>
                </a:moveTo>
                <a:lnTo>
                  <a:pt x="0" y="341642"/>
                </a:lnTo>
              </a:path>
            </a:pathLst>
          </a:custGeom>
          <a:ln w="12561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575285" y="3517331"/>
            <a:ext cx="116839" cy="114935"/>
          </a:xfrm>
          <a:custGeom>
            <a:avLst/>
            <a:gdLst/>
            <a:ahLst/>
            <a:cxnLst/>
            <a:rect l="l" t="t" r="r" b="b"/>
            <a:pathLst>
              <a:path w="116840" h="114935">
                <a:moveTo>
                  <a:pt x="14020" y="0"/>
                </a:moveTo>
                <a:lnTo>
                  <a:pt x="2042" y="7010"/>
                </a:lnTo>
                <a:lnTo>
                  <a:pt x="0" y="14691"/>
                </a:lnTo>
                <a:lnTo>
                  <a:pt x="58308" y="114604"/>
                </a:lnTo>
                <a:lnTo>
                  <a:pt x="87406" y="64769"/>
                </a:lnTo>
                <a:lnTo>
                  <a:pt x="58308" y="64769"/>
                </a:lnTo>
                <a:lnTo>
                  <a:pt x="25206" y="8016"/>
                </a:lnTo>
                <a:lnTo>
                  <a:pt x="21701" y="2042"/>
                </a:lnTo>
                <a:lnTo>
                  <a:pt x="14020" y="0"/>
                </a:lnTo>
                <a:close/>
              </a:path>
              <a:path w="116840" h="114935">
                <a:moveTo>
                  <a:pt x="102626" y="0"/>
                </a:moveTo>
                <a:lnTo>
                  <a:pt x="94945" y="2042"/>
                </a:lnTo>
                <a:lnTo>
                  <a:pt x="58308" y="64769"/>
                </a:lnTo>
                <a:lnTo>
                  <a:pt x="87406" y="64769"/>
                </a:lnTo>
                <a:lnTo>
                  <a:pt x="113141" y="20695"/>
                </a:lnTo>
                <a:lnTo>
                  <a:pt x="116616" y="14691"/>
                </a:lnTo>
                <a:lnTo>
                  <a:pt x="114604" y="7010"/>
                </a:lnTo>
                <a:lnTo>
                  <a:pt x="102626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85885" y="3278239"/>
            <a:ext cx="0" cy="341630"/>
          </a:xfrm>
          <a:custGeom>
            <a:avLst/>
            <a:gdLst/>
            <a:ahLst/>
            <a:cxnLst/>
            <a:rect l="l" t="t" r="r" b="b"/>
            <a:pathLst>
              <a:path h="341629">
                <a:moveTo>
                  <a:pt x="0" y="0"/>
                </a:moveTo>
                <a:lnTo>
                  <a:pt x="0" y="341642"/>
                </a:lnTo>
              </a:path>
            </a:pathLst>
          </a:custGeom>
          <a:ln w="12561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627577" y="3530193"/>
            <a:ext cx="116839" cy="114935"/>
          </a:xfrm>
          <a:custGeom>
            <a:avLst/>
            <a:gdLst/>
            <a:ahLst/>
            <a:cxnLst/>
            <a:rect l="l" t="t" r="r" b="b"/>
            <a:pathLst>
              <a:path w="116840" h="114935">
                <a:moveTo>
                  <a:pt x="14020" y="0"/>
                </a:moveTo>
                <a:lnTo>
                  <a:pt x="2042" y="7010"/>
                </a:lnTo>
                <a:lnTo>
                  <a:pt x="0" y="14691"/>
                </a:lnTo>
                <a:lnTo>
                  <a:pt x="58308" y="114604"/>
                </a:lnTo>
                <a:lnTo>
                  <a:pt x="87397" y="64769"/>
                </a:lnTo>
                <a:lnTo>
                  <a:pt x="58308" y="64769"/>
                </a:lnTo>
                <a:lnTo>
                  <a:pt x="25206" y="8016"/>
                </a:lnTo>
                <a:lnTo>
                  <a:pt x="21701" y="2042"/>
                </a:lnTo>
                <a:lnTo>
                  <a:pt x="14020" y="0"/>
                </a:lnTo>
                <a:close/>
              </a:path>
              <a:path w="116840" h="114935">
                <a:moveTo>
                  <a:pt x="102626" y="0"/>
                </a:moveTo>
                <a:lnTo>
                  <a:pt x="94914" y="2042"/>
                </a:lnTo>
                <a:lnTo>
                  <a:pt x="58308" y="64769"/>
                </a:lnTo>
                <a:lnTo>
                  <a:pt x="87397" y="64769"/>
                </a:lnTo>
                <a:lnTo>
                  <a:pt x="116646" y="14691"/>
                </a:lnTo>
                <a:lnTo>
                  <a:pt x="114604" y="7010"/>
                </a:lnTo>
                <a:lnTo>
                  <a:pt x="102626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798118" y="2826332"/>
            <a:ext cx="523701" cy="21197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42619" y="2872328"/>
            <a:ext cx="434016" cy="1189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138744" y="4034720"/>
          <a:ext cx="3439160" cy="83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242"/>
                <a:gridCol w="640995"/>
                <a:gridCol w="648897"/>
                <a:gridCol w="648903"/>
                <a:gridCol w="648888"/>
                <a:gridCol w="641002"/>
                <a:gridCol w="110624"/>
              </a:tblGrid>
              <a:tr h="488707">
                <a:tc gridSpan="7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CONTROLLER-</a:t>
                      </a:r>
                      <a:r>
                        <a:rPr sz="6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VICE</a:t>
                      </a:r>
                      <a:r>
                        <a:rPr sz="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API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06045" algn="ctr">
                        <a:lnSpc>
                          <a:spcPct val="100000"/>
                        </a:lnSpc>
                        <a:tabLst>
                          <a:tab pos="913765" algn="l"/>
                          <a:tab pos="1619885" algn="l"/>
                        </a:tabLst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Block</a:t>
                      </a:r>
                      <a:r>
                        <a:rPr sz="6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6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sz="6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6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Object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2D6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6812">
                <a:tc gridSpan="7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DOCK</a:t>
                      </a:r>
                      <a:r>
                        <a:rPr sz="6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6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ORAGE</a:t>
                      </a:r>
                      <a:r>
                        <a:rPr sz="6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DRIVERS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59BA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92213">
                <a:tc>
                  <a:txBody>
                    <a:bodyPr/>
                    <a:lstStyle/>
                    <a:p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59BAD1"/>
                    </a:solidFill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Native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2D6E4"/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Cinder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2D6E4"/>
                    </a:solidFill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Manila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2D6E4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Swordfish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2D6E4"/>
                    </a:solidFill>
                  </a:tcPr>
                </a:tc>
                <a:tc>
                  <a:txBody>
                    <a:bodyPr/>
                    <a:lstStyle/>
                    <a:p>
                      <a:pPr marL="207010" marR="185420" indent="6985">
                        <a:lnSpc>
                          <a:spcPct val="1014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sz="6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2D6E4"/>
                    </a:solidFill>
                  </a:tcPr>
                </a:tc>
                <a:tc>
                  <a:txBody>
                    <a:bodyPr/>
                    <a:lstStyle/>
                    <a:p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59BAD1"/>
                    </a:solidFill>
                  </a:tcPr>
                </a:tc>
              </a:tr>
            </a:tbl>
          </a:graphicData>
        </a:graphic>
      </p:graphicFrame>
      <p:sp>
        <p:nvSpPr>
          <p:cNvPr id="39" name="object 39"/>
          <p:cNvSpPr/>
          <p:nvPr/>
        </p:nvSpPr>
        <p:spPr>
          <a:xfrm>
            <a:off x="4721626" y="2813863"/>
            <a:ext cx="532013" cy="2244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765426" y="2861129"/>
            <a:ext cx="441554" cy="1302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09359" y="2867899"/>
            <a:ext cx="540328" cy="15794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53403" y="2913948"/>
            <a:ext cx="452210" cy="680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261945" y="2813872"/>
            <a:ext cx="527858" cy="2327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307695" y="2858460"/>
            <a:ext cx="437137" cy="14159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882932" y="2739035"/>
            <a:ext cx="457200" cy="27016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927098" y="2785885"/>
            <a:ext cx="366006" cy="1768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19106" y="2859580"/>
            <a:ext cx="423949" cy="14547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913705" y="2842947"/>
            <a:ext cx="515389" cy="15378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499774" y="2784757"/>
            <a:ext cx="365759" cy="25769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910383" y="3013562"/>
            <a:ext cx="471805" cy="168910"/>
          </a:xfrm>
          <a:prstGeom prst="rect">
            <a:avLst/>
          </a:prstGeom>
          <a:solidFill>
            <a:srgbClr val="A2D6E4"/>
          </a:solidFill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Plug-in</a:t>
            </a:r>
            <a:endParaRPr sz="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58121" y="3013562"/>
            <a:ext cx="471805" cy="168910"/>
          </a:xfrm>
          <a:prstGeom prst="rect">
            <a:avLst/>
          </a:prstGeom>
          <a:solidFill>
            <a:srgbClr val="A2D6E4"/>
          </a:solidFill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Plug-in</a:t>
            </a:r>
            <a:endParaRPr sz="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32006" y="3013554"/>
            <a:ext cx="471805" cy="167005"/>
          </a:xfrm>
          <a:prstGeom prst="rect">
            <a:avLst/>
          </a:prstGeom>
          <a:solidFill>
            <a:srgbClr val="A2D6E4"/>
          </a:solidFill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Plug-in</a:t>
            </a:r>
            <a:endParaRPr sz="6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05891" y="3013554"/>
            <a:ext cx="471805" cy="167005"/>
          </a:xfrm>
          <a:prstGeom prst="rect">
            <a:avLst/>
          </a:prstGeom>
          <a:solidFill>
            <a:srgbClr val="A2D6E4"/>
          </a:solidFill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Plug-in</a:t>
            </a:r>
            <a:endParaRPr sz="6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279775" y="3013554"/>
            <a:ext cx="471805" cy="167005"/>
          </a:xfrm>
          <a:prstGeom prst="rect">
            <a:avLst/>
          </a:prstGeom>
          <a:solidFill>
            <a:srgbClr val="A2D6E4"/>
          </a:solidFill>
        </p:spPr>
        <p:txBody>
          <a:bodyPr vert="horz" wrap="square" lIns="0" tIns="0" rIns="0" bIns="0" rtlCol="0">
            <a:spAutoFit/>
          </a:bodyPr>
          <a:lstStyle/>
          <a:p>
            <a:pPr marL="110489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Plug-in</a:t>
            </a:r>
            <a:endParaRPr sz="6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53630" y="3013554"/>
            <a:ext cx="471805" cy="167005"/>
          </a:xfrm>
          <a:prstGeom prst="rect">
            <a:avLst/>
          </a:prstGeom>
          <a:solidFill>
            <a:srgbClr val="A2D6E4"/>
          </a:solidFill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Plug-in</a:t>
            </a:r>
            <a:endParaRPr sz="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384267" y="3011173"/>
            <a:ext cx="471805" cy="168910"/>
          </a:xfrm>
          <a:prstGeom prst="rect">
            <a:avLst/>
          </a:prstGeom>
          <a:solidFill>
            <a:srgbClr val="A2D6E4"/>
          </a:solidFill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Plug-in</a:t>
            </a:r>
            <a:endParaRPr sz="6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436498" y="3017116"/>
            <a:ext cx="471805" cy="168910"/>
          </a:xfrm>
          <a:prstGeom prst="rect">
            <a:avLst/>
          </a:prstGeom>
          <a:solidFill>
            <a:srgbClr val="A2D6E4"/>
          </a:solidFill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Plug-in</a:t>
            </a:r>
            <a:endParaRPr sz="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002859" y="3270529"/>
            <a:ext cx="0" cy="341630"/>
          </a:xfrm>
          <a:custGeom>
            <a:avLst/>
            <a:gdLst/>
            <a:ahLst/>
            <a:cxnLst/>
            <a:rect l="l" t="t" r="r" b="b"/>
            <a:pathLst>
              <a:path h="341629">
                <a:moveTo>
                  <a:pt x="0" y="0"/>
                </a:moveTo>
                <a:lnTo>
                  <a:pt x="0" y="341642"/>
                </a:lnTo>
              </a:path>
            </a:pathLst>
          </a:custGeom>
          <a:ln w="12561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944557" y="3522512"/>
            <a:ext cx="116839" cy="114935"/>
          </a:xfrm>
          <a:custGeom>
            <a:avLst/>
            <a:gdLst/>
            <a:ahLst/>
            <a:cxnLst/>
            <a:rect l="l" t="t" r="r" b="b"/>
            <a:pathLst>
              <a:path w="116839" h="114935">
                <a:moveTo>
                  <a:pt x="14020" y="0"/>
                </a:moveTo>
                <a:lnTo>
                  <a:pt x="2011" y="6979"/>
                </a:lnTo>
                <a:lnTo>
                  <a:pt x="0" y="14660"/>
                </a:lnTo>
                <a:lnTo>
                  <a:pt x="58308" y="114574"/>
                </a:lnTo>
                <a:lnTo>
                  <a:pt x="87406" y="64739"/>
                </a:lnTo>
                <a:lnTo>
                  <a:pt x="58308" y="64739"/>
                </a:lnTo>
                <a:lnTo>
                  <a:pt x="25206" y="7985"/>
                </a:lnTo>
                <a:lnTo>
                  <a:pt x="21701" y="2011"/>
                </a:lnTo>
                <a:lnTo>
                  <a:pt x="14020" y="0"/>
                </a:lnTo>
                <a:close/>
              </a:path>
              <a:path w="116839" h="114935">
                <a:moveTo>
                  <a:pt x="102626" y="0"/>
                </a:moveTo>
                <a:lnTo>
                  <a:pt x="94945" y="2011"/>
                </a:lnTo>
                <a:lnTo>
                  <a:pt x="58308" y="64739"/>
                </a:lnTo>
                <a:lnTo>
                  <a:pt x="87406" y="64739"/>
                </a:lnTo>
                <a:lnTo>
                  <a:pt x="113141" y="20665"/>
                </a:lnTo>
                <a:lnTo>
                  <a:pt x="116616" y="14660"/>
                </a:lnTo>
                <a:lnTo>
                  <a:pt x="114604" y="6979"/>
                </a:lnTo>
                <a:lnTo>
                  <a:pt x="102626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3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9343" y="5231559"/>
            <a:ext cx="1188085" cy="1064260"/>
          </a:xfrm>
          <a:custGeom>
            <a:avLst/>
            <a:gdLst/>
            <a:ahLst/>
            <a:cxnLst/>
            <a:rect l="l" t="t" r="r" b="b"/>
            <a:pathLst>
              <a:path w="1188085" h="1064260">
                <a:moveTo>
                  <a:pt x="1010290" y="0"/>
                </a:moveTo>
                <a:lnTo>
                  <a:pt x="166279" y="344"/>
                </a:lnTo>
                <a:lnTo>
                  <a:pt x="123979" y="8188"/>
                </a:lnTo>
                <a:lnTo>
                  <a:pt x="85848" y="25420"/>
                </a:lnTo>
                <a:lnTo>
                  <a:pt x="53166" y="50761"/>
                </a:lnTo>
                <a:lnTo>
                  <a:pt x="27212" y="82932"/>
                </a:lnTo>
                <a:lnTo>
                  <a:pt x="9264" y="120655"/>
                </a:lnTo>
                <a:lnTo>
                  <a:pt x="602" y="162651"/>
                </a:lnTo>
                <a:lnTo>
                  <a:pt x="0" y="177378"/>
                </a:lnTo>
                <a:lnTo>
                  <a:pt x="344" y="898014"/>
                </a:lnTo>
                <a:lnTo>
                  <a:pt x="8190" y="940302"/>
                </a:lnTo>
                <a:lnTo>
                  <a:pt x="25426" y="978423"/>
                </a:lnTo>
                <a:lnTo>
                  <a:pt x="50774" y="1011097"/>
                </a:lnTo>
                <a:lnTo>
                  <a:pt x="82954" y="1037045"/>
                </a:lnTo>
                <a:lnTo>
                  <a:pt x="120686" y="1054989"/>
                </a:lnTo>
                <a:lnTo>
                  <a:pt x="162693" y="1063649"/>
                </a:lnTo>
                <a:lnTo>
                  <a:pt x="177424" y="1064251"/>
                </a:lnTo>
                <a:lnTo>
                  <a:pt x="1021461" y="1063905"/>
                </a:lnTo>
                <a:lnTo>
                  <a:pt x="1063757" y="1056057"/>
                </a:lnTo>
                <a:lnTo>
                  <a:pt x="1101888" y="1038822"/>
                </a:lnTo>
                <a:lnTo>
                  <a:pt x="1134571" y="1013479"/>
                </a:lnTo>
                <a:lnTo>
                  <a:pt x="1160528" y="981308"/>
                </a:lnTo>
                <a:lnTo>
                  <a:pt x="1178478" y="943588"/>
                </a:lnTo>
                <a:lnTo>
                  <a:pt x="1187141" y="901595"/>
                </a:lnTo>
                <a:lnTo>
                  <a:pt x="1187744" y="886870"/>
                </a:lnTo>
                <a:lnTo>
                  <a:pt x="1187398" y="166212"/>
                </a:lnTo>
                <a:lnTo>
                  <a:pt x="1179545" y="123929"/>
                </a:lnTo>
                <a:lnTo>
                  <a:pt x="1162302" y="85814"/>
                </a:lnTo>
                <a:lnTo>
                  <a:pt x="1136947" y="53145"/>
                </a:lnTo>
                <a:lnTo>
                  <a:pt x="1104762" y="27201"/>
                </a:lnTo>
                <a:lnTo>
                  <a:pt x="1067026" y="9260"/>
                </a:lnTo>
                <a:lnTo>
                  <a:pt x="1025020" y="602"/>
                </a:lnTo>
                <a:lnTo>
                  <a:pt x="1010290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31401" y="5936177"/>
            <a:ext cx="829944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475" marR="5080" indent="-232410">
              <a:lnSpc>
                <a:spcPts val="99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Profile</a:t>
            </a:r>
            <a:r>
              <a:rPr sz="8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Faster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7918" y="1541766"/>
            <a:ext cx="561975" cy="30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00"/>
              </a:lnSpc>
            </a:pPr>
            <a:r>
              <a:rPr sz="2350" b="1" spc="10" dirty="0">
                <a:latin typeface="Arial"/>
                <a:cs typeface="Arial"/>
              </a:rPr>
              <a:t>The</a:t>
            </a:r>
            <a:endParaRPr sz="2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7918" y="1893346"/>
            <a:ext cx="1801495" cy="1029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699"/>
              </a:lnSpc>
            </a:pPr>
            <a:r>
              <a:rPr sz="2350" b="1" spc="-5" dirty="0">
                <a:latin typeface="Arial"/>
                <a:cs typeface="Arial"/>
              </a:rPr>
              <a:t>O</a:t>
            </a:r>
            <a:r>
              <a:rPr sz="2350" b="1" dirty="0">
                <a:latin typeface="Arial"/>
                <a:cs typeface="Arial"/>
              </a:rPr>
              <a:t>p</a:t>
            </a:r>
            <a:r>
              <a:rPr sz="2350" b="1" spc="10" dirty="0">
                <a:latin typeface="Arial"/>
                <a:cs typeface="Arial"/>
              </a:rPr>
              <a:t>e</a:t>
            </a:r>
            <a:r>
              <a:rPr sz="2350" b="1" dirty="0">
                <a:latin typeface="Arial"/>
                <a:cs typeface="Arial"/>
              </a:rPr>
              <a:t>n</a:t>
            </a:r>
            <a:r>
              <a:rPr sz="2350" b="1" spc="15" dirty="0">
                <a:latin typeface="Arial"/>
                <a:cs typeface="Arial"/>
              </a:rPr>
              <a:t>SDS</a:t>
            </a:r>
            <a:r>
              <a:rPr sz="2350" b="1" spc="5" dirty="0">
                <a:latin typeface="Times New Roman"/>
                <a:cs typeface="Times New Roman"/>
              </a:rPr>
              <a:t> </a:t>
            </a:r>
            <a:r>
              <a:rPr sz="2350" b="1" spc="15" dirty="0">
                <a:latin typeface="Arial"/>
                <a:cs typeface="Arial"/>
              </a:rPr>
              <a:t>K</a:t>
            </a:r>
            <a:r>
              <a:rPr sz="2350" b="1" dirty="0">
                <a:latin typeface="Arial"/>
                <a:cs typeface="Arial"/>
              </a:rPr>
              <a:t>ub</a:t>
            </a:r>
            <a:r>
              <a:rPr sz="2350" b="1" spc="10" dirty="0">
                <a:latin typeface="Arial"/>
                <a:cs typeface="Arial"/>
              </a:rPr>
              <a:t>er</a:t>
            </a:r>
            <a:r>
              <a:rPr sz="2350" b="1" dirty="0">
                <a:latin typeface="Arial"/>
                <a:cs typeface="Arial"/>
              </a:rPr>
              <a:t>n</a:t>
            </a:r>
            <a:r>
              <a:rPr sz="2350" b="1" spc="10" dirty="0">
                <a:latin typeface="Arial"/>
                <a:cs typeface="Arial"/>
              </a:rPr>
              <a:t>etes</a:t>
            </a:r>
            <a:r>
              <a:rPr sz="2350" b="1" spc="5" dirty="0">
                <a:latin typeface="Times New Roman"/>
                <a:cs typeface="Times New Roman"/>
              </a:rPr>
              <a:t> </a:t>
            </a:r>
            <a:r>
              <a:rPr sz="2350" b="1" spc="10" dirty="0">
                <a:latin typeface="Arial"/>
                <a:cs typeface="Arial"/>
              </a:rPr>
              <a:t>Arc</a:t>
            </a:r>
            <a:r>
              <a:rPr sz="2350" b="1" dirty="0">
                <a:latin typeface="Arial"/>
                <a:cs typeface="Arial"/>
              </a:rPr>
              <a:t>hi</a:t>
            </a:r>
            <a:r>
              <a:rPr sz="2350" b="1" spc="10" dirty="0">
                <a:latin typeface="Arial"/>
                <a:cs typeface="Arial"/>
              </a:rPr>
              <a:t>tec</a:t>
            </a:r>
            <a:r>
              <a:rPr sz="2350" b="1" dirty="0">
                <a:latin typeface="Arial"/>
                <a:cs typeface="Arial"/>
              </a:rPr>
              <a:t>tu</a:t>
            </a:r>
            <a:r>
              <a:rPr sz="2350" b="1" spc="10" dirty="0">
                <a:latin typeface="Arial"/>
                <a:cs typeface="Arial"/>
              </a:rPr>
              <a:t>re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14763" y="3495818"/>
            <a:ext cx="2023110" cy="1529080"/>
          </a:xfrm>
          <a:custGeom>
            <a:avLst/>
            <a:gdLst/>
            <a:ahLst/>
            <a:cxnLst/>
            <a:rect l="l" t="t" r="r" b="b"/>
            <a:pathLst>
              <a:path w="2023110" h="1529079">
                <a:moveTo>
                  <a:pt x="0" y="1528678"/>
                </a:moveTo>
                <a:lnTo>
                  <a:pt x="2022622" y="1528678"/>
                </a:lnTo>
                <a:lnTo>
                  <a:pt x="2022622" y="0"/>
                </a:lnTo>
                <a:lnTo>
                  <a:pt x="0" y="0"/>
                </a:lnTo>
                <a:lnTo>
                  <a:pt x="0" y="1528678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74457" y="3549756"/>
            <a:ext cx="30797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Node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01128" y="3916213"/>
            <a:ext cx="581660" cy="1026160"/>
          </a:xfrm>
          <a:custGeom>
            <a:avLst/>
            <a:gdLst/>
            <a:ahLst/>
            <a:cxnLst/>
            <a:rect l="l" t="t" r="r" b="b"/>
            <a:pathLst>
              <a:path w="581660" h="1026160">
                <a:moveTo>
                  <a:pt x="0" y="1026093"/>
                </a:moveTo>
                <a:lnTo>
                  <a:pt x="581619" y="1026093"/>
                </a:lnTo>
                <a:lnTo>
                  <a:pt x="581619" y="0"/>
                </a:lnTo>
                <a:lnTo>
                  <a:pt x="0" y="0"/>
                </a:lnTo>
                <a:lnTo>
                  <a:pt x="0" y="1026093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75448" y="3970164"/>
            <a:ext cx="23939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36603" y="3916213"/>
            <a:ext cx="581660" cy="1026160"/>
          </a:xfrm>
          <a:custGeom>
            <a:avLst/>
            <a:gdLst/>
            <a:ahLst/>
            <a:cxnLst/>
            <a:rect l="l" t="t" r="r" b="b"/>
            <a:pathLst>
              <a:path w="581660" h="1026160">
                <a:moveTo>
                  <a:pt x="0" y="1026093"/>
                </a:moveTo>
                <a:lnTo>
                  <a:pt x="581619" y="1026093"/>
                </a:lnTo>
                <a:lnTo>
                  <a:pt x="581619" y="0"/>
                </a:lnTo>
                <a:lnTo>
                  <a:pt x="0" y="0"/>
                </a:lnTo>
                <a:lnTo>
                  <a:pt x="0" y="1026093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10931" y="3970164"/>
            <a:ext cx="23939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07774" y="2134645"/>
            <a:ext cx="2265680" cy="993775"/>
          </a:xfrm>
          <a:custGeom>
            <a:avLst/>
            <a:gdLst/>
            <a:ahLst/>
            <a:cxnLst/>
            <a:rect l="l" t="t" r="r" b="b"/>
            <a:pathLst>
              <a:path w="2265679" h="993775">
                <a:moveTo>
                  <a:pt x="0" y="993242"/>
                </a:moveTo>
                <a:lnTo>
                  <a:pt x="2265569" y="993242"/>
                </a:lnTo>
                <a:lnTo>
                  <a:pt x="2265569" y="0"/>
                </a:lnTo>
                <a:lnTo>
                  <a:pt x="0" y="0"/>
                </a:lnTo>
                <a:lnTo>
                  <a:pt x="0" y="993242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29852" y="2572185"/>
            <a:ext cx="142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Kubernetes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43726" y="3495818"/>
            <a:ext cx="2023110" cy="1529080"/>
          </a:xfrm>
          <a:custGeom>
            <a:avLst/>
            <a:gdLst/>
            <a:ahLst/>
            <a:cxnLst/>
            <a:rect l="l" t="t" r="r" b="b"/>
            <a:pathLst>
              <a:path w="2023109" h="1529079">
                <a:moveTo>
                  <a:pt x="0" y="1528678"/>
                </a:moveTo>
                <a:lnTo>
                  <a:pt x="2022622" y="1528678"/>
                </a:lnTo>
                <a:lnTo>
                  <a:pt x="2022622" y="0"/>
                </a:lnTo>
                <a:lnTo>
                  <a:pt x="0" y="0"/>
                </a:lnTo>
                <a:lnTo>
                  <a:pt x="0" y="1528678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903433" y="3549756"/>
            <a:ext cx="30861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Node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65584" y="3916213"/>
            <a:ext cx="581660" cy="1026160"/>
          </a:xfrm>
          <a:custGeom>
            <a:avLst/>
            <a:gdLst/>
            <a:ahLst/>
            <a:cxnLst/>
            <a:rect l="l" t="t" r="r" b="b"/>
            <a:pathLst>
              <a:path w="581659" h="1026160">
                <a:moveTo>
                  <a:pt x="0" y="1026093"/>
                </a:moveTo>
                <a:lnTo>
                  <a:pt x="581619" y="1026093"/>
                </a:lnTo>
                <a:lnTo>
                  <a:pt x="581619" y="0"/>
                </a:lnTo>
                <a:lnTo>
                  <a:pt x="0" y="0"/>
                </a:lnTo>
                <a:lnTo>
                  <a:pt x="0" y="1026093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939908" y="3970164"/>
            <a:ext cx="23939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94935" y="3916213"/>
            <a:ext cx="581660" cy="1026160"/>
          </a:xfrm>
          <a:custGeom>
            <a:avLst/>
            <a:gdLst/>
            <a:ahLst/>
            <a:cxnLst/>
            <a:rect l="l" t="t" r="r" b="b"/>
            <a:pathLst>
              <a:path w="581659" h="1026160">
                <a:moveTo>
                  <a:pt x="0" y="1026093"/>
                </a:moveTo>
                <a:lnTo>
                  <a:pt x="581619" y="1026093"/>
                </a:lnTo>
                <a:lnTo>
                  <a:pt x="581619" y="0"/>
                </a:lnTo>
                <a:lnTo>
                  <a:pt x="0" y="0"/>
                </a:lnTo>
                <a:lnTo>
                  <a:pt x="0" y="1026093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569269" y="3970164"/>
            <a:ext cx="23939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93483" y="5308091"/>
            <a:ext cx="899794" cy="193675"/>
          </a:xfrm>
          <a:prstGeom prst="rect">
            <a:avLst/>
          </a:prstGeom>
          <a:solidFill>
            <a:srgbClr val="919191"/>
          </a:solidFill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93483" y="5543192"/>
            <a:ext cx="899794" cy="193675"/>
          </a:xfrm>
          <a:prstGeom prst="rect">
            <a:avLst/>
          </a:prstGeom>
          <a:solidFill>
            <a:srgbClr val="919191"/>
          </a:solidFill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10648" y="4286693"/>
            <a:ext cx="427326" cy="1419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40016" y="4286693"/>
            <a:ext cx="427326" cy="1419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50461" y="4029541"/>
            <a:ext cx="1579245" cy="563245"/>
          </a:xfrm>
          <a:custGeom>
            <a:avLst/>
            <a:gdLst/>
            <a:ahLst/>
            <a:cxnLst/>
            <a:rect l="l" t="t" r="r" b="b"/>
            <a:pathLst>
              <a:path w="1579245" h="563245">
                <a:moveTo>
                  <a:pt x="0" y="563093"/>
                </a:moveTo>
                <a:lnTo>
                  <a:pt x="1578769" y="563093"/>
                </a:lnTo>
                <a:lnTo>
                  <a:pt x="1578769" y="0"/>
                </a:lnTo>
                <a:lnTo>
                  <a:pt x="0" y="0"/>
                </a:lnTo>
                <a:lnTo>
                  <a:pt x="0" y="563093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471635" y="4083461"/>
            <a:ext cx="94234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Hotpot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034649" y="4265266"/>
            <a:ext cx="308936" cy="2058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162208" y="3913540"/>
            <a:ext cx="588010" cy="361950"/>
          </a:xfrm>
          <a:custGeom>
            <a:avLst/>
            <a:gdLst/>
            <a:ahLst/>
            <a:cxnLst/>
            <a:rect l="l" t="t" r="r" b="b"/>
            <a:pathLst>
              <a:path w="588010" h="361950">
                <a:moveTo>
                  <a:pt x="527578" y="0"/>
                </a:moveTo>
                <a:lnTo>
                  <a:pt x="49914" y="889"/>
                </a:lnTo>
                <a:lnTo>
                  <a:pt x="14327" y="21267"/>
                </a:lnTo>
                <a:lnTo>
                  <a:pt x="0" y="60289"/>
                </a:lnTo>
                <a:lnTo>
                  <a:pt x="886" y="311708"/>
                </a:lnTo>
                <a:lnTo>
                  <a:pt x="21272" y="347292"/>
                </a:lnTo>
                <a:lnTo>
                  <a:pt x="60289" y="361614"/>
                </a:lnTo>
                <a:lnTo>
                  <a:pt x="537962" y="360725"/>
                </a:lnTo>
                <a:lnTo>
                  <a:pt x="573567" y="340352"/>
                </a:lnTo>
                <a:lnTo>
                  <a:pt x="587898" y="301355"/>
                </a:lnTo>
                <a:lnTo>
                  <a:pt x="587004" y="49884"/>
                </a:lnTo>
                <a:lnTo>
                  <a:pt x="566604" y="14311"/>
                </a:lnTo>
                <a:lnTo>
                  <a:pt x="527578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194654" y="3980174"/>
            <a:ext cx="52832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9050">
              <a:lnSpc>
                <a:spcPts val="89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CSI</a:t>
            </a:r>
            <a:r>
              <a:rPr sz="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Plugin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126540" y="3916222"/>
            <a:ext cx="588010" cy="361950"/>
          </a:xfrm>
          <a:custGeom>
            <a:avLst/>
            <a:gdLst/>
            <a:ahLst/>
            <a:cxnLst/>
            <a:rect l="l" t="t" r="r" b="b"/>
            <a:pathLst>
              <a:path w="588009" h="361950">
                <a:moveTo>
                  <a:pt x="527578" y="0"/>
                </a:moveTo>
                <a:lnTo>
                  <a:pt x="49935" y="885"/>
                </a:lnTo>
                <a:lnTo>
                  <a:pt x="14334" y="21254"/>
                </a:lnTo>
                <a:lnTo>
                  <a:pt x="0" y="60258"/>
                </a:lnTo>
                <a:lnTo>
                  <a:pt x="886" y="311708"/>
                </a:lnTo>
                <a:lnTo>
                  <a:pt x="21272" y="347292"/>
                </a:lnTo>
                <a:lnTo>
                  <a:pt x="60289" y="361614"/>
                </a:lnTo>
                <a:lnTo>
                  <a:pt x="537939" y="360729"/>
                </a:lnTo>
                <a:lnTo>
                  <a:pt x="573543" y="340359"/>
                </a:lnTo>
                <a:lnTo>
                  <a:pt x="587867" y="301355"/>
                </a:lnTo>
                <a:lnTo>
                  <a:pt x="586982" y="49906"/>
                </a:lnTo>
                <a:lnTo>
                  <a:pt x="566607" y="14321"/>
                </a:lnTo>
                <a:lnTo>
                  <a:pt x="527578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158976" y="3982841"/>
            <a:ext cx="52832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9050">
              <a:lnSpc>
                <a:spcPts val="89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CSI</a:t>
            </a:r>
            <a:r>
              <a:rPr sz="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Plugin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527706" y="4265266"/>
            <a:ext cx="308936" cy="2058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67329" y="4332457"/>
            <a:ext cx="588010" cy="633095"/>
          </a:xfrm>
          <a:custGeom>
            <a:avLst/>
            <a:gdLst/>
            <a:ahLst/>
            <a:cxnLst/>
            <a:rect l="l" t="t" r="r" b="b"/>
            <a:pathLst>
              <a:path w="588010" h="633095">
                <a:moveTo>
                  <a:pt x="489905" y="0"/>
                </a:moveTo>
                <a:lnTo>
                  <a:pt x="84683" y="896"/>
                </a:lnTo>
                <a:lnTo>
                  <a:pt x="45306" y="15354"/>
                </a:lnTo>
                <a:lnTo>
                  <a:pt x="16038" y="44243"/>
                </a:lnTo>
                <a:lnTo>
                  <a:pt x="1080" y="83370"/>
                </a:lnTo>
                <a:lnTo>
                  <a:pt x="0" y="97962"/>
                </a:lnTo>
                <a:lnTo>
                  <a:pt x="895" y="548202"/>
                </a:lnTo>
                <a:lnTo>
                  <a:pt x="15358" y="587568"/>
                </a:lnTo>
                <a:lnTo>
                  <a:pt x="44260" y="616823"/>
                </a:lnTo>
                <a:lnTo>
                  <a:pt x="83398" y="631773"/>
                </a:lnTo>
                <a:lnTo>
                  <a:pt x="97993" y="632853"/>
                </a:lnTo>
                <a:lnTo>
                  <a:pt x="503199" y="631958"/>
                </a:lnTo>
                <a:lnTo>
                  <a:pt x="542582" y="617507"/>
                </a:lnTo>
                <a:lnTo>
                  <a:pt x="571856" y="588623"/>
                </a:lnTo>
                <a:lnTo>
                  <a:pt x="586817" y="549502"/>
                </a:lnTo>
                <a:lnTo>
                  <a:pt x="587898" y="534911"/>
                </a:lnTo>
                <a:lnTo>
                  <a:pt x="587001" y="84653"/>
                </a:lnTo>
                <a:lnTo>
                  <a:pt x="572534" y="45285"/>
                </a:lnTo>
                <a:lnTo>
                  <a:pt x="543633" y="16029"/>
                </a:lnTo>
                <a:lnTo>
                  <a:pt x="504498" y="1079"/>
                </a:lnTo>
                <a:lnTo>
                  <a:pt x="489905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19338" y="4412711"/>
            <a:ext cx="48895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285" marR="5080" indent="-109220">
              <a:lnSpc>
                <a:spcPts val="89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Dock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126540" y="4327733"/>
            <a:ext cx="588010" cy="633095"/>
          </a:xfrm>
          <a:custGeom>
            <a:avLst/>
            <a:gdLst/>
            <a:ahLst/>
            <a:cxnLst/>
            <a:rect l="l" t="t" r="r" b="b"/>
            <a:pathLst>
              <a:path w="588009" h="633095">
                <a:moveTo>
                  <a:pt x="489905" y="0"/>
                </a:moveTo>
                <a:lnTo>
                  <a:pt x="84697" y="889"/>
                </a:lnTo>
                <a:lnTo>
                  <a:pt x="45310" y="15329"/>
                </a:lnTo>
                <a:lnTo>
                  <a:pt x="16039" y="44208"/>
                </a:lnTo>
                <a:lnTo>
                  <a:pt x="1080" y="83336"/>
                </a:lnTo>
                <a:lnTo>
                  <a:pt x="0" y="97932"/>
                </a:lnTo>
                <a:lnTo>
                  <a:pt x="891" y="548153"/>
                </a:lnTo>
                <a:lnTo>
                  <a:pt x="15340" y="587529"/>
                </a:lnTo>
                <a:lnTo>
                  <a:pt x="44230" y="616791"/>
                </a:lnTo>
                <a:lnTo>
                  <a:pt x="83366" y="631745"/>
                </a:lnTo>
                <a:lnTo>
                  <a:pt x="97962" y="632825"/>
                </a:lnTo>
                <a:lnTo>
                  <a:pt x="503174" y="631934"/>
                </a:lnTo>
                <a:lnTo>
                  <a:pt x="542559" y="617489"/>
                </a:lnTo>
                <a:lnTo>
                  <a:pt x="571829" y="588606"/>
                </a:lnTo>
                <a:lnTo>
                  <a:pt x="586787" y="549480"/>
                </a:lnTo>
                <a:lnTo>
                  <a:pt x="587867" y="534887"/>
                </a:lnTo>
                <a:lnTo>
                  <a:pt x="586977" y="84667"/>
                </a:lnTo>
                <a:lnTo>
                  <a:pt x="572529" y="45289"/>
                </a:lnTo>
                <a:lnTo>
                  <a:pt x="543638" y="16029"/>
                </a:lnTo>
                <a:lnTo>
                  <a:pt x="504501" y="1079"/>
                </a:lnTo>
                <a:lnTo>
                  <a:pt x="489905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178529" y="4407948"/>
            <a:ext cx="48895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285" marR="5080" indent="-109220">
              <a:lnSpc>
                <a:spcPts val="89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Dock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57782" y="4727137"/>
            <a:ext cx="525780" cy="144780"/>
          </a:xfrm>
          <a:custGeom>
            <a:avLst/>
            <a:gdLst/>
            <a:ahLst/>
            <a:cxnLst/>
            <a:rect l="l" t="t" r="r" b="b"/>
            <a:pathLst>
              <a:path w="525779" h="144779">
                <a:moveTo>
                  <a:pt x="501335" y="0"/>
                </a:moveTo>
                <a:lnTo>
                  <a:pt x="14580" y="1933"/>
                </a:lnTo>
                <a:lnTo>
                  <a:pt x="4073" y="10646"/>
                </a:lnTo>
                <a:lnTo>
                  <a:pt x="0" y="24039"/>
                </a:lnTo>
                <a:lnTo>
                  <a:pt x="1933" y="129655"/>
                </a:lnTo>
                <a:lnTo>
                  <a:pt x="10645" y="140159"/>
                </a:lnTo>
                <a:lnTo>
                  <a:pt x="24048" y="144234"/>
                </a:lnTo>
                <a:lnTo>
                  <a:pt x="510803" y="142300"/>
                </a:lnTo>
                <a:lnTo>
                  <a:pt x="521309" y="133588"/>
                </a:lnTo>
                <a:lnTo>
                  <a:pt x="525383" y="120194"/>
                </a:lnTo>
                <a:lnTo>
                  <a:pt x="523450" y="14579"/>
                </a:lnTo>
                <a:lnTo>
                  <a:pt x="514737" y="4075"/>
                </a:lnTo>
                <a:lnTo>
                  <a:pt x="501335" y="0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265181" y="4745337"/>
            <a:ext cx="316230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194730" y="4722815"/>
            <a:ext cx="525780" cy="144780"/>
          </a:xfrm>
          <a:custGeom>
            <a:avLst/>
            <a:gdLst/>
            <a:ahLst/>
            <a:cxnLst/>
            <a:rect l="l" t="t" r="r" b="b"/>
            <a:pathLst>
              <a:path w="525779" h="144779">
                <a:moveTo>
                  <a:pt x="501335" y="0"/>
                </a:moveTo>
                <a:lnTo>
                  <a:pt x="14587" y="1929"/>
                </a:lnTo>
                <a:lnTo>
                  <a:pt x="4075" y="10635"/>
                </a:lnTo>
                <a:lnTo>
                  <a:pt x="0" y="24027"/>
                </a:lnTo>
                <a:lnTo>
                  <a:pt x="1933" y="129644"/>
                </a:lnTo>
                <a:lnTo>
                  <a:pt x="10645" y="140147"/>
                </a:lnTo>
                <a:lnTo>
                  <a:pt x="24048" y="144222"/>
                </a:lnTo>
                <a:lnTo>
                  <a:pt x="510769" y="142295"/>
                </a:lnTo>
                <a:lnTo>
                  <a:pt x="521276" y="133584"/>
                </a:lnTo>
                <a:lnTo>
                  <a:pt x="525353" y="120182"/>
                </a:lnTo>
                <a:lnTo>
                  <a:pt x="523430" y="14591"/>
                </a:lnTo>
                <a:lnTo>
                  <a:pt x="514725" y="4078"/>
                </a:lnTo>
                <a:lnTo>
                  <a:pt x="501335" y="0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302117" y="4741006"/>
            <a:ext cx="316230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283262" y="4285427"/>
            <a:ext cx="1306195" cy="222885"/>
          </a:xfrm>
          <a:custGeom>
            <a:avLst/>
            <a:gdLst/>
            <a:ahLst/>
            <a:cxnLst/>
            <a:rect l="l" t="t" r="r" b="b"/>
            <a:pathLst>
              <a:path w="1306195" h="222885">
                <a:moveTo>
                  <a:pt x="1268943" y="0"/>
                </a:moveTo>
                <a:lnTo>
                  <a:pt x="35166" y="50"/>
                </a:lnTo>
                <a:lnTo>
                  <a:pt x="2738" y="23084"/>
                </a:lnTo>
                <a:lnTo>
                  <a:pt x="0" y="37094"/>
                </a:lnTo>
                <a:lnTo>
                  <a:pt x="51" y="187541"/>
                </a:lnTo>
                <a:lnTo>
                  <a:pt x="3487" y="201287"/>
                </a:lnTo>
                <a:lnTo>
                  <a:pt x="11531" y="212451"/>
                </a:lnTo>
                <a:lnTo>
                  <a:pt x="23103" y="219946"/>
                </a:lnTo>
                <a:lnTo>
                  <a:pt x="37124" y="222686"/>
                </a:lnTo>
                <a:lnTo>
                  <a:pt x="1270925" y="222634"/>
                </a:lnTo>
                <a:lnTo>
                  <a:pt x="1284681" y="219194"/>
                </a:lnTo>
                <a:lnTo>
                  <a:pt x="1295843" y="211143"/>
                </a:lnTo>
                <a:lnTo>
                  <a:pt x="1303331" y="199570"/>
                </a:lnTo>
                <a:lnTo>
                  <a:pt x="1306067" y="185562"/>
                </a:lnTo>
                <a:lnTo>
                  <a:pt x="1306017" y="35138"/>
                </a:lnTo>
                <a:lnTo>
                  <a:pt x="1302587" y="21390"/>
                </a:lnTo>
                <a:lnTo>
                  <a:pt x="1294544" y="10229"/>
                </a:lnTo>
                <a:lnTo>
                  <a:pt x="1282969" y="2737"/>
                </a:lnTo>
                <a:lnTo>
                  <a:pt x="1268943" y="0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685922" y="4342835"/>
            <a:ext cx="506095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Controller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783966" y="5224247"/>
            <a:ext cx="1188085" cy="1064260"/>
          </a:xfrm>
          <a:custGeom>
            <a:avLst/>
            <a:gdLst/>
            <a:ahLst/>
            <a:cxnLst/>
            <a:rect l="l" t="t" r="r" b="b"/>
            <a:pathLst>
              <a:path w="1188085" h="1064260">
                <a:moveTo>
                  <a:pt x="1010305" y="0"/>
                </a:moveTo>
                <a:lnTo>
                  <a:pt x="166283" y="345"/>
                </a:lnTo>
                <a:lnTo>
                  <a:pt x="123980" y="8193"/>
                </a:lnTo>
                <a:lnTo>
                  <a:pt x="85848" y="25428"/>
                </a:lnTo>
                <a:lnTo>
                  <a:pt x="53166" y="50769"/>
                </a:lnTo>
                <a:lnTo>
                  <a:pt x="27211" y="82940"/>
                </a:lnTo>
                <a:lnTo>
                  <a:pt x="9264" y="120661"/>
                </a:lnTo>
                <a:lnTo>
                  <a:pt x="602" y="162652"/>
                </a:lnTo>
                <a:lnTo>
                  <a:pt x="0" y="177378"/>
                </a:lnTo>
                <a:lnTo>
                  <a:pt x="345" y="898036"/>
                </a:lnTo>
                <a:lnTo>
                  <a:pt x="8196" y="940320"/>
                </a:lnTo>
                <a:lnTo>
                  <a:pt x="25436" y="978436"/>
                </a:lnTo>
                <a:lnTo>
                  <a:pt x="50787" y="1011105"/>
                </a:lnTo>
                <a:lnTo>
                  <a:pt x="82971" y="1037049"/>
                </a:lnTo>
                <a:lnTo>
                  <a:pt x="120707" y="1054990"/>
                </a:lnTo>
                <a:lnTo>
                  <a:pt x="162718" y="1063649"/>
                </a:lnTo>
                <a:lnTo>
                  <a:pt x="177451" y="1064251"/>
                </a:lnTo>
                <a:lnTo>
                  <a:pt x="1021474" y="1063906"/>
                </a:lnTo>
                <a:lnTo>
                  <a:pt x="1063771" y="1056057"/>
                </a:lnTo>
                <a:lnTo>
                  <a:pt x="1101901" y="1038823"/>
                </a:lnTo>
                <a:lnTo>
                  <a:pt x="1134585" y="1013482"/>
                </a:lnTo>
                <a:lnTo>
                  <a:pt x="1160543" y="981311"/>
                </a:lnTo>
                <a:lnTo>
                  <a:pt x="1178493" y="943591"/>
                </a:lnTo>
                <a:lnTo>
                  <a:pt x="1187157" y="901599"/>
                </a:lnTo>
                <a:lnTo>
                  <a:pt x="1187759" y="886873"/>
                </a:lnTo>
                <a:lnTo>
                  <a:pt x="1187413" y="166213"/>
                </a:lnTo>
                <a:lnTo>
                  <a:pt x="1179561" y="123930"/>
                </a:lnTo>
                <a:lnTo>
                  <a:pt x="1162317" y="85815"/>
                </a:lnTo>
                <a:lnTo>
                  <a:pt x="1136962" y="53146"/>
                </a:lnTo>
                <a:lnTo>
                  <a:pt x="1104777" y="27202"/>
                </a:lnTo>
                <a:lnTo>
                  <a:pt x="1067041" y="9261"/>
                </a:lnTo>
                <a:lnTo>
                  <a:pt x="1025035" y="602"/>
                </a:lnTo>
                <a:lnTo>
                  <a:pt x="1010305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966036" y="5928862"/>
            <a:ext cx="829944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6385">
              <a:lnSpc>
                <a:spcPts val="99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Profile</a:t>
            </a:r>
            <a:r>
              <a:rPr sz="8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Fast</a:t>
            </a:r>
            <a:endParaRPr sz="8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949951" y="5300769"/>
            <a:ext cx="899794" cy="193675"/>
          </a:xfrm>
          <a:custGeom>
            <a:avLst/>
            <a:gdLst/>
            <a:ahLst/>
            <a:cxnLst/>
            <a:rect l="l" t="t" r="r" b="b"/>
            <a:pathLst>
              <a:path w="899795" h="193675">
                <a:moveTo>
                  <a:pt x="0" y="193250"/>
                </a:moveTo>
                <a:lnTo>
                  <a:pt x="899434" y="193250"/>
                </a:lnTo>
                <a:lnTo>
                  <a:pt x="899434" y="0"/>
                </a:lnTo>
                <a:lnTo>
                  <a:pt x="0" y="0"/>
                </a:lnTo>
                <a:lnTo>
                  <a:pt x="0" y="19325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179168" y="5338324"/>
            <a:ext cx="44640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49951" y="5535871"/>
            <a:ext cx="899794" cy="193675"/>
          </a:xfrm>
          <a:prstGeom prst="rect">
            <a:avLst/>
          </a:prstGeom>
          <a:solidFill>
            <a:srgbClr val="919191"/>
          </a:solidFill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914704" y="5231559"/>
            <a:ext cx="1188085" cy="1064260"/>
          </a:xfrm>
          <a:custGeom>
            <a:avLst/>
            <a:gdLst/>
            <a:ahLst/>
            <a:cxnLst/>
            <a:rect l="l" t="t" r="r" b="b"/>
            <a:pathLst>
              <a:path w="1188084" h="1064260">
                <a:moveTo>
                  <a:pt x="1010290" y="0"/>
                </a:moveTo>
                <a:lnTo>
                  <a:pt x="166279" y="344"/>
                </a:lnTo>
                <a:lnTo>
                  <a:pt x="123979" y="8188"/>
                </a:lnTo>
                <a:lnTo>
                  <a:pt x="85848" y="25420"/>
                </a:lnTo>
                <a:lnTo>
                  <a:pt x="53166" y="50761"/>
                </a:lnTo>
                <a:lnTo>
                  <a:pt x="27212" y="82932"/>
                </a:lnTo>
                <a:lnTo>
                  <a:pt x="9264" y="120655"/>
                </a:lnTo>
                <a:lnTo>
                  <a:pt x="602" y="162651"/>
                </a:lnTo>
                <a:lnTo>
                  <a:pt x="0" y="177378"/>
                </a:lnTo>
                <a:lnTo>
                  <a:pt x="344" y="898014"/>
                </a:lnTo>
                <a:lnTo>
                  <a:pt x="8190" y="940302"/>
                </a:lnTo>
                <a:lnTo>
                  <a:pt x="25426" y="978423"/>
                </a:lnTo>
                <a:lnTo>
                  <a:pt x="50774" y="1011097"/>
                </a:lnTo>
                <a:lnTo>
                  <a:pt x="82954" y="1037045"/>
                </a:lnTo>
                <a:lnTo>
                  <a:pt x="120686" y="1054989"/>
                </a:lnTo>
                <a:lnTo>
                  <a:pt x="162693" y="1063649"/>
                </a:lnTo>
                <a:lnTo>
                  <a:pt x="177424" y="1064251"/>
                </a:lnTo>
                <a:lnTo>
                  <a:pt x="1021464" y="1063905"/>
                </a:lnTo>
                <a:lnTo>
                  <a:pt x="1063769" y="1056057"/>
                </a:lnTo>
                <a:lnTo>
                  <a:pt x="1101901" y="1038822"/>
                </a:lnTo>
                <a:lnTo>
                  <a:pt x="1134583" y="1013479"/>
                </a:lnTo>
                <a:lnTo>
                  <a:pt x="1160535" y="981308"/>
                </a:lnTo>
                <a:lnTo>
                  <a:pt x="1178481" y="943588"/>
                </a:lnTo>
                <a:lnTo>
                  <a:pt x="1187141" y="901595"/>
                </a:lnTo>
                <a:lnTo>
                  <a:pt x="1187744" y="886870"/>
                </a:lnTo>
                <a:lnTo>
                  <a:pt x="1187398" y="166212"/>
                </a:lnTo>
                <a:lnTo>
                  <a:pt x="1179548" y="123929"/>
                </a:lnTo>
                <a:lnTo>
                  <a:pt x="1162309" y="85814"/>
                </a:lnTo>
                <a:lnTo>
                  <a:pt x="1136958" y="53145"/>
                </a:lnTo>
                <a:lnTo>
                  <a:pt x="1104775" y="27201"/>
                </a:lnTo>
                <a:lnTo>
                  <a:pt x="1067038" y="9260"/>
                </a:lnTo>
                <a:lnTo>
                  <a:pt x="1025024" y="602"/>
                </a:lnTo>
                <a:lnTo>
                  <a:pt x="1010290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096754" y="5936177"/>
            <a:ext cx="829944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26695">
              <a:lnSpc>
                <a:spcPts val="99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Profile</a:t>
            </a:r>
            <a:r>
              <a:rPr sz="8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Object</a:t>
            </a:r>
            <a:endParaRPr sz="85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080698" y="5308091"/>
            <a:ext cx="899794" cy="193675"/>
          </a:xfrm>
          <a:custGeom>
            <a:avLst/>
            <a:gdLst/>
            <a:ahLst/>
            <a:cxnLst/>
            <a:rect l="l" t="t" r="r" b="b"/>
            <a:pathLst>
              <a:path w="899795" h="193675">
                <a:moveTo>
                  <a:pt x="0" y="193250"/>
                </a:moveTo>
                <a:lnTo>
                  <a:pt x="899422" y="193250"/>
                </a:lnTo>
                <a:lnTo>
                  <a:pt x="899422" y="0"/>
                </a:lnTo>
                <a:lnTo>
                  <a:pt x="0" y="0"/>
                </a:lnTo>
                <a:lnTo>
                  <a:pt x="0" y="19325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6309898" y="5345639"/>
            <a:ext cx="44640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080698" y="5543192"/>
            <a:ext cx="899794" cy="193675"/>
          </a:xfrm>
          <a:prstGeom prst="rect">
            <a:avLst/>
          </a:prstGeom>
          <a:solidFill>
            <a:srgbClr val="919191"/>
          </a:solidFill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611718" y="4728017"/>
            <a:ext cx="433070" cy="154305"/>
          </a:xfrm>
          <a:custGeom>
            <a:avLst/>
            <a:gdLst/>
            <a:ahLst/>
            <a:cxnLst/>
            <a:rect l="l" t="t" r="r" b="b"/>
            <a:pathLst>
              <a:path w="433069" h="154304">
                <a:moveTo>
                  <a:pt x="0" y="0"/>
                </a:moveTo>
                <a:lnTo>
                  <a:pt x="106" y="132498"/>
                </a:lnTo>
                <a:lnTo>
                  <a:pt x="46585" y="145396"/>
                </a:lnTo>
                <a:lnTo>
                  <a:pt x="88104" y="149454"/>
                </a:lnTo>
                <a:lnTo>
                  <a:pt x="139365" y="152291"/>
                </a:lnTo>
                <a:lnTo>
                  <a:pt x="177850" y="153389"/>
                </a:lnTo>
                <a:lnTo>
                  <a:pt x="219015" y="153770"/>
                </a:lnTo>
                <a:lnTo>
                  <a:pt x="259699" y="153331"/>
                </a:lnTo>
                <a:lnTo>
                  <a:pt x="315618" y="151330"/>
                </a:lnTo>
                <a:lnTo>
                  <a:pt x="363280" y="147934"/>
                </a:lnTo>
                <a:lnTo>
                  <a:pt x="409844" y="141655"/>
                </a:lnTo>
                <a:lnTo>
                  <a:pt x="432770" y="131804"/>
                </a:lnTo>
                <a:lnTo>
                  <a:pt x="432681" y="21968"/>
                </a:lnTo>
                <a:lnTo>
                  <a:pt x="213756" y="21968"/>
                </a:lnTo>
                <a:lnTo>
                  <a:pt x="173072" y="21529"/>
                </a:lnTo>
                <a:lnTo>
                  <a:pt x="117153" y="19528"/>
                </a:lnTo>
                <a:lnTo>
                  <a:pt x="69491" y="16132"/>
                </a:lnTo>
                <a:lnTo>
                  <a:pt x="22926" y="9852"/>
                </a:lnTo>
                <a:lnTo>
                  <a:pt x="976" y="2100"/>
                </a:lnTo>
                <a:lnTo>
                  <a:pt x="0" y="0"/>
                </a:lnTo>
                <a:close/>
              </a:path>
              <a:path w="433069" h="154304">
                <a:moveTo>
                  <a:pt x="432664" y="694"/>
                </a:moveTo>
                <a:lnTo>
                  <a:pt x="386182" y="13594"/>
                </a:lnTo>
                <a:lnTo>
                  <a:pt x="344662" y="17652"/>
                </a:lnTo>
                <a:lnTo>
                  <a:pt x="293402" y="20490"/>
                </a:lnTo>
                <a:lnTo>
                  <a:pt x="254918" y="21587"/>
                </a:lnTo>
                <a:lnTo>
                  <a:pt x="213756" y="21968"/>
                </a:lnTo>
                <a:lnTo>
                  <a:pt x="432681" y="21968"/>
                </a:lnTo>
                <a:lnTo>
                  <a:pt x="432664" y="694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611718" y="4706052"/>
            <a:ext cx="433070" cy="44450"/>
          </a:xfrm>
          <a:custGeom>
            <a:avLst/>
            <a:gdLst/>
            <a:ahLst/>
            <a:cxnLst/>
            <a:rect l="l" t="t" r="r" b="b"/>
            <a:pathLst>
              <a:path w="433069" h="44450">
                <a:moveTo>
                  <a:pt x="213756" y="0"/>
                </a:moveTo>
                <a:lnTo>
                  <a:pt x="153663" y="936"/>
                </a:lnTo>
                <a:lnTo>
                  <a:pt x="100230" y="3430"/>
                </a:lnTo>
                <a:lnTo>
                  <a:pt x="55852" y="7239"/>
                </a:lnTo>
                <a:lnTo>
                  <a:pt x="14909" y="13940"/>
                </a:lnTo>
                <a:lnTo>
                  <a:pt x="0" y="21965"/>
                </a:lnTo>
                <a:lnTo>
                  <a:pt x="120" y="22705"/>
                </a:lnTo>
                <a:lnTo>
                  <a:pt x="46766" y="35579"/>
                </a:lnTo>
                <a:lnTo>
                  <a:pt x="88312" y="39628"/>
                </a:lnTo>
                <a:lnTo>
                  <a:pt x="139596" y="42459"/>
                </a:lnTo>
                <a:lnTo>
                  <a:pt x="178104" y="43553"/>
                </a:lnTo>
                <a:lnTo>
                  <a:pt x="219303" y="43933"/>
                </a:lnTo>
                <a:lnTo>
                  <a:pt x="259940" y="43488"/>
                </a:lnTo>
                <a:lnTo>
                  <a:pt x="315785" y="41466"/>
                </a:lnTo>
                <a:lnTo>
                  <a:pt x="363372" y="38013"/>
                </a:lnTo>
                <a:lnTo>
                  <a:pt x="409842" y="31564"/>
                </a:lnTo>
                <a:lnTo>
                  <a:pt x="432664" y="21271"/>
                </a:lnTo>
                <a:lnTo>
                  <a:pt x="431086" y="19214"/>
                </a:lnTo>
                <a:lnTo>
                  <a:pt x="386182" y="8377"/>
                </a:lnTo>
                <a:lnTo>
                  <a:pt x="344662" y="4317"/>
                </a:lnTo>
                <a:lnTo>
                  <a:pt x="293402" y="1479"/>
                </a:lnTo>
                <a:lnTo>
                  <a:pt x="254918" y="381"/>
                </a:lnTo>
                <a:lnTo>
                  <a:pt x="213756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611819" y="4706062"/>
            <a:ext cx="433070" cy="44450"/>
          </a:xfrm>
          <a:custGeom>
            <a:avLst/>
            <a:gdLst/>
            <a:ahLst/>
            <a:cxnLst/>
            <a:rect l="l" t="t" r="r" b="b"/>
            <a:pathLst>
              <a:path w="433069" h="44450">
                <a:moveTo>
                  <a:pt x="432662" y="21957"/>
                </a:moveTo>
                <a:lnTo>
                  <a:pt x="389175" y="35167"/>
                </a:lnTo>
                <a:lnTo>
                  <a:pt x="348348" y="39358"/>
                </a:lnTo>
                <a:lnTo>
                  <a:pt x="297668" y="42316"/>
                </a:lnTo>
                <a:lnTo>
                  <a:pt x="239529" y="43797"/>
                </a:lnTo>
                <a:lnTo>
                  <a:pt x="218905" y="43921"/>
                </a:lnTo>
                <a:lnTo>
                  <a:pt x="198031" y="43824"/>
                </a:lnTo>
                <a:lnTo>
                  <a:pt x="158126" y="43077"/>
                </a:lnTo>
                <a:lnTo>
                  <a:pt x="104115" y="40699"/>
                </a:lnTo>
                <a:lnTo>
                  <a:pt x="59101" y="37022"/>
                </a:lnTo>
                <a:lnTo>
                  <a:pt x="16929" y="30505"/>
                </a:lnTo>
                <a:lnTo>
                  <a:pt x="0" y="22651"/>
                </a:lnTo>
                <a:lnTo>
                  <a:pt x="957" y="20435"/>
                </a:lnTo>
                <a:lnTo>
                  <a:pt x="43337" y="8895"/>
                </a:lnTo>
                <a:lnTo>
                  <a:pt x="84091" y="4615"/>
                </a:lnTo>
                <a:lnTo>
                  <a:pt x="134698" y="1619"/>
                </a:lnTo>
                <a:lnTo>
                  <a:pt x="192764" y="126"/>
                </a:lnTo>
                <a:lnTo>
                  <a:pt x="213364" y="0"/>
                </a:lnTo>
                <a:lnTo>
                  <a:pt x="234258" y="95"/>
                </a:lnTo>
                <a:lnTo>
                  <a:pt x="274193" y="840"/>
                </a:lnTo>
                <a:lnTo>
                  <a:pt x="328232" y="3208"/>
                </a:lnTo>
                <a:lnTo>
                  <a:pt x="373269" y="6872"/>
                </a:lnTo>
                <a:lnTo>
                  <a:pt x="415494" y="13373"/>
                </a:lnTo>
                <a:lnTo>
                  <a:pt x="432662" y="21957"/>
                </a:lnTo>
                <a:close/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611713" y="4728020"/>
            <a:ext cx="433070" cy="154305"/>
          </a:xfrm>
          <a:custGeom>
            <a:avLst/>
            <a:gdLst/>
            <a:ahLst/>
            <a:cxnLst/>
            <a:rect l="l" t="t" r="r" b="b"/>
            <a:pathLst>
              <a:path w="433069" h="154304">
                <a:moveTo>
                  <a:pt x="432768" y="0"/>
                </a:moveTo>
                <a:lnTo>
                  <a:pt x="432768" y="131802"/>
                </a:lnTo>
                <a:lnTo>
                  <a:pt x="431792" y="133902"/>
                </a:lnTo>
                <a:lnTo>
                  <a:pt x="389281" y="145012"/>
                </a:lnTo>
                <a:lnTo>
                  <a:pt x="348454" y="149203"/>
                </a:lnTo>
                <a:lnTo>
                  <a:pt x="297774" y="152161"/>
                </a:lnTo>
                <a:lnTo>
                  <a:pt x="239634" y="153642"/>
                </a:lnTo>
                <a:lnTo>
                  <a:pt x="219011" y="153766"/>
                </a:lnTo>
                <a:lnTo>
                  <a:pt x="198137" y="153669"/>
                </a:lnTo>
                <a:lnTo>
                  <a:pt x="158232" y="152922"/>
                </a:lnTo>
                <a:lnTo>
                  <a:pt x="104221" y="150544"/>
                </a:lnTo>
                <a:lnTo>
                  <a:pt x="59206" y="146867"/>
                </a:lnTo>
                <a:lnTo>
                  <a:pt x="17035" y="140350"/>
                </a:lnTo>
                <a:lnTo>
                  <a:pt x="105" y="132496"/>
                </a:lnTo>
                <a:lnTo>
                  <a:pt x="0" y="0"/>
                </a:lnTo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2762391" y="4761292"/>
            <a:ext cx="137160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b="1" spc="-5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ol</a:t>
            </a:r>
            <a:endParaRPr sz="6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826073" y="3127881"/>
            <a:ext cx="2114550" cy="342900"/>
          </a:xfrm>
          <a:custGeom>
            <a:avLst/>
            <a:gdLst/>
            <a:ahLst/>
            <a:cxnLst/>
            <a:rect l="l" t="t" r="r" b="b"/>
            <a:pathLst>
              <a:path w="2114550" h="342900">
                <a:moveTo>
                  <a:pt x="2114472" y="0"/>
                </a:moveTo>
                <a:lnTo>
                  <a:pt x="2114472" y="183970"/>
                </a:lnTo>
                <a:lnTo>
                  <a:pt x="0" y="183970"/>
                </a:lnTo>
                <a:lnTo>
                  <a:pt x="0" y="342800"/>
                </a:lnTo>
              </a:path>
            </a:pathLst>
          </a:custGeom>
          <a:ln w="94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788395" y="34204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67" y="0"/>
                </a:moveTo>
                <a:lnTo>
                  <a:pt x="0" y="0"/>
                </a:lnTo>
                <a:lnTo>
                  <a:pt x="37682" y="75346"/>
                </a:lnTo>
                <a:lnTo>
                  <a:pt x="753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940546" y="3127881"/>
            <a:ext cx="2114550" cy="342900"/>
          </a:xfrm>
          <a:custGeom>
            <a:avLst/>
            <a:gdLst/>
            <a:ahLst/>
            <a:cxnLst/>
            <a:rect l="l" t="t" r="r" b="b"/>
            <a:pathLst>
              <a:path w="2114550" h="342900">
                <a:moveTo>
                  <a:pt x="0" y="0"/>
                </a:moveTo>
                <a:lnTo>
                  <a:pt x="0" y="183970"/>
                </a:lnTo>
                <a:lnTo>
                  <a:pt x="2114485" y="183970"/>
                </a:lnTo>
                <a:lnTo>
                  <a:pt x="2114485" y="342800"/>
                </a:lnTo>
              </a:path>
            </a:pathLst>
          </a:custGeom>
          <a:ln w="94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017379" y="34204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346" y="0"/>
                </a:moveTo>
                <a:lnTo>
                  <a:pt x="0" y="0"/>
                </a:lnTo>
                <a:lnTo>
                  <a:pt x="37673" y="75346"/>
                </a:lnTo>
                <a:lnTo>
                  <a:pt x="75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840016" y="4729078"/>
            <a:ext cx="433070" cy="154305"/>
          </a:xfrm>
          <a:custGeom>
            <a:avLst/>
            <a:gdLst/>
            <a:ahLst/>
            <a:cxnLst/>
            <a:rect l="l" t="t" r="r" b="b"/>
            <a:pathLst>
              <a:path w="433070" h="154304">
                <a:moveTo>
                  <a:pt x="0" y="0"/>
                </a:moveTo>
                <a:lnTo>
                  <a:pt x="105" y="132480"/>
                </a:lnTo>
                <a:lnTo>
                  <a:pt x="46571" y="145381"/>
                </a:lnTo>
                <a:lnTo>
                  <a:pt x="88087" y="149439"/>
                </a:lnTo>
                <a:lnTo>
                  <a:pt x="139346" y="152276"/>
                </a:lnTo>
                <a:lnTo>
                  <a:pt x="177830" y="153373"/>
                </a:lnTo>
                <a:lnTo>
                  <a:pt x="218994" y="153754"/>
                </a:lnTo>
                <a:lnTo>
                  <a:pt x="259682" y="153316"/>
                </a:lnTo>
                <a:lnTo>
                  <a:pt x="315604" y="151316"/>
                </a:lnTo>
                <a:lnTo>
                  <a:pt x="363266" y="147920"/>
                </a:lnTo>
                <a:lnTo>
                  <a:pt x="409830" y="141641"/>
                </a:lnTo>
                <a:lnTo>
                  <a:pt x="432755" y="131789"/>
                </a:lnTo>
                <a:lnTo>
                  <a:pt x="432667" y="21965"/>
                </a:lnTo>
                <a:lnTo>
                  <a:pt x="213760" y="21965"/>
                </a:lnTo>
                <a:lnTo>
                  <a:pt x="173072" y="21527"/>
                </a:lnTo>
                <a:lnTo>
                  <a:pt x="117150" y="19526"/>
                </a:lnTo>
                <a:lnTo>
                  <a:pt x="69488" y="16130"/>
                </a:lnTo>
                <a:lnTo>
                  <a:pt x="22924" y="9852"/>
                </a:lnTo>
                <a:lnTo>
                  <a:pt x="976" y="2100"/>
                </a:lnTo>
                <a:lnTo>
                  <a:pt x="0" y="0"/>
                </a:lnTo>
                <a:close/>
              </a:path>
              <a:path w="433070" h="154304">
                <a:moveTo>
                  <a:pt x="432650" y="691"/>
                </a:moveTo>
                <a:lnTo>
                  <a:pt x="386183" y="13592"/>
                </a:lnTo>
                <a:lnTo>
                  <a:pt x="344667" y="17650"/>
                </a:lnTo>
                <a:lnTo>
                  <a:pt x="293408" y="20487"/>
                </a:lnTo>
                <a:lnTo>
                  <a:pt x="254924" y="21584"/>
                </a:lnTo>
                <a:lnTo>
                  <a:pt x="213760" y="21965"/>
                </a:lnTo>
                <a:lnTo>
                  <a:pt x="432667" y="21965"/>
                </a:lnTo>
                <a:lnTo>
                  <a:pt x="432650" y="691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840016" y="4707119"/>
            <a:ext cx="433070" cy="44450"/>
          </a:xfrm>
          <a:custGeom>
            <a:avLst/>
            <a:gdLst/>
            <a:ahLst/>
            <a:cxnLst/>
            <a:rect l="l" t="t" r="r" b="b"/>
            <a:pathLst>
              <a:path w="433070" h="44450">
                <a:moveTo>
                  <a:pt x="213761" y="0"/>
                </a:moveTo>
                <a:lnTo>
                  <a:pt x="153662" y="933"/>
                </a:lnTo>
                <a:lnTo>
                  <a:pt x="100227" y="3422"/>
                </a:lnTo>
                <a:lnTo>
                  <a:pt x="55850" y="7226"/>
                </a:lnTo>
                <a:lnTo>
                  <a:pt x="14908" y="13925"/>
                </a:lnTo>
                <a:lnTo>
                  <a:pt x="0" y="21959"/>
                </a:lnTo>
                <a:lnTo>
                  <a:pt x="119" y="22696"/>
                </a:lnTo>
                <a:lnTo>
                  <a:pt x="46747" y="35570"/>
                </a:lnTo>
                <a:lnTo>
                  <a:pt x="88289" y="39619"/>
                </a:lnTo>
                <a:lnTo>
                  <a:pt x="139571" y="42450"/>
                </a:lnTo>
                <a:lnTo>
                  <a:pt x="178080" y="43544"/>
                </a:lnTo>
                <a:lnTo>
                  <a:pt x="219280" y="43924"/>
                </a:lnTo>
                <a:lnTo>
                  <a:pt x="259920" y="43480"/>
                </a:lnTo>
                <a:lnTo>
                  <a:pt x="315769" y="41458"/>
                </a:lnTo>
                <a:lnTo>
                  <a:pt x="363358" y="38006"/>
                </a:lnTo>
                <a:lnTo>
                  <a:pt x="409828" y="31558"/>
                </a:lnTo>
                <a:lnTo>
                  <a:pt x="432650" y="21267"/>
                </a:lnTo>
                <a:lnTo>
                  <a:pt x="431075" y="19207"/>
                </a:lnTo>
                <a:lnTo>
                  <a:pt x="386184" y="8364"/>
                </a:lnTo>
                <a:lnTo>
                  <a:pt x="344668" y="4309"/>
                </a:lnTo>
                <a:lnTo>
                  <a:pt x="293409" y="1475"/>
                </a:lnTo>
                <a:lnTo>
                  <a:pt x="254925" y="380"/>
                </a:lnTo>
                <a:lnTo>
                  <a:pt x="213761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840089" y="4707099"/>
            <a:ext cx="433070" cy="44450"/>
          </a:xfrm>
          <a:custGeom>
            <a:avLst/>
            <a:gdLst/>
            <a:ahLst/>
            <a:cxnLst/>
            <a:rect l="l" t="t" r="r" b="b"/>
            <a:pathLst>
              <a:path w="433070" h="44450">
                <a:moveTo>
                  <a:pt x="432673" y="21978"/>
                </a:moveTo>
                <a:lnTo>
                  <a:pt x="389187" y="35190"/>
                </a:lnTo>
                <a:lnTo>
                  <a:pt x="348362" y="39382"/>
                </a:lnTo>
                <a:lnTo>
                  <a:pt x="297682" y="42340"/>
                </a:lnTo>
                <a:lnTo>
                  <a:pt x="239544" y="43821"/>
                </a:lnTo>
                <a:lnTo>
                  <a:pt x="218921" y="43945"/>
                </a:lnTo>
                <a:lnTo>
                  <a:pt x="198046" y="43849"/>
                </a:lnTo>
                <a:lnTo>
                  <a:pt x="158140" y="43101"/>
                </a:lnTo>
                <a:lnTo>
                  <a:pt x="104128" y="40724"/>
                </a:lnTo>
                <a:lnTo>
                  <a:pt x="59112" y="37047"/>
                </a:lnTo>
                <a:lnTo>
                  <a:pt x="16937" y="30530"/>
                </a:lnTo>
                <a:lnTo>
                  <a:pt x="0" y="22675"/>
                </a:lnTo>
                <a:lnTo>
                  <a:pt x="956" y="20460"/>
                </a:lnTo>
                <a:lnTo>
                  <a:pt x="43334" y="8914"/>
                </a:lnTo>
                <a:lnTo>
                  <a:pt x="84086" y="4627"/>
                </a:lnTo>
                <a:lnTo>
                  <a:pt x="134690" y="1624"/>
                </a:lnTo>
                <a:lnTo>
                  <a:pt x="192755" y="126"/>
                </a:lnTo>
                <a:lnTo>
                  <a:pt x="213354" y="0"/>
                </a:lnTo>
                <a:lnTo>
                  <a:pt x="234249" y="96"/>
                </a:lnTo>
                <a:lnTo>
                  <a:pt x="274185" y="842"/>
                </a:lnTo>
                <a:lnTo>
                  <a:pt x="328225" y="3215"/>
                </a:lnTo>
                <a:lnTo>
                  <a:pt x="373264" y="6886"/>
                </a:lnTo>
                <a:lnTo>
                  <a:pt x="415494" y="13393"/>
                </a:lnTo>
                <a:lnTo>
                  <a:pt x="432673" y="21978"/>
                </a:lnTo>
                <a:close/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839982" y="4729078"/>
            <a:ext cx="433070" cy="154305"/>
          </a:xfrm>
          <a:custGeom>
            <a:avLst/>
            <a:gdLst/>
            <a:ahLst/>
            <a:cxnLst/>
            <a:rect l="l" t="t" r="r" b="b"/>
            <a:pathLst>
              <a:path w="433070" h="154304">
                <a:moveTo>
                  <a:pt x="432780" y="0"/>
                </a:moveTo>
                <a:lnTo>
                  <a:pt x="432780" y="131790"/>
                </a:lnTo>
                <a:lnTo>
                  <a:pt x="431804" y="133890"/>
                </a:lnTo>
                <a:lnTo>
                  <a:pt x="389294" y="145002"/>
                </a:lnTo>
                <a:lnTo>
                  <a:pt x="348468" y="149193"/>
                </a:lnTo>
                <a:lnTo>
                  <a:pt x="297789" y="152151"/>
                </a:lnTo>
                <a:lnTo>
                  <a:pt x="239651" y="153633"/>
                </a:lnTo>
                <a:lnTo>
                  <a:pt x="219028" y="153757"/>
                </a:lnTo>
                <a:lnTo>
                  <a:pt x="198153" y="153660"/>
                </a:lnTo>
                <a:lnTo>
                  <a:pt x="158247" y="152913"/>
                </a:lnTo>
                <a:lnTo>
                  <a:pt x="104234" y="150535"/>
                </a:lnTo>
                <a:lnTo>
                  <a:pt x="59218" y="146859"/>
                </a:lnTo>
                <a:lnTo>
                  <a:pt x="17044" y="140341"/>
                </a:lnTo>
                <a:lnTo>
                  <a:pt x="106" y="132486"/>
                </a:lnTo>
                <a:lnTo>
                  <a:pt x="0" y="0"/>
                </a:lnTo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990682" y="4762346"/>
            <a:ext cx="137160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b="1" spc="-5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ol</a:t>
            </a:r>
            <a:endParaRPr sz="6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5392899" y="4882836"/>
            <a:ext cx="1663700" cy="521970"/>
          </a:xfrm>
          <a:custGeom>
            <a:avLst/>
            <a:gdLst/>
            <a:ahLst/>
            <a:cxnLst/>
            <a:rect l="l" t="t" r="r" b="b"/>
            <a:pathLst>
              <a:path w="1663700" h="521970">
                <a:moveTo>
                  <a:pt x="1663473" y="0"/>
                </a:moveTo>
                <a:lnTo>
                  <a:pt x="0" y="521873"/>
                </a:lnTo>
              </a:path>
            </a:pathLst>
          </a:custGeom>
          <a:ln w="4156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750094" y="4094359"/>
            <a:ext cx="375285" cy="217170"/>
          </a:xfrm>
          <a:custGeom>
            <a:avLst/>
            <a:gdLst/>
            <a:ahLst/>
            <a:cxnLst/>
            <a:rect l="l" t="t" r="r" b="b"/>
            <a:pathLst>
              <a:path w="375285" h="217170">
                <a:moveTo>
                  <a:pt x="0" y="0"/>
                </a:moveTo>
                <a:lnTo>
                  <a:pt x="200019" y="0"/>
                </a:lnTo>
                <a:lnTo>
                  <a:pt x="200019" y="216608"/>
                </a:lnTo>
                <a:lnTo>
                  <a:pt x="374918" y="216608"/>
                </a:lnTo>
              </a:path>
            </a:pathLst>
          </a:custGeom>
          <a:ln w="94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074779" y="42732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0"/>
                </a:moveTo>
                <a:lnTo>
                  <a:pt x="0" y="75316"/>
                </a:lnTo>
                <a:lnTo>
                  <a:pt x="75377" y="376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828097" y="4881788"/>
            <a:ext cx="1665605" cy="523240"/>
          </a:xfrm>
          <a:custGeom>
            <a:avLst/>
            <a:gdLst/>
            <a:ahLst/>
            <a:cxnLst/>
            <a:rect l="l" t="t" r="r" b="b"/>
            <a:pathLst>
              <a:path w="1665604" h="523239">
                <a:moveTo>
                  <a:pt x="0" y="0"/>
                </a:moveTo>
                <a:lnTo>
                  <a:pt x="1665370" y="522922"/>
                </a:lnTo>
              </a:path>
            </a:pathLst>
          </a:custGeom>
          <a:ln w="4156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754372" y="4097041"/>
            <a:ext cx="372745" cy="214629"/>
          </a:xfrm>
          <a:custGeom>
            <a:avLst/>
            <a:gdLst/>
            <a:ahLst/>
            <a:cxnLst/>
            <a:rect l="l" t="t" r="r" b="b"/>
            <a:pathLst>
              <a:path w="372745" h="214629">
                <a:moveTo>
                  <a:pt x="372143" y="0"/>
                </a:moveTo>
                <a:lnTo>
                  <a:pt x="173496" y="0"/>
                </a:lnTo>
                <a:lnTo>
                  <a:pt x="173496" y="214048"/>
                </a:lnTo>
                <a:lnTo>
                  <a:pt x="0" y="214048"/>
                </a:lnTo>
              </a:path>
            </a:pathLst>
          </a:custGeom>
          <a:ln w="94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729234" y="427341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77" y="0"/>
                </a:moveTo>
                <a:lnTo>
                  <a:pt x="0" y="37642"/>
                </a:lnTo>
                <a:lnTo>
                  <a:pt x="75377" y="75316"/>
                </a:lnTo>
                <a:lnTo>
                  <a:pt x="753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780337" y="4461386"/>
            <a:ext cx="358140" cy="187960"/>
          </a:xfrm>
          <a:custGeom>
            <a:avLst/>
            <a:gdLst/>
            <a:ahLst/>
            <a:cxnLst/>
            <a:rect l="l" t="t" r="r" b="b"/>
            <a:pathLst>
              <a:path w="358139" h="187960">
                <a:moveTo>
                  <a:pt x="358150" y="0"/>
                </a:moveTo>
                <a:lnTo>
                  <a:pt x="166515" y="0"/>
                </a:lnTo>
                <a:lnTo>
                  <a:pt x="166515" y="187505"/>
                </a:lnTo>
                <a:lnTo>
                  <a:pt x="0" y="187505"/>
                </a:lnTo>
              </a:path>
            </a:pathLst>
          </a:custGeom>
          <a:ln w="94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55227" y="46112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46" y="0"/>
                </a:moveTo>
                <a:lnTo>
                  <a:pt x="0" y="37673"/>
                </a:lnTo>
                <a:lnTo>
                  <a:pt x="75346" y="75346"/>
                </a:lnTo>
                <a:lnTo>
                  <a:pt x="75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733306" y="4450141"/>
            <a:ext cx="368300" cy="193675"/>
          </a:xfrm>
          <a:custGeom>
            <a:avLst/>
            <a:gdLst/>
            <a:ahLst/>
            <a:cxnLst/>
            <a:rect l="l" t="t" r="r" b="b"/>
            <a:pathLst>
              <a:path w="368300" h="193675">
                <a:moveTo>
                  <a:pt x="0" y="0"/>
                </a:moveTo>
                <a:lnTo>
                  <a:pt x="196848" y="0"/>
                </a:lnTo>
                <a:lnTo>
                  <a:pt x="196848" y="193600"/>
                </a:lnTo>
                <a:lnTo>
                  <a:pt x="367784" y="193600"/>
                </a:lnTo>
              </a:path>
            </a:pathLst>
          </a:custGeom>
          <a:ln w="94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050828" y="46060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0"/>
                </a:moveTo>
                <a:lnTo>
                  <a:pt x="0" y="75316"/>
                </a:lnTo>
                <a:lnTo>
                  <a:pt x="75377" y="376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720096" y="4794919"/>
            <a:ext cx="1223645" cy="411480"/>
          </a:xfrm>
          <a:custGeom>
            <a:avLst/>
            <a:gdLst/>
            <a:ahLst/>
            <a:cxnLst/>
            <a:rect l="l" t="t" r="r" b="b"/>
            <a:pathLst>
              <a:path w="1223645" h="411479">
                <a:moveTo>
                  <a:pt x="0" y="0"/>
                </a:moveTo>
                <a:lnTo>
                  <a:pt x="1223163" y="0"/>
                </a:lnTo>
                <a:lnTo>
                  <a:pt x="1223163" y="411278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905603" y="515596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46" y="0"/>
                </a:moveTo>
                <a:lnTo>
                  <a:pt x="0" y="0"/>
                </a:lnTo>
                <a:lnTo>
                  <a:pt x="37673" y="75343"/>
                </a:lnTo>
                <a:lnTo>
                  <a:pt x="75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43198" y="4799255"/>
            <a:ext cx="1214755" cy="407670"/>
          </a:xfrm>
          <a:custGeom>
            <a:avLst/>
            <a:gdLst/>
            <a:ahLst/>
            <a:cxnLst/>
            <a:rect l="l" t="t" r="r" b="b"/>
            <a:pathLst>
              <a:path w="1214754" h="407670">
                <a:moveTo>
                  <a:pt x="1214566" y="0"/>
                </a:moveTo>
                <a:lnTo>
                  <a:pt x="0" y="0"/>
                </a:lnTo>
                <a:lnTo>
                  <a:pt x="0" y="407191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05512" y="51562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77" y="0"/>
                </a:moveTo>
                <a:lnTo>
                  <a:pt x="0" y="0"/>
                </a:lnTo>
                <a:lnTo>
                  <a:pt x="37703" y="75331"/>
                </a:lnTo>
                <a:lnTo>
                  <a:pt x="753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050652" y="4806195"/>
            <a:ext cx="119380" cy="0"/>
          </a:xfrm>
          <a:custGeom>
            <a:avLst/>
            <a:gdLst/>
            <a:ahLst/>
            <a:cxnLst/>
            <a:rect l="l" t="t" r="r" b="b"/>
            <a:pathLst>
              <a:path w="119380">
                <a:moveTo>
                  <a:pt x="0" y="0"/>
                </a:moveTo>
                <a:lnTo>
                  <a:pt x="118834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025533" y="47685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80" y="0"/>
                </a:moveTo>
                <a:lnTo>
                  <a:pt x="0" y="37670"/>
                </a:lnTo>
                <a:lnTo>
                  <a:pt x="75380" y="75340"/>
                </a:lnTo>
                <a:lnTo>
                  <a:pt x="75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119231" y="47685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0"/>
                </a:moveTo>
                <a:lnTo>
                  <a:pt x="0" y="75340"/>
                </a:lnTo>
                <a:lnTo>
                  <a:pt x="75377" y="37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724348" y="4806195"/>
            <a:ext cx="119380" cy="0"/>
          </a:xfrm>
          <a:custGeom>
            <a:avLst/>
            <a:gdLst/>
            <a:ahLst/>
            <a:cxnLst/>
            <a:rect l="l" t="t" r="r" b="b"/>
            <a:pathLst>
              <a:path w="119379">
                <a:moveTo>
                  <a:pt x="0" y="0"/>
                </a:moveTo>
                <a:lnTo>
                  <a:pt x="118804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699229" y="47685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377" y="0"/>
                </a:moveTo>
                <a:lnTo>
                  <a:pt x="0" y="37670"/>
                </a:lnTo>
                <a:lnTo>
                  <a:pt x="75377" y="75340"/>
                </a:lnTo>
                <a:lnTo>
                  <a:pt x="753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792924" y="47685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0" y="0"/>
                </a:moveTo>
                <a:lnTo>
                  <a:pt x="0" y="75340"/>
                </a:lnTo>
                <a:lnTo>
                  <a:pt x="75377" y="37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420463" y="3495822"/>
            <a:ext cx="635000" cy="395605"/>
          </a:xfrm>
          <a:custGeom>
            <a:avLst/>
            <a:gdLst/>
            <a:ahLst/>
            <a:cxnLst/>
            <a:rect l="l" t="t" r="r" b="b"/>
            <a:pathLst>
              <a:path w="635000" h="395604">
                <a:moveTo>
                  <a:pt x="634568" y="0"/>
                </a:moveTo>
                <a:lnTo>
                  <a:pt x="634568" y="211427"/>
                </a:lnTo>
                <a:lnTo>
                  <a:pt x="0" y="211427"/>
                </a:lnTo>
                <a:lnTo>
                  <a:pt x="0" y="395276"/>
                </a:lnTo>
              </a:path>
            </a:pathLst>
          </a:custGeom>
          <a:ln w="941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382786" y="38408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77" y="0"/>
                </a:moveTo>
                <a:lnTo>
                  <a:pt x="0" y="0"/>
                </a:lnTo>
                <a:lnTo>
                  <a:pt x="37673" y="75346"/>
                </a:lnTo>
                <a:lnTo>
                  <a:pt x="753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4968815" y="3174650"/>
            <a:ext cx="1687195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Create</a:t>
            </a:r>
            <a:r>
              <a:rPr sz="800" spc="15" dirty="0">
                <a:latin typeface="Times New Roman"/>
                <a:cs typeface="Times New Roman"/>
              </a:rPr>
              <a:t> </a:t>
            </a:r>
            <a:r>
              <a:rPr sz="800" spc="-15" dirty="0">
                <a:latin typeface="Arial"/>
                <a:cs typeface="Arial"/>
              </a:rPr>
              <a:t>PVC</a:t>
            </a:r>
            <a:r>
              <a:rPr sz="800" spc="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rial"/>
                <a:cs typeface="Arial"/>
              </a:rPr>
              <a:t>(Storage</a:t>
            </a:r>
            <a:r>
              <a:rPr sz="800" spc="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rial"/>
                <a:cs typeface="Arial"/>
              </a:rPr>
              <a:t>Class</a:t>
            </a:r>
            <a:r>
              <a:rPr sz="800" spc="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rial"/>
                <a:cs typeface="Arial"/>
              </a:rPr>
              <a:t>=</a:t>
            </a:r>
            <a:r>
              <a:rPr sz="800" spc="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rial"/>
                <a:cs typeface="Arial"/>
              </a:rPr>
              <a:t>Faster)</a:t>
            </a:r>
            <a:endParaRPr sz="8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2826061" y="3495822"/>
            <a:ext cx="630555" cy="393065"/>
          </a:xfrm>
          <a:custGeom>
            <a:avLst/>
            <a:gdLst/>
            <a:ahLst/>
            <a:cxnLst/>
            <a:rect l="l" t="t" r="r" b="b"/>
            <a:pathLst>
              <a:path w="630554" h="393064">
                <a:moveTo>
                  <a:pt x="0" y="0"/>
                </a:moveTo>
                <a:lnTo>
                  <a:pt x="0" y="201706"/>
                </a:lnTo>
                <a:lnTo>
                  <a:pt x="630086" y="201706"/>
                </a:lnTo>
                <a:lnTo>
                  <a:pt x="630086" y="392624"/>
                </a:lnTo>
              </a:path>
            </a:pathLst>
          </a:custGeom>
          <a:ln w="941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418484" y="38381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46" y="0"/>
                </a:moveTo>
                <a:lnTo>
                  <a:pt x="0" y="0"/>
                </a:lnTo>
                <a:lnTo>
                  <a:pt x="37673" y="75346"/>
                </a:lnTo>
                <a:lnTo>
                  <a:pt x="75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4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4763" y="3495805"/>
            <a:ext cx="2023110" cy="2074545"/>
          </a:xfrm>
          <a:custGeom>
            <a:avLst/>
            <a:gdLst/>
            <a:ahLst/>
            <a:cxnLst/>
            <a:rect l="l" t="t" r="r" b="b"/>
            <a:pathLst>
              <a:path w="2023110" h="2074545">
                <a:moveTo>
                  <a:pt x="0" y="2074258"/>
                </a:moveTo>
                <a:lnTo>
                  <a:pt x="2022622" y="2074258"/>
                </a:lnTo>
                <a:lnTo>
                  <a:pt x="2022622" y="0"/>
                </a:lnTo>
                <a:lnTo>
                  <a:pt x="0" y="0"/>
                </a:lnTo>
                <a:lnTo>
                  <a:pt x="0" y="2074258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74457" y="3549743"/>
            <a:ext cx="30797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Node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43726" y="3495805"/>
            <a:ext cx="2023110" cy="2074545"/>
          </a:xfrm>
          <a:custGeom>
            <a:avLst/>
            <a:gdLst/>
            <a:ahLst/>
            <a:cxnLst/>
            <a:rect l="l" t="t" r="r" b="b"/>
            <a:pathLst>
              <a:path w="2023109" h="2074545">
                <a:moveTo>
                  <a:pt x="0" y="2074258"/>
                </a:moveTo>
                <a:lnTo>
                  <a:pt x="2022622" y="2074258"/>
                </a:lnTo>
                <a:lnTo>
                  <a:pt x="2022622" y="0"/>
                </a:lnTo>
                <a:lnTo>
                  <a:pt x="0" y="0"/>
                </a:lnTo>
                <a:lnTo>
                  <a:pt x="0" y="2074258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03433" y="3549743"/>
            <a:ext cx="30861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Node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30120" y="4667755"/>
            <a:ext cx="1226185" cy="1224280"/>
          </a:xfrm>
          <a:custGeom>
            <a:avLst/>
            <a:gdLst/>
            <a:ahLst/>
            <a:cxnLst/>
            <a:rect l="l" t="t" r="r" b="b"/>
            <a:pathLst>
              <a:path w="1226185" h="1224279">
                <a:moveTo>
                  <a:pt x="1225571" y="0"/>
                </a:moveTo>
                <a:lnTo>
                  <a:pt x="0" y="0"/>
                </a:lnTo>
                <a:lnTo>
                  <a:pt x="0" y="1224207"/>
                </a:lnTo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92466" y="58417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46" y="0"/>
                </a:moveTo>
                <a:lnTo>
                  <a:pt x="0" y="0"/>
                </a:lnTo>
                <a:lnTo>
                  <a:pt x="37673" y="75331"/>
                </a:lnTo>
                <a:lnTo>
                  <a:pt x="75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18023" y="4667755"/>
            <a:ext cx="1212215" cy="1224915"/>
          </a:xfrm>
          <a:custGeom>
            <a:avLst/>
            <a:gdLst/>
            <a:ahLst/>
            <a:cxnLst/>
            <a:rect l="l" t="t" r="r" b="b"/>
            <a:pathLst>
              <a:path w="1212214" h="1224914">
                <a:moveTo>
                  <a:pt x="0" y="0"/>
                </a:moveTo>
                <a:lnTo>
                  <a:pt x="1212035" y="0"/>
                </a:lnTo>
                <a:lnTo>
                  <a:pt x="1212035" y="1224527"/>
                </a:lnTo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92405" y="58420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77" y="0"/>
                </a:moveTo>
                <a:lnTo>
                  <a:pt x="0" y="0"/>
                </a:lnTo>
                <a:lnTo>
                  <a:pt x="37673" y="75331"/>
                </a:lnTo>
                <a:lnTo>
                  <a:pt x="753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27918" y="1558988"/>
            <a:ext cx="561975" cy="30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00"/>
              </a:lnSpc>
            </a:pPr>
            <a:r>
              <a:rPr sz="2350" b="1" spc="10" dirty="0">
                <a:latin typeface="Arial"/>
                <a:cs typeface="Arial"/>
              </a:rPr>
              <a:t>The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7918" y="1910556"/>
            <a:ext cx="1684020" cy="1393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699"/>
              </a:lnSpc>
            </a:pPr>
            <a:r>
              <a:rPr sz="2350" b="1" spc="-5" dirty="0">
                <a:latin typeface="Arial"/>
                <a:cs typeface="Arial"/>
              </a:rPr>
              <a:t>O</a:t>
            </a:r>
            <a:r>
              <a:rPr sz="2350" b="1" dirty="0">
                <a:latin typeface="Arial"/>
                <a:cs typeface="Arial"/>
              </a:rPr>
              <a:t>p</a:t>
            </a:r>
            <a:r>
              <a:rPr sz="2350" b="1" spc="10" dirty="0">
                <a:latin typeface="Arial"/>
                <a:cs typeface="Arial"/>
              </a:rPr>
              <a:t>e</a:t>
            </a:r>
            <a:r>
              <a:rPr sz="2350" b="1" dirty="0">
                <a:latin typeface="Arial"/>
                <a:cs typeface="Arial"/>
              </a:rPr>
              <a:t>n</a:t>
            </a:r>
            <a:r>
              <a:rPr sz="2350" b="1" spc="15" dirty="0">
                <a:latin typeface="Arial"/>
                <a:cs typeface="Arial"/>
              </a:rPr>
              <a:t>SDS</a:t>
            </a:r>
            <a:r>
              <a:rPr sz="2350" b="1" spc="5" dirty="0">
                <a:latin typeface="Times New Roman"/>
                <a:cs typeface="Times New Roman"/>
              </a:rPr>
              <a:t> </a:t>
            </a:r>
            <a:r>
              <a:rPr sz="2350" b="1" spc="15" dirty="0">
                <a:latin typeface="Arial"/>
                <a:cs typeface="Arial"/>
              </a:rPr>
              <a:t>K</a:t>
            </a:r>
            <a:r>
              <a:rPr sz="2350" b="1" dirty="0">
                <a:latin typeface="Arial"/>
                <a:cs typeface="Arial"/>
              </a:rPr>
              <a:t>ub</a:t>
            </a:r>
            <a:r>
              <a:rPr sz="2350" b="1" spc="10" dirty="0">
                <a:latin typeface="Arial"/>
                <a:cs typeface="Arial"/>
              </a:rPr>
              <a:t>er</a:t>
            </a:r>
            <a:r>
              <a:rPr sz="2350" b="1" dirty="0">
                <a:latin typeface="Arial"/>
                <a:cs typeface="Arial"/>
              </a:rPr>
              <a:t>n</a:t>
            </a:r>
            <a:r>
              <a:rPr sz="2350" b="1" spc="10" dirty="0">
                <a:latin typeface="Arial"/>
                <a:cs typeface="Arial"/>
              </a:rPr>
              <a:t>etes</a:t>
            </a:r>
            <a:r>
              <a:rPr sz="2350" b="1" spc="5" dirty="0">
                <a:latin typeface="Times New Roman"/>
                <a:cs typeface="Times New Roman"/>
              </a:rPr>
              <a:t> </a:t>
            </a:r>
            <a:r>
              <a:rPr sz="2350" b="1" spc="10" dirty="0">
                <a:latin typeface="Arial"/>
                <a:cs typeface="Arial"/>
              </a:rPr>
              <a:t>Flash</a:t>
            </a:r>
            <a:r>
              <a:rPr sz="2350" b="1" spc="5" dirty="0">
                <a:latin typeface="Times New Roman"/>
                <a:cs typeface="Times New Roman"/>
              </a:rPr>
              <a:t> </a:t>
            </a:r>
            <a:r>
              <a:rPr sz="2350" b="1" spc="15" dirty="0">
                <a:latin typeface="Arial"/>
                <a:cs typeface="Arial"/>
              </a:rPr>
              <a:t>So</a:t>
            </a:r>
            <a:r>
              <a:rPr sz="2350" b="1" dirty="0">
                <a:latin typeface="Arial"/>
                <a:cs typeface="Arial"/>
              </a:rPr>
              <a:t>lution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01128" y="3916213"/>
            <a:ext cx="581660" cy="1026160"/>
          </a:xfrm>
          <a:custGeom>
            <a:avLst/>
            <a:gdLst/>
            <a:ahLst/>
            <a:cxnLst/>
            <a:rect l="l" t="t" r="r" b="b"/>
            <a:pathLst>
              <a:path w="581660" h="1026160">
                <a:moveTo>
                  <a:pt x="0" y="1026093"/>
                </a:moveTo>
                <a:lnTo>
                  <a:pt x="581619" y="1026093"/>
                </a:lnTo>
                <a:lnTo>
                  <a:pt x="581619" y="0"/>
                </a:lnTo>
                <a:lnTo>
                  <a:pt x="0" y="0"/>
                </a:lnTo>
                <a:lnTo>
                  <a:pt x="0" y="1026093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75448" y="3970164"/>
            <a:ext cx="23939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36603" y="3916213"/>
            <a:ext cx="581660" cy="1026160"/>
          </a:xfrm>
          <a:custGeom>
            <a:avLst/>
            <a:gdLst/>
            <a:ahLst/>
            <a:cxnLst/>
            <a:rect l="l" t="t" r="r" b="b"/>
            <a:pathLst>
              <a:path w="581660" h="1026160">
                <a:moveTo>
                  <a:pt x="0" y="1026093"/>
                </a:moveTo>
                <a:lnTo>
                  <a:pt x="581619" y="1026093"/>
                </a:lnTo>
                <a:lnTo>
                  <a:pt x="581619" y="0"/>
                </a:lnTo>
                <a:lnTo>
                  <a:pt x="0" y="0"/>
                </a:lnTo>
                <a:lnTo>
                  <a:pt x="0" y="1026093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10931" y="3970164"/>
            <a:ext cx="23939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07774" y="2134645"/>
            <a:ext cx="2265680" cy="993775"/>
          </a:xfrm>
          <a:custGeom>
            <a:avLst/>
            <a:gdLst/>
            <a:ahLst/>
            <a:cxnLst/>
            <a:rect l="l" t="t" r="r" b="b"/>
            <a:pathLst>
              <a:path w="2265679" h="993775">
                <a:moveTo>
                  <a:pt x="0" y="993242"/>
                </a:moveTo>
                <a:lnTo>
                  <a:pt x="2265569" y="993242"/>
                </a:lnTo>
                <a:lnTo>
                  <a:pt x="2265569" y="0"/>
                </a:lnTo>
                <a:lnTo>
                  <a:pt x="0" y="0"/>
                </a:lnTo>
                <a:lnTo>
                  <a:pt x="0" y="993242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29852" y="2572185"/>
            <a:ext cx="142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Kubernetes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65584" y="3916213"/>
            <a:ext cx="581660" cy="1026160"/>
          </a:xfrm>
          <a:custGeom>
            <a:avLst/>
            <a:gdLst/>
            <a:ahLst/>
            <a:cxnLst/>
            <a:rect l="l" t="t" r="r" b="b"/>
            <a:pathLst>
              <a:path w="581659" h="1026160">
                <a:moveTo>
                  <a:pt x="0" y="1026093"/>
                </a:moveTo>
                <a:lnTo>
                  <a:pt x="581619" y="1026093"/>
                </a:lnTo>
                <a:lnTo>
                  <a:pt x="581619" y="0"/>
                </a:lnTo>
                <a:lnTo>
                  <a:pt x="0" y="0"/>
                </a:lnTo>
                <a:lnTo>
                  <a:pt x="0" y="1026093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939908" y="3970164"/>
            <a:ext cx="23939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94935" y="3916213"/>
            <a:ext cx="581660" cy="1026160"/>
          </a:xfrm>
          <a:custGeom>
            <a:avLst/>
            <a:gdLst/>
            <a:ahLst/>
            <a:cxnLst/>
            <a:rect l="l" t="t" r="r" b="b"/>
            <a:pathLst>
              <a:path w="581659" h="1026160">
                <a:moveTo>
                  <a:pt x="0" y="1026093"/>
                </a:moveTo>
                <a:lnTo>
                  <a:pt x="581619" y="1026093"/>
                </a:lnTo>
                <a:lnTo>
                  <a:pt x="581619" y="0"/>
                </a:lnTo>
                <a:lnTo>
                  <a:pt x="0" y="0"/>
                </a:lnTo>
                <a:lnTo>
                  <a:pt x="0" y="1026093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569269" y="3970164"/>
            <a:ext cx="23939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11718" y="4728017"/>
            <a:ext cx="433070" cy="154305"/>
          </a:xfrm>
          <a:custGeom>
            <a:avLst/>
            <a:gdLst/>
            <a:ahLst/>
            <a:cxnLst/>
            <a:rect l="l" t="t" r="r" b="b"/>
            <a:pathLst>
              <a:path w="433069" h="154304">
                <a:moveTo>
                  <a:pt x="0" y="0"/>
                </a:moveTo>
                <a:lnTo>
                  <a:pt x="106" y="132498"/>
                </a:lnTo>
                <a:lnTo>
                  <a:pt x="46585" y="145396"/>
                </a:lnTo>
                <a:lnTo>
                  <a:pt x="88104" y="149454"/>
                </a:lnTo>
                <a:lnTo>
                  <a:pt x="139365" y="152291"/>
                </a:lnTo>
                <a:lnTo>
                  <a:pt x="177850" y="153389"/>
                </a:lnTo>
                <a:lnTo>
                  <a:pt x="219015" y="153770"/>
                </a:lnTo>
                <a:lnTo>
                  <a:pt x="259699" y="153331"/>
                </a:lnTo>
                <a:lnTo>
                  <a:pt x="315618" y="151330"/>
                </a:lnTo>
                <a:lnTo>
                  <a:pt x="363280" y="147934"/>
                </a:lnTo>
                <a:lnTo>
                  <a:pt x="409844" y="141655"/>
                </a:lnTo>
                <a:lnTo>
                  <a:pt x="432770" y="131804"/>
                </a:lnTo>
                <a:lnTo>
                  <a:pt x="432681" y="21968"/>
                </a:lnTo>
                <a:lnTo>
                  <a:pt x="213756" y="21968"/>
                </a:lnTo>
                <a:lnTo>
                  <a:pt x="173072" y="21529"/>
                </a:lnTo>
                <a:lnTo>
                  <a:pt x="117153" y="19528"/>
                </a:lnTo>
                <a:lnTo>
                  <a:pt x="69491" y="16132"/>
                </a:lnTo>
                <a:lnTo>
                  <a:pt x="22926" y="9852"/>
                </a:lnTo>
                <a:lnTo>
                  <a:pt x="976" y="2100"/>
                </a:lnTo>
                <a:lnTo>
                  <a:pt x="0" y="0"/>
                </a:lnTo>
                <a:close/>
              </a:path>
              <a:path w="433069" h="154304">
                <a:moveTo>
                  <a:pt x="432664" y="694"/>
                </a:moveTo>
                <a:lnTo>
                  <a:pt x="386182" y="13594"/>
                </a:lnTo>
                <a:lnTo>
                  <a:pt x="344662" y="17652"/>
                </a:lnTo>
                <a:lnTo>
                  <a:pt x="293402" y="20490"/>
                </a:lnTo>
                <a:lnTo>
                  <a:pt x="254918" y="21587"/>
                </a:lnTo>
                <a:lnTo>
                  <a:pt x="213756" y="21968"/>
                </a:lnTo>
                <a:lnTo>
                  <a:pt x="432681" y="21968"/>
                </a:lnTo>
                <a:lnTo>
                  <a:pt x="432664" y="694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11718" y="4706052"/>
            <a:ext cx="433070" cy="44450"/>
          </a:xfrm>
          <a:custGeom>
            <a:avLst/>
            <a:gdLst/>
            <a:ahLst/>
            <a:cxnLst/>
            <a:rect l="l" t="t" r="r" b="b"/>
            <a:pathLst>
              <a:path w="433069" h="44450">
                <a:moveTo>
                  <a:pt x="213756" y="0"/>
                </a:moveTo>
                <a:lnTo>
                  <a:pt x="153663" y="936"/>
                </a:lnTo>
                <a:lnTo>
                  <a:pt x="100230" y="3430"/>
                </a:lnTo>
                <a:lnTo>
                  <a:pt x="55852" y="7239"/>
                </a:lnTo>
                <a:lnTo>
                  <a:pt x="14909" y="13940"/>
                </a:lnTo>
                <a:lnTo>
                  <a:pt x="0" y="21965"/>
                </a:lnTo>
                <a:lnTo>
                  <a:pt x="120" y="22705"/>
                </a:lnTo>
                <a:lnTo>
                  <a:pt x="46766" y="35579"/>
                </a:lnTo>
                <a:lnTo>
                  <a:pt x="88312" y="39628"/>
                </a:lnTo>
                <a:lnTo>
                  <a:pt x="139596" y="42459"/>
                </a:lnTo>
                <a:lnTo>
                  <a:pt x="178104" y="43553"/>
                </a:lnTo>
                <a:lnTo>
                  <a:pt x="219303" y="43933"/>
                </a:lnTo>
                <a:lnTo>
                  <a:pt x="259940" y="43488"/>
                </a:lnTo>
                <a:lnTo>
                  <a:pt x="315785" y="41466"/>
                </a:lnTo>
                <a:lnTo>
                  <a:pt x="363372" y="38013"/>
                </a:lnTo>
                <a:lnTo>
                  <a:pt x="409842" y="31564"/>
                </a:lnTo>
                <a:lnTo>
                  <a:pt x="432664" y="21271"/>
                </a:lnTo>
                <a:lnTo>
                  <a:pt x="431086" y="19214"/>
                </a:lnTo>
                <a:lnTo>
                  <a:pt x="386182" y="8377"/>
                </a:lnTo>
                <a:lnTo>
                  <a:pt x="344662" y="4317"/>
                </a:lnTo>
                <a:lnTo>
                  <a:pt x="293402" y="1479"/>
                </a:lnTo>
                <a:lnTo>
                  <a:pt x="254918" y="381"/>
                </a:lnTo>
                <a:lnTo>
                  <a:pt x="213756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11819" y="4706062"/>
            <a:ext cx="433070" cy="44450"/>
          </a:xfrm>
          <a:custGeom>
            <a:avLst/>
            <a:gdLst/>
            <a:ahLst/>
            <a:cxnLst/>
            <a:rect l="l" t="t" r="r" b="b"/>
            <a:pathLst>
              <a:path w="433069" h="44450">
                <a:moveTo>
                  <a:pt x="432662" y="21957"/>
                </a:moveTo>
                <a:lnTo>
                  <a:pt x="389175" y="35167"/>
                </a:lnTo>
                <a:lnTo>
                  <a:pt x="348348" y="39358"/>
                </a:lnTo>
                <a:lnTo>
                  <a:pt x="297668" y="42316"/>
                </a:lnTo>
                <a:lnTo>
                  <a:pt x="239529" y="43797"/>
                </a:lnTo>
                <a:lnTo>
                  <a:pt x="218905" y="43921"/>
                </a:lnTo>
                <a:lnTo>
                  <a:pt x="198031" y="43824"/>
                </a:lnTo>
                <a:lnTo>
                  <a:pt x="158126" y="43077"/>
                </a:lnTo>
                <a:lnTo>
                  <a:pt x="104115" y="40699"/>
                </a:lnTo>
                <a:lnTo>
                  <a:pt x="59101" y="37022"/>
                </a:lnTo>
                <a:lnTo>
                  <a:pt x="16929" y="30505"/>
                </a:lnTo>
                <a:lnTo>
                  <a:pt x="0" y="22651"/>
                </a:lnTo>
                <a:lnTo>
                  <a:pt x="957" y="20435"/>
                </a:lnTo>
                <a:lnTo>
                  <a:pt x="43337" y="8895"/>
                </a:lnTo>
                <a:lnTo>
                  <a:pt x="84091" y="4615"/>
                </a:lnTo>
                <a:lnTo>
                  <a:pt x="134698" y="1619"/>
                </a:lnTo>
                <a:lnTo>
                  <a:pt x="192764" y="126"/>
                </a:lnTo>
                <a:lnTo>
                  <a:pt x="213364" y="0"/>
                </a:lnTo>
                <a:lnTo>
                  <a:pt x="234258" y="95"/>
                </a:lnTo>
                <a:lnTo>
                  <a:pt x="274193" y="840"/>
                </a:lnTo>
                <a:lnTo>
                  <a:pt x="328232" y="3208"/>
                </a:lnTo>
                <a:lnTo>
                  <a:pt x="373269" y="6872"/>
                </a:lnTo>
                <a:lnTo>
                  <a:pt x="415494" y="13373"/>
                </a:lnTo>
                <a:lnTo>
                  <a:pt x="432662" y="21957"/>
                </a:lnTo>
                <a:close/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11713" y="4728020"/>
            <a:ext cx="433070" cy="154305"/>
          </a:xfrm>
          <a:custGeom>
            <a:avLst/>
            <a:gdLst/>
            <a:ahLst/>
            <a:cxnLst/>
            <a:rect l="l" t="t" r="r" b="b"/>
            <a:pathLst>
              <a:path w="433069" h="154304">
                <a:moveTo>
                  <a:pt x="432768" y="0"/>
                </a:moveTo>
                <a:lnTo>
                  <a:pt x="432768" y="131802"/>
                </a:lnTo>
                <a:lnTo>
                  <a:pt x="431792" y="133902"/>
                </a:lnTo>
                <a:lnTo>
                  <a:pt x="389281" y="145012"/>
                </a:lnTo>
                <a:lnTo>
                  <a:pt x="348454" y="149203"/>
                </a:lnTo>
                <a:lnTo>
                  <a:pt x="297774" y="152161"/>
                </a:lnTo>
                <a:lnTo>
                  <a:pt x="239634" y="153642"/>
                </a:lnTo>
                <a:lnTo>
                  <a:pt x="219011" y="153766"/>
                </a:lnTo>
                <a:lnTo>
                  <a:pt x="198137" y="153669"/>
                </a:lnTo>
                <a:lnTo>
                  <a:pt x="158232" y="152922"/>
                </a:lnTo>
                <a:lnTo>
                  <a:pt x="104221" y="150544"/>
                </a:lnTo>
                <a:lnTo>
                  <a:pt x="59206" y="146867"/>
                </a:lnTo>
                <a:lnTo>
                  <a:pt x="17035" y="140350"/>
                </a:lnTo>
                <a:lnTo>
                  <a:pt x="105" y="132496"/>
                </a:lnTo>
                <a:lnTo>
                  <a:pt x="0" y="0"/>
                </a:lnTo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705102" y="4761292"/>
            <a:ext cx="252095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Cache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826073" y="3127881"/>
            <a:ext cx="2114550" cy="342900"/>
          </a:xfrm>
          <a:custGeom>
            <a:avLst/>
            <a:gdLst/>
            <a:ahLst/>
            <a:cxnLst/>
            <a:rect l="l" t="t" r="r" b="b"/>
            <a:pathLst>
              <a:path w="2114550" h="342900">
                <a:moveTo>
                  <a:pt x="2114472" y="0"/>
                </a:moveTo>
                <a:lnTo>
                  <a:pt x="2114472" y="183970"/>
                </a:lnTo>
                <a:lnTo>
                  <a:pt x="0" y="183970"/>
                </a:lnTo>
                <a:lnTo>
                  <a:pt x="0" y="342800"/>
                </a:lnTo>
              </a:path>
            </a:pathLst>
          </a:custGeom>
          <a:ln w="94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88395" y="34204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67" y="0"/>
                </a:moveTo>
                <a:lnTo>
                  <a:pt x="0" y="0"/>
                </a:lnTo>
                <a:lnTo>
                  <a:pt x="37682" y="75346"/>
                </a:lnTo>
                <a:lnTo>
                  <a:pt x="753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40546" y="3127881"/>
            <a:ext cx="2114550" cy="342900"/>
          </a:xfrm>
          <a:custGeom>
            <a:avLst/>
            <a:gdLst/>
            <a:ahLst/>
            <a:cxnLst/>
            <a:rect l="l" t="t" r="r" b="b"/>
            <a:pathLst>
              <a:path w="2114550" h="342900">
                <a:moveTo>
                  <a:pt x="0" y="0"/>
                </a:moveTo>
                <a:lnTo>
                  <a:pt x="0" y="183970"/>
                </a:lnTo>
                <a:lnTo>
                  <a:pt x="2114485" y="183970"/>
                </a:lnTo>
                <a:lnTo>
                  <a:pt x="2114485" y="342800"/>
                </a:lnTo>
              </a:path>
            </a:pathLst>
          </a:custGeom>
          <a:ln w="94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17379" y="34204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346" y="0"/>
                </a:moveTo>
                <a:lnTo>
                  <a:pt x="0" y="0"/>
                </a:lnTo>
                <a:lnTo>
                  <a:pt x="37673" y="75346"/>
                </a:lnTo>
                <a:lnTo>
                  <a:pt x="75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21181" y="5035103"/>
            <a:ext cx="5418455" cy="428625"/>
          </a:xfrm>
          <a:custGeom>
            <a:avLst/>
            <a:gdLst/>
            <a:ahLst/>
            <a:cxnLst/>
            <a:rect l="l" t="t" r="r" b="b"/>
            <a:pathLst>
              <a:path w="5418455" h="428625">
                <a:moveTo>
                  <a:pt x="5346454" y="0"/>
                </a:moveTo>
                <a:lnTo>
                  <a:pt x="57595" y="1344"/>
                </a:lnTo>
                <a:lnTo>
                  <a:pt x="21142" y="20711"/>
                </a:lnTo>
                <a:lnTo>
                  <a:pt x="1467" y="56964"/>
                </a:lnTo>
                <a:lnTo>
                  <a:pt x="0" y="71439"/>
                </a:lnTo>
                <a:lnTo>
                  <a:pt x="1343" y="371058"/>
                </a:lnTo>
                <a:lnTo>
                  <a:pt x="20717" y="407497"/>
                </a:lnTo>
                <a:lnTo>
                  <a:pt x="56983" y="427169"/>
                </a:lnTo>
                <a:lnTo>
                  <a:pt x="71463" y="428637"/>
                </a:lnTo>
                <a:lnTo>
                  <a:pt x="5360329" y="427291"/>
                </a:lnTo>
                <a:lnTo>
                  <a:pt x="5396783" y="407919"/>
                </a:lnTo>
                <a:lnTo>
                  <a:pt x="5416461" y="371670"/>
                </a:lnTo>
                <a:lnTo>
                  <a:pt x="5417929" y="357201"/>
                </a:lnTo>
                <a:lnTo>
                  <a:pt x="5416583" y="57567"/>
                </a:lnTo>
                <a:lnTo>
                  <a:pt x="5397202" y="21132"/>
                </a:lnTo>
                <a:lnTo>
                  <a:pt x="5360933" y="1466"/>
                </a:lnTo>
                <a:lnTo>
                  <a:pt x="5346454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332570" y="5109965"/>
            <a:ext cx="120015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Profile::Flash</a:t>
            </a:r>
            <a:endParaRPr sz="8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605320" y="5193266"/>
            <a:ext cx="899794" cy="193675"/>
          </a:xfrm>
          <a:custGeom>
            <a:avLst/>
            <a:gdLst/>
            <a:ahLst/>
            <a:cxnLst/>
            <a:rect l="l" t="t" r="r" b="b"/>
            <a:pathLst>
              <a:path w="899795" h="193675">
                <a:moveTo>
                  <a:pt x="0" y="193262"/>
                </a:moveTo>
                <a:lnTo>
                  <a:pt x="899434" y="193262"/>
                </a:lnTo>
                <a:lnTo>
                  <a:pt x="899434" y="0"/>
                </a:lnTo>
                <a:lnTo>
                  <a:pt x="0" y="0"/>
                </a:lnTo>
                <a:lnTo>
                  <a:pt x="0" y="193262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605300" y="5193267"/>
            <a:ext cx="899794" cy="193675"/>
          </a:xfrm>
          <a:custGeom>
            <a:avLst/>
            <a:gdLst/>
            <a:ahLst/>
            <a:cxnLst/>
            <a:rect l="l" t="t" r="r" b="b"/>
            <a:pathLst>
              <a:path w="899795" h="193675">
                <a:moveTo>
                  <a:pt x="0" y="0"/>
                </a:moveTo>
                <a:lnTo>
                  <a:pt x="899431" y="0"/>
                </a:lnTo>
                <a:lnTo>
                  <a:pt x="899431" y="193262"/>
                </a:lnTo>
                <a:lnTo>
                  <a:pt x="0" y="193262"/>
                </a:lnTo>
                <a:lnTo>
                  <a:pt x="0" y="0"/>
                </a:lnTo>
                <a:close/>
              </a:path>
            </a:pathLst>
          </a:custGeom>
          <a:ln w="4156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887952" y="5230831"/>
            <a:ext cx="33972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NVMe</a:t>
            </a:r>
            <a:endParaRPr sz="8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40016" y="4729078"/>
            <a:ext cx="433070" cy="154305"/>
          </a:xfrm>
          <a:custGeom>
            <a:avLst/>
            <a:gdLst/>
            <a:ahLst/>
            <a:cxnLst/>
            <a:rect l="l" t="t" r="r" b="b"/>
            <a:pathLst>
              <a:path w="433070" h="154304">
                <a:moveTo>
                  <a:pt x="0" y="0"/>
                </a:moveTo>
                <a:lnTo>
                  <a:pt x="105" y="132480"/>
                </a:lnTo>
                <a:lnTo>
                  <a:pt x="46571" y="145381"/>
                </a:lnTo>
                <a:lnTo>
                  <a:pt x="88087" y="149439"/>
                </a:lnTo>
                <a:lnTo>
                  <a:pt x="139346" y="152276"/>
                </a:lnTo>
                <a:lnTo>
                  <a:pt x="177830" y="153373"/>
                </a:lnTo>
                <a:lnTo>
                  <a:pt x="218994" y="153754"/>
                </a:lnTo>
                <a:lnTo>
                  <a:pt x="259682" y="153316"/>
                </a:lnTo>
                <a:lnTo>
                  <a:pt x="315604" y="151316"/>
                </a:lnTo>
                <a:lnTo>
                  <a:pt x="363266" y="147920"/>
                </a:lnTo>
                <a:lnTo>
                  <a:pt x="409830" y="141641"/>
                </a:lnTo>
                <a:lnTo>
                  <a:pt x="432755" y="131789"/>
                </a:lnTo>
                <a:lnTo>
                  <a:pt x="432667" y="21965"/>
                </a:lnTo>
                <a:lnTo>
                  <a:pt x="213760" y="21965"/>
                </a:lnTo>
                <a:lnTo>
                  <a:pt x="173072" y="21527"/>
                </a:lnTo>
                <a:lnTo>
                  <a:pt x="117150" y="19526"/>
                </a:lnTo>
                <a:lnTo>
                  <a:pt x="69488" y="16130"/>
                </a:lnTo>
                <a:lnTo>
                  <a:pt x="22924" y="9852"/>
                </a:lnTo>
                <a:lnTo>
                  <a:pt x="976" y="2100"/>
                </a:lnTo>
                <a:lnTo>
                  <a:pt x="0" y="0"/>
                </a:lnTo>
                <a:close/>
              </a:path>
              <a:path w="433070" h="154304">
                <a:moveTo>
                  <a:pt x="432650" y="691"/>
                </a:moveTo>
                <a:lnTo>
                  <a:pt x="386183" y="13592"/>
                </a:lnTo>
                <a:lnTo>
                  <a:pt x="344667" y="17650"/>
                </a:lnTo>
                <a:lnTo>
                  <a:pt x="293408" y="20487"/>
                </a:lnTo>
                <a:lnTo>
                  <a:pt x="254924" y="21584"/>
                </a:lnTo>
                <a:lnTo>
                  <a:pt x="213760" y="21965"/>
                </a:lnTo>
                <a:lnTo>
                  <a:pt x="432667" y="21965"/>
                </a:lnTo>
                <a:lnTo>
                  <a:pt x="432650" y="691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40016" y="4707119"/>
            <a:ext cx="433070" cy="44450"/>
          </a:xfrm>
          <a:custGeom>
            <a:avLst/>
            <a:gdLst/>
            <a:ahLst/>
            <a:cxnLst/>
            <a:rect l="l" t="t" r="r" b="b"/>
            <a:pathLst>
              <a:path w="433070" h="44450">
                <a:moveTo>
                  <a:pt x="213761" y="0"/>
                </a:moveTo>
                <a:lnTo>
                  <a:pt x="153662" y="933"/>
                </a:lnTo>
                <a:lnTo>
                  <a:pt x="100227" y="3422"/>
                </a:lnTo>
                <a:lnTo>
                  <a:pt x="55850" y="7226"/>
                </a:lnTo>
                <a:lnTo>
                  <a:pt x="14908" y="13925"/>
                </a:lnTo>
                <a:lnTo>
                  <a:pt x="0" y="21959"/>
                </a:lnTo>
                <a:lnTo>
                  <a:pt x="119" y="22696"/>
                </a:lnTo>
                <a:lnTo>
                  <a:pt x="46747" y="35570"/>
                </a:lnTo>
                <a:lnTo>
                  <a:pt x="88289" y="39619"/>
                </a:lnTo>
                <a:lnTo>
                  <a:pt x="139571" y="42450"/>
                </a:lnTo>
                <a:lnTo>
                  <a:pt x="178080" y="43544"/>
                </a:lnTo>
                <a:lnTo>
                  <a:pt x="219280" y="43924"/>
                </a:lnTo>
                <a:lnTo>
                  <a:pt x="259920" y="43480"/>
                </a:lnTo>
                <a:lnTo>
                  <a:pt x="315769" y="41458"/>
                </a:lnTo>
                <a:lnTo>
                  <a:pt x="363358" y="38006"/>
                </a:lnTo>
                <a:lnTo>
                  <a:pt x="409828" y="31558"/>
                </a:lnTo>
                <a:lnTo>
                  <a:pt x="432650" y="21267"/>
                </a:lnTo>
                <a:lnTo>
                  <a:pt x="431075" y="19207"/>
                </a:lnTo>
                <a:lnTo>
                  <a:pt x="386184" y="8364"/>
                </a:lnTo>
                <a:lnTo>
                  <a:pt x="344668" y="4309"/>
                </a:lnTo>
                <a:lnTo>
                  <a:pt x="293409" y="1475"/>
                </a:lnTo>
                <a:lnTo>
                  <a:pt x="254925" y="380"/>
                </a:lnTo>
                <a:lnTo>
                  <a:pt x="213761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40089" y="4707099"/>
            <a:ext cx="433070" cy="44450"/>
          </a:xfrm>
          <a:custGeom>
            <a:avLst/>
            <a:gdLst/>
            <a:ahLst/>
            <a:cxnLst/>
            <a:rect l="l" t="t" r="r" b="b"/>
            <a:pathLst>
              <a:path w="433070" h="44450">
                <a:moveTo>
                  <a:pt x="432673" y="21978"/>
                </a:moveTo>
                <a:lnTo>
                  <a:pt x="389187" y="35190"/>
                </a:lnTo>
                <a:lnTo>
                  <a:pt x="348362" y="39382"/>
                </a:lnTo>
                <a:lnTo>
                  <a:pt x="297682" y="42340"/>
                </a:lnTo>
                <a:lnTo>
                  <a:pt x="239544" y="43821"/>
                </a:lnTo>
                <a:lnTo>
                  <a:pt x="218921" y="43945"/>
                </a:lnTo>
                <a:lnTo>
                  <a:pt x="198046" y="43849"/>
                </a:lnTo>
                <a:lnTo>
                  <a:pt x="158140" y="43101"/>
                </a:lnTo>
                <a:lnTo>
                  <a:pt x="104128" y="40724"/>
                </a:lnTo>
                <a:lnTo>
                  <a:pt x="59112" y="37047"/>
                </a:lnTo>
                <a:lnTo>
                  <a:pt x="16937" y="30530"/>
                </a:lnTo>
                <a:lnTo>
                  <a:pt x="0" y="22675"/>
                </a:lnTo>
                <a:lnTo>
                  <a:pt x="956" y="20460"/>
                </a:lnTo>
                <a:lnTo>
                  <a:pt x="43334" y="8914"/>
                </a:lnTo>
                <a:lnTo>
                  <a:pt x="84086" y="4627"/>
                </a:lnTo>
                <a:lnTo>
                  <a:pt x="134690" y="1624"/>
                </a:lnTo>
                <a:lnTo>
                  <a:pt x="192755" y="126"/>
                </a:lnTo>
                <a:lnTo>
                  <a:pt x="213354" y="0"/>
                </a:lnTo>
                <a:lnTo>
                  <a:pt x="234249" y="96"/>
                </a:lnTo>
                <a:lnTo>
                  <a:pt x="274185" y="842"/>
                </a:lnTo>
                <a:lnTo>
                  <a:pt x="328225" y="3215"/>
                </a:lnTo>
                <a:lnTo>
                  <a:pt x="373264" y="6886"/>
                </a:lnTo>
                <a:lnTo>
                  <a:pt x="415494" y="13393"/>
                </a:lnTo>
                <a:lnTo>
                  <a:pt x="432673" y="21978"/>
                </a:lnTo>
                <a:close/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839982" y="4729078"/>
            <a:ext cx="433070" cy="154305"/>
          </a:xfrm>
          <a:custGeom>
            <a:avLst/>
            <a:gdLst/>
            <a:ahLst/>
            <a:cxnLst/>
            <a:rect l="l" t="t" r="r" b="b"/>
            <a:pathLst>
              <a:path w="433070" h="154304">
                <a:moveTo>
                  <a:pt x="432780" y="0"/>
                </a:moveTo>
                <a:lnTo>
                  <a:pt x="432780" y="131790"/>
                </a:lnTo>
                <a:lnTo>
                  <a:pt x="431804" y="133890"/>
                </a:lnTo>
                <a:lnTo>
                  <a:pt x="389294" y="145002"/>
                </a:lnTo>
                <a:lnTo>
                  <a:pt x="348468" y="149193"/>
                </a:lnTo>
                <a:lnTo>
                  <a:pt x="297789" y="152151"/>
                </a:lnTo>
                <a:lnTo>
                  <a:pt x="239651" y="153633"/>
                </a:lnTo>
                <a:lnTo>
                  <a:pt x="219028" y="153757"/>
                </a:lnTo>
                <a:lnTo>
                  <a:pt x="198153" y="153660"/>
                </a:lnTo>
                <a:lnTo>
                  <a:pt x="158247" y="152913"/>
                </a:lnTo>
                <a:lnTo>
                  <a:pt x="104234" y="150535"/>
                </a:lnTo>
                <a:lnTo>
                  <a:pt x="59218" y="146859"/>
                </a:lnTo>
                <a:lnTo>
                  <a:pt x="17044" y="140341"/>
                </a:lnTo>
                <a:lnTo>
                  <a:pt x="106" y="132486"/>
                </a:lnTo>
                <a:lnTo>
                  <a:pt x="0" y="0"/>
                </a:lnTo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933405" y="4762346"/>
            <a:ext cx="252095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Cache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055031" y="4882836"/>
            <a:ext cx="1905" cy="310515"/>
          </a:xfrm>
          <a:custGeom>
            <a:avLst/>
            <a:gdLst/>
            <a:ahLst/>
            <a:cxnLst/>
            <a:rect l="l" t="t" r="r" b="b"/>
            <a:pathLst>
              <a:path w="1904" h="310514">
                <a:moveTo>
                  <a:pt x="1341" y="0"/>
                </a:moveTo>
                <a:lnTo>
                  <a:pt x="0" y="310430"/>
                </a:lnTo>
              </a:path>
            </a:pathLst>
          </a:custGeom>
          <a:ln w="4158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610648" y="4286693"/>
            <a:ext cx="427326" cy="1419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840016" y="4286693"/>
            <a:ext cx="427326" cy="1419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50461" y="4029541"/>
            <a:ext cx="1579245" cy="563245"/>
          </a:xfrm>
          <a:custGeom>
            <a:avLst/>
            <a:gdLst/>
            <a:ahLst/>
            <a:cxnLst/>
            <a:rect l="l" t="t" r="r" b="b"/>
            <a:pathLst>
              <a:path w="1579245" h="563245">
                <a:moveTo>
                  <a:pt x="0" y="563093"/>
                </a:moveTo>
                <a:lnTo>
                  <a:pt x="1578769" y="563093"/>
                </a:lnTo>
                <a:lnTo>
                  <a:pt x="1578769" y="0"/>
                </a:lnTo>
                <a:lnTo>
                  <a:pt x="0" y="0"/>
                </a:lnTo>
                <a:lnTo>
                  <a:pt x="0" y="563093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471635" y="4083461"/>
            <a:ext cx="94234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Hotpot</a:t>
            </a:r>
            <a:endParaRPr sz="8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750094" y="4094359"/>
            <a:ext cx="375285" cy="217170"/>
          </a:xfrm>
          <a:custGeom>
            <a:avLst/>
            <a:gdLst/>
            <a:ahLst/>
            <a:cxnLst/>
            <a:rect l="l" t="t" r="r" b="b"/>
            <a:pathLst>
              <a:path w="375285" h="217170">
                <a:moveTo>
                  <a:pt x="0" y="0"/>
                </a:moveTo>
                <a:lnTo>
                  <a:pt x="200019" y="0"/>
                </a:lnTo>
                <a:lnTo>
                  <a:pt x="200019" y="216608"/>
                </a:lnTo>
                <a:lnTo>
                  <a:pt x="374918" y="216608"/>
                </a:lnTo>
              </a:path>
            </a:pathLst>
          </a:custGeom>
          <a:ln w="94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074779" y="42732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0"/>
                </a:moveTo>
                <a:lnTo>
                  <a:pt x="0" y="75316"/>
                </a:lnTo>
                <a:lnTo>
                  <a:pt x="75377" y="376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034649" y="4265266"/>
            <a:ext cx="308936" cy="2058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828097" y="4881788"/>
            <a:ext cx="0" cy="296545"/>
          </a:xfrm>
          <a:custGeom>
            <a:avLst/>
            <a:gdLst/>
            <a:ahLst/>
            <a:cxnLst/>
            <a:rect l="l" t="t" r="r" b="b"/>
            <a:pathLst>
              <a:path h="296545">
                <a:moveTo>
                  <a:pt x="0" y="0"/>
                </a:moveTo>
                <a:lnTo>
                  <a:pt x="0" y="296358"/>
                </a:lnTo>
              </a:path>
            </a:pathLst>
          </a:custGeom>
          <a:ln w="4158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162208" y="3913540"/>
            <a:ext cx="588010" cy="361950"/>
          </a:xfrm>
          <a:custGeom>
            <a:avLst/>
            <a:gdLst/>
            <a:ahLst/>
            <a:cxnLst/>
            <a:rect l="l" t="t" r="r" b="b"/>
            <a:pathLst>
              <a:path w="588010" h="361950">
                <a:moveTo>
                  <a:pt x="527578" y="0"/>
                </a:moveTo>
                <a:lnTo>
                  <a:pt x="49914" y="889"/>
                </a:lnTo>
                <a:lnTo>
                  <a:pt x="14327" y="21267"/>
                </a:lnTo>
                <a:lnTo>
                  <a:pt x="0" y="60289"/>
                </a:lnTo>
                <a:lnTo>
                  <a:pt x="886" y="311708"/>
                </a:lnTo>
                <a:lnTo>
                  <a:pt x="21272" y="347292"/>
                </a:lnTo>
                <a:lnTo>
                  <a:pt x="60289" y="361614"/>
                </a:lnTo>
                <a:lnTo>
                  <a:pt x="537962" y="360725"/>
                </a:lnTo>
                <a:lnTo>
                  <a:pt x="573567" y="340352"/>
                </a:lnTo>
                <a:lnTo>
                  <a:pt x="587898" y="301355"/>
                </a:lnTo>
                <a:lnTo>
                  <a:pt x="587004" y="49884"/>
                </a:lnTo>
                <a:lnTo>
                  <a:pt x="566604" y="14311"/>
                </a:lnTo>
                <a:lnTo>
                  <a:pt x="527578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194654" y="3980174"/>
            <a:ext cx="52832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9050">
              <a:lnSpc>
                <a:spcPts val="89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CSI</a:t>
            </a:r>
            <a:r>
              <a:rPr sz="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Plugin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126540" y="3916222"/>
            <a:ext cx="588010" cy="361950"/>
          </a:xfrm>
          <a:custGeom>
            <a:avLst/>
            <a:gdLst/>
            <a:ahLst/>
            <a:cxnLst/>
            <a:rect l="l" t="t" r="r" b="b"/>
            <a:pathLst>
              <a:path w="588009" h="361950">
                <a:moveTo>
                  <a:pt x="527578" y="0"/>
                </a:moveTo>
                <a:lnTo>
                  <a:pt x="49935" y="885"/>
                </a:lnTo>
                <a:lnTo>
                  <a:pt x="14334" y="21254"/>
                </a:lnTo>
                <a:lnTo>
                  <a:pt x="0" y="60258"/>
                </a:lnTo>
                <a:lnTo>
                  <a:pt x="886" y="311708"/>
                </a:lnTo>
                <a:lnTo>
                  <a:pt x="21272" y="347292"/>
                </a:lnTo>
                <a:lnTo>
                  <a:pt x="60289" y="361614"/>
                </a:lnTo>
                <a:lnTo>
                  <a:pt x="537939" y="360729"/>
                </a:lnTo>
                <a:lnTo>
                  <a:pt x="573543" y="340359"/>
                </a:lnTo>
                <a:lnTo>
                  <a:pt x="587867" y="301355"/>
                </a:lnTo>
                <a:lnTo>
                  <a:pt x="586982" y="49906"/>
                </a:lnTo>
                <a:lnTo>
                  <a:pt x="566607" y="14321"/>
                </a:lnTo>
                <a:lnTo>
                  <a:pt x="527578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158976" y="3982841"/>
            <a:ext cx="52832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9050">
              <a:lnSpc>
                <a:spcPts val="89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CSI</a:t>
            </a:r>
            <a:r>
              <a:rPr sz="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Plugin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754372" y="4097041"/>
            <a:ext cx="372745" cy="214629"/>
          </a:xfrm>
          <a:custGeom>
            <a:avLst/>
            <a:gdLst/>
            <a:ahLst/>
            <a:cxnLst/>
            <a:rect l="l" t="t" r="r" b="b"/>
            <a:pathLst>
              <a:path w="372745" h="214629">
                <a:moveTo>
                  <a:pt x="372143" y="0"/>
                </a:moveTo>
                <a:lnTo>
                  <a:pt x="173496" y="0"/>
                </a:lnTo>
                <a:lnTo>
                  <a:pt x="173496" y="214048"/>
                </a:lnTo>
                <a:lnTo>
                  <a:pt x="0" y="214048"/>
                </a:lnTo>
              </a:path>
            </a:pathLst>
          </a:custGeom>
          <a:ln w="94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729234" y="427341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77" y="0"/>
                </a:moveTo>
                <a:lnTo>
                  <a:pt x="0" y="37642"/>
                </a:lnTo>
                <a:lnTo>
                  <a:pt x="75377" y="75316"/>
                </a:lnTo>
                <a:lnTo>
                  <a:pt x="753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27706" y="4265266"/>
            <a:ext cx="308936" cy="2058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167329" y="4290181"/>
            <a:ext cx="588010" cy="675640"/>
          </a:xfrm>
          <a:custGeom>
            <a:avLst/>
            <a:gdLst/>
            <a:ahLst/>
            <a:cxnLst/>
            <a:rect l="l" t="t" r="r" b="b"/>
            <a:pathLst>
              <a:path w="588010" h="675639">
                <a:moveTo>
                  <a:pt x="489905" y="0"/>
                </a:moveTo>
                <a:lnTo>
                  <a:pt x="84705" y="892"/>
                </a:lnTo>
                <a:lnTo>
                  <a:pt x="45319" y="15337"/>
                </a:lnTo>
                <a:lnTo>
                  <a:pt x="16043" y="44215"/>
                </a:lnTo>
                <a:lnTo>
                  <a:pt x="1080" y="83338"/>
                </a:lnTo>
                <a:lnTo>
                  <a:pt x="0" y="97932"/>
                </a:lnTo>
                <a:lnTo>
                  <a:pt x="895" y="590481"/>
                </a:lnTo>
                <a:lnTo>
                  <a:pt x="15358" y="629849"/>
                </a:lnTo>
                <a:lnTo>
                  <a:pt x="44260" y="659102"/>
                </a:lnTo>
                <a:lnTo>
                  <a:pt x="83398" y="674049"/>
                </a:lnTo>
                <a:lnTo>
                  <a:pt x="97993" y="675128"/>
                </a:lnTo>
                <a:lnTo>
                  <a:pt x="503199" y="674234"/>
                </a:lnTo>
                <a:lnTo>
                  <a:pt x="542582" y="659786"/>
                </a:lnTo>
                <a:lnTo>
                  <a:pt x="571856" y="630904"/>
                </a:lnTo>
                <a:lnTo>
                  <a:pt x="586817" y="591780"/>
                </a:lnTo>
                <a:lnTo>
                  <a:pt x="587898" y="577187"/>
                </a:lnTo>
                <a:lnTo>
                  <a:pt x="587004" y="84645"/>
                </a:lnTo>
                <a:lnTo>
                  <a:pt x="572542" y="45276"/>
                </a:lnTo>
                <a:lnTo>
                  <a:pt x="543640" y="16025"/>
                </a:lnTo>
                <a:lnTo>
                  <a:pt x="504500" y="1079"/>
                </a:lnTo>
                <a:lnTo>
                  <a:pt x="489905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3219338" y="4370407"/>
            <a:ext cx="48895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285" marR="5080" indent="-109220">
              <a:lnSpc>
                <a:spcPts val="89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Dock</a:t>
            </a:r>
            <a:endParaRPr sz="8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126540" y="4285427"/>
            <a:ext cx="588010" cy="675640"/>
          </a:xfrm>
          <a:custGeom>
            <a:avLst/>
            <a:gdLst/>
            <a:ahLst/>
            <a:cxnLst/>
            <a:rect l="l" t="t" r="r" b="b"/>
            <a:pathLst>
              <a:path w="588009" h="675639">
                <a:moveTo>
                  <a:pt x="489905" y="0"/>
                </a:moveTo>
                <a:lnTo>
                  <a:pt x="84697" y="889"/>
                </a:lnTo>
                <a:lnTo>
                  <a:pt x="45310" y="15329"/>
                </a:lnTo>
                <a:lnTo>
                  <a:pt x="16039" y="44208"/>
                </a:lnTo>
                <a:lnTo>
                  <a:pt x="1080" y="83336"/>
                </a:lnTo>
                <a:lnTo>
                  <a:pt x="0" y="97932"/>
                </a:lnTo>
                <a:lnTo>
                  <a:pt x="891" y="590460"/>
                </a:lnTo>
                <a:lnTo>
                  <a:pt x="15340" y="629835"/>
                </a:lnTo>
                <a:lnTo>
                  <a:pt x="44230" y="659098"/>
                </a:lnTo>
                <a:lnTo>
                  <a:pt x="83366" y="674052"/>
                </a:lnTo>
                <a:lnTo>
                  <a:pt x="97962" y="675131"/>
                </a:lnTo>
                <a:lnTo>
                  <a:pt x="503174" y="674241"/>
                </a:lnTo>
                <a:lnTo>
                  <a:pt x="542559" y="659795"/>
                </a:lnTo>
                <a:lnTo>
                  <a:pt x="571829" y="630912"/>
                </a:lnTo>
                <a:lnTo>
                  <a:pt x="586787" y="591786"/>
                </a:lnTo>
                <a:lnTo>
                  <a:pt x="587867" y="577193"/>
                </a:lnTo>
                <a:lnTo>
                  <a:pt x="586977" y="84667"/>
                </a:lnTo>
                <a:lnTo>
                  <a:pt x="572529" y="45289"/>
                </a:lnTo>
                <a:lnTo>
                  <a:pt x="543638" y="16029"/>
                </a:lnTo>
                <a:lnTo>
                  <a:pt x="504501" y="1079"/>
                </a:lnTo>
                <a:lnTo>
                  <a:pt x="489905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178529" y="4365657"/>
            <a:ext cx="48895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285" marR="5080" indent="-109220">
              <a:lnSpc>
                <a:spcPts val="89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Dock</a:t>
            </a:r>
            <a:endParaRPr sz="8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780337" y="4461386"/>
            <a:ext cx="358775" cy="166370"/>
          </a:xfrm>
          <a:custGeom>
            <a:avLst/>
            <a:gdLst/>
            <a:ahLst/>
            <a:cxnLst/>
            <a:rect l="l" t="t" r="r" b="b"/>
            <a:pathLst>
              <a:path w="358775" h="166370">
                <a:moveTo>
                  <a:pt x="358181" y="0"/>
                </a:moveTo>
                <a:lnTo>
                  <a:pt x="166515" y="0"/>
                </a:lnTo>
                <a:lnTo>
                  <a:pt x="166515" y="166356"/>
                </a:lnTo>
                <a:lnTo>
                  <a:pt x="0" y="166356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755227" y="459007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46" y="0"/>
                </a:moveTo>
                <a:lnTo>
                  <a:pt x="0" y="37673"/>
                </a:lnTo>
                <a:lnTo>
                  <a:pt x="75346" y="75346"/>
                </a:lnTo>
                <a:lnTo>
                  <a:pt x="75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733306" y="4450141"/>
            <a:ext cx="368300" cy="173355"/>
          </a:xfrm>
          <a:custGeom>
            <a:avLst/>
            <a:gdLst/>
            <a:ahLst/>
            <a:cxnLst/>
            <a:rect l="l" t="t" r="r" b="b"/>
            <a:pathLst>
              <a:path w="368300" h="173354">
                <a:moveTo>
                  <a:pt x="0" y="0"/>
                </a:moveTo>
                <a:lnTo>
                  <a:pt x="196848" y="0"/>
                </a:lnTo>
                <a:lnTo>
                  <a:pt x="196848" y="172969"/>
                </a:lnTo>
                <a:lnTo>
                  <a:pt x="367784" y="172969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050828" y="45854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0"/>
                </a:moveTo>
                <a:lnTo>
                  <a:pt x="0" y="75346"/>
                </a:lnTo>
                <a:lnTo>
                  <a:pt x="75377" y="376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157782" y="4757248"/>
            <a:ext cx="525780" cy="144780"/>
          </a:xfrm>
          <a:custGeom>
            <a:avLst/>
            <a:gdLst/>
            <a:ahLst/>
            <a:cxnLst/>
            <a:rect l="l" t="t" r="r" b="b"/>
            <a:pathLst>
              <a:path w="525779" h="144779">
                <a:moveTo>
                  <a:pt x="501335" y="0"/>
                </a:moveTo>
                <a:lnTo>
                  <a:pt x="14580" y="1933"/>
                </a:lnTo>
                <a:lnTo>
                  <a:pt x="4073" y="10646"/>
                </a:lnTo>
                <a:lnTo>
                  <a:pt x="0" y="24039"/>
                </a:lnTo>
                <a:lnTo>
                  <a:pt x="1933" y="129655"/>
                </a:lnTo>
                <a:lnTo>
                  <a:pt x="10645" y="140159"/>
                </a:lnTo>
                <a:lnTo>
                  <a:pt x="24048" y="144234"/>
                </a:lnTo>
                <a:lnTo>
                  <a:pt x="510803" y="142300"/>
                </a:lnTo>
                <a:lnTo>
                  <a:pt x="521309" y="133588"/>
                </a:lnTo>
                <a:lnTo>
                  <a:pt x="525383" y="120194"/>
                </a:lnTo>
                <a:lnTo>
                  <a:pt x="523450" y="14579"/>
                </a:lnTo>
                <a:lnTo>
                  <a:pt x="514737" y="4075"/>
                </a:lnTo>
                <a:lnTo>
                  <a:pt x="501335" y="0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194730" y="4757248"/>
            <a:ext cx="525780" cy="144780"/>
          </a:xfrm>
          <a:custGeom>
            <a:avLst/>
            <a:gdLst/>
            <a:ahLst/>
            <a:cxnLst/>
            <a:rect l="l" t="t" r="r" b="b"/>
            <a:pathLst>
              <a:path w="525779" h="144779">
                <a:moveTo>
                  <a:pt x="501335" y="0"/>
                </a:moveTo>
                <a:lnTo>
                  <a:pt x="14580" y="1933"/>
                </a:lnTo>
                <a:lnTo>
                  <a:pt x="4073" y="10646"/>
                </a:lnTo>
                <a:lnTo>
                  <a:pt x="0" y="24039"/>
                </a:lnTo>
                <a:lnTo>
                  <a:pt x="1933" y="129655"/>
                </a:lnTo>
                <a:lnTo>
                  <a:pt x="10645" y="140159"/>
                </a:lnTo>
                <a:lnTo>
                  <a:pt x="24048" y="144234"/>
                </a:lnTo>
                <a:lnTo>
                  <a:pt x="510769" y="142307"/>
                </a:lnTo>
                <a:lnTo>
                  <a:pt x="521276" y="133595"/>
                </a:lnTo>
                <a:lnTo>
                  <a:pt x="525353" y="120194"/>
                </a:lnTo>
                <a:lnTo>
                  <a:pt x="523427" y="14595"/>
                </a:lnTo>
                <a:lnTo>
                  <a:pt x="514722" y="4079"/>
                </a:lnTo>
                <a:lnTo>
                  <a:pt x="501335" y="0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300912" y="4829364"/>
            <a:ext cx="645795" cy="461009"/>
          </a:xfrm>
          <a:custGeom>
            <a:avLst/>
            <a:gdLst/>
            <a:ahLst/>
            <a:cxnLst/>
            <a:rect l="l" t="t" r="r" b="b"/>
            <a:pathLst>
              <a:path w="645795" h="461010">
                <a:moveTo>
                  <a:pt x="419183" y="0"/>
                </a:moveTo>
                <a:lnTo>
                  <a:pt x="645299" y="0"/>
                </a:lnTo>
                <a:lnTo>
                  <a:pt x="645299" y="460535"/>
                </a:lnTo>
                <a:lnTo>
                  <a:pt x="0" y="460535"/>
                </a:lnTo>
              </a:path>
            </a:pathLst>
          </a:custGeom>
          <a:ln w="94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275776" y="52522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77" y="0"/>
                </a:moveTo>
                <a:lnTo>
                  <a:pt x="0" y="37670"/>
                </a:lnTo>
                <a:lnTo>
                  <a:pt x="75377" y="75343"/>
                </a:lnTo>
                <a:lnTo>
                  <a:pt x="753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931558" y="4829364"/>
            <a:ext cx="648970" cy="460375"/>
          </a:xfrm>
          <a:custGeom>
            <a:avLst/>
            <a:gdLst/>
            <a:ahLst/>
            <a:cxnLst/>
            <a:rect l="l" t="t" r="r" b="b"/>
            <a:pathLst>
              <a:path w="648970" h="460375">
                <a:moveTo>
                  <a:pt x="226206" y="0"/>
                </a:moveTo>
                <a:lnTo>
                  <a:pt x="0" y="0"/>
                </a:lnTo>
                <a:lnTo>
                  <a:pt x="0" y="460188"/>
                </a:lnTo>
                <a:lnTo>
                  <a:pt x="648774" y="460188"/>
                </a:lnTo>
              </a:path>
            </a:pathLst>
          </a:custGeom>
          <a:ln w="94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530095" y="52518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0" y="0"/>
                </a:moveTo>
                <a:lnTo>
                  <a:pt x="0" y="75340"/>
                </a:lnTo>
                <a:lnTo>
                  <a:pt x="75346" y="37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050652" y="4823412"/>
            <a:ext cx="119380" cy="0"/>
          </a:xfrm>
          <a:custGeom>
            <a:avLst/>
            <a:gdLst/>
            <a:ahLst/>
            <a:cxnLst/>
            <a:rect l="l" t="t" r="r" b="b"/>
            <a:pathLst>
              <a:path w="119380">
                <a:moveTo>
                  <a:pt x="0" y="0"/>
                </a:moveTo>
                <a:lnTo>
                  <a:pt x="118834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025533" y="47857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80" y="0"/>
                </a:moveTo>
                <a:lnTo>
                  <a:pt x="0" y="37670"/>
                </a:lnTo>
                <a:lnTo>
                  <a:pt x="75380" y="75343"/>
                </a:lnTo>
                <a:lnTo>
                  <a:pt x="75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119231" y="47857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0"/>
                </a:moveTo>
                <a:lnTo>
                  <a:pt x="0" y="75343"/>
                </a:lnTo>
                <a:lnTo>
                  <a:pt x="75377" y="37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724348" y="4823412"/>
            <a:ext cx="119380" cy="0"/>
          </a:xfrm>
          <a:custGeom>
            <a:avLst/>
            <a:gdLst/>
            <a:ahLst/>
            <a:cxnLst/>
            <a:rect l="l" t="t" r="r" b="b"/>
            <a:pathLst>
              <a:path w="119379">
                <a:moveTo>
                  <a:pt x="0" y="0"/>
                </a:moveTo>
                <a:lnTo>
                  <a:pt x="118804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699229" y="47857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377" y="0"/>
                </a:moveTo>
                <a:lnTo>
                  <a:pt x="0" y="37670"/>
                </a:lnTo>
                <a:lnTo>
                  <a:pt x="75377" y="75343"/>
                </a:lnTo>
                <a:lnTo>
                  <a:pt x="753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792924" y="47857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0" y="0"/>
                </a:moveTo>
                <a:lnTo>
                  <a:pt x="0" y="75343"/>
                </a:lnTo>
                <a:lnTo>
                  <a:pt x="75377" y="37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283262" y="4285427"/>
            <a:ext cx="1306195" cy="222885"/>
          </a:xfrm>
          <a:custGeom>
            <a:avLst/>
            <a:gdLst/>
            <a:ahLst/>
            <a:cxnLst/>
            <a:rect l="l" t="t" r="r" b="b"/>
            <a:pathLst>
              <a:path w="1306195" h="222885">
                <a:moveTo>
                  <a:pt x="1268943" y="0"/>
                </a:moveTo>
                <a:lnTo>
                  <a:pt x="35166" y="50"/>
                </a:lnTo>
                <a:lnTo>
                  <a:pt x="2738" y="23084"/>
                </a:lnTo>
                <a:lnTo>
                  <a:pt x="0" y="37094"/>
                </a:lnTo>
                <a:lnTo>
                  <a:pt x="51" y="187541"/>
                </a:lnTo>
                <a:lnTo>
                  <a:pt x="3487" y="201287"/>
                </a:lnTo>
                <a:lnTo>
                  <a:pt x="11531" y="212451"/>
                </a:lnTo>
                <a:lnTo>
                  <a:pt x="23103" y="219946"/>
                </a:lnTo>
                <a:lnTo>
                  <a:pt x="37124" y="222686"/>
                </a:lnTo>
                <a:lnTo>
                  <a:pt x="1270925" y="222634"/>
                </a:lnTo>
                <a:lnTo>
                  <a:pt x="1284681" y="219194"/>
                </a:lnTo>
                <a:lnTo>
                  <a:pt x="1295843" y="211143"/>
                </a:lnTo>
                <a:lnTo>
                  <a:pt x="1303331" y="199570"/>
                </a:lnTo>
                <a:lnTo>
                  <a:pt x="1306067" y="185562"/>
                </a:lnTo>
                <a:lnTo>
                  <a:pt x="1306017" y="35138"/>
                </a:lnTo>
                <a:lnTo>
                  <a:pt x="1302587" y="21390"/>
                </a:lnTo>
                <a:lnTo>
                  <a:pt x="1294544" y="10229"/>
                </a:lnTo>
                <a:lnTo>
                  <a:pt x="1282969" y="2737"/>
                </a:lnTo>
                <a:lnTo>
                  <a:pt x="1268943" y="0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376357" y="5193266"/>
            <a:ext cx="899794" cy="193675"/>
          </a:xfrm>
          <a:custGeom>
            <a:avLst/>
            <a:gdLst/>
            <a:ahLst/>
            <a:cxnLst/>
            <a:rect l="l" t="t" r="r" b="b"/>
            <a:pathLst>
              <a:path w="899795" h="193675">
                <a:moveTo>
                  <a:pt x="0" y="193262"/>
                </a:moveTo>
                <a:lnTo>
                  <a:pt x="899434" y="193262"/>
                </a:lnTo>
                <a:lnTo>
                  <a:pt x="899434" y="0"/>
                </a:lnTo>
                <a:lnTo>
                  <a:pt x="0" y="0"/>
                </a:lnTo>
                <a:lnTo>
                  <a:pt x="0" y="193262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376351" y="5193267"/>
            <a:ext cx="899794" cy="193675"/>
          </a:xfrm>
          <a:custGeom>
            <a:avLst/>
            <a:gdLst/>
            <a:ahLst/>
            <a:cxnLst/>
            <a:rect l="l" t="t" r="r" b="b"/>
            <a:pathLst>
              <a:path w="899795" h="193675">
                <a:moveTo>
                  <a:pt x="0" y="0"/>
                </a:moveTo>
                <a:lnTo>
                  <a:pt x="899440" y="0"/>
                </a:lnTo>
                <a:lnTo>
                  <a:pt x="899440" y="193262"/>
                </a:lnTo>
                <a:lnTo>
                  <a:pt x="0" y="193262"/>
                </a:lnTo>
                <a:lnTo>
                  <a:pt x="0" y="0"/>
                </a:lnTo>
                <a:close/>
              </a:path>
            </a:pathLst>
          </a:custGeom>
          <a:ln w="4156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221181" y="5688686"/>
            <a:ext cx="5418455" cy="534035"/>
          </a:xfrm>
          <a:custGeom>
            <a:avLst/>
            <a:gdLst/>
            <a:ahLst/>
            <a:cxnLst/>
            <a:rect l="l" t="t" r="r" b="b"/>
            <a:pathLst>
              <a:path w="5418455" h="534035">
                <a:moveTo>
                  <a:pt x="5328988" y="0"/>
                </a:moveTo>
                <a:lnTo>
                  <a:pt x="75765" y="970"/>
                </a:lnTo>
                <a:lnTo>
                  <a:pt x="37068" y="16686"/>
                </a:lnTo>
                <a:lnTo>
                  <a:pt x="10115" y="47699"/>
                </a:lnTo>
                <a:lnTo>
                  <a:pt x="0" y="88916"/>
                </a:lnTo>
                <a:lnTo>
                  <a:pt x="970" y="457775"/>
                </a:lnTo>
                <a:lnTo>
                  <a:pt x="16692" y="496458"/>
                </a:lnTo>
                <a:lnTo>
                  <a:pt x="47717" y="523397"/>
                </a:lnTo>
                <a:lnTo>
                  <a:pt x="88952" y="533506"/>
                </a:lnTo>
                <a:lnTo>
                  <a:pt x="5342162" y="532537"/>
                </a:lnTo>
                <a:lnTo>
                  <a:pt x="5380855" y="516827"/>
                </a:lnTo>
                <a:lnTo>
                  <a:pt x="5407811" y="485816"/>
                </a:lnTo>
                <a:lnTo>
                  <a:pt x="5417929" y="444590"/>
                </a:lnTo>
                <a:lnTo>
                  <a:pt x="5416959" y="75743"/>
                </a:lnTo>
                <a:lnTo>
                  <a:pt x="5401238" y="37059"/>
                </a:lnTo>
                <a:lnTo>
                  <a:pt x="5370215" y="10113"/>
                </a:lnTo>
                <a:lnTo>
                  <a:pt x="5328988" y="0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605597" y="4512594"/>
            <a:ext cx="433070" cy="234950"/>
          </a:xfrm>
          <a:custGeom>
            <a:avLst/>
            <a:gdLst/>
            <a:ahLst/>
            <a:cxnLst/>
            <a:rect l="l" t="t" r="r" b="b"/>
            <a:pathLst>
              <a:path w="433069" h="234950">
                <a:moveTo>
                  <a:pt x="0" y="0"/>
                </a:moveTo>
                <a:lnTo>
                  <a:pt x="370" y="203238"/>
                </a:lnTo>
                <a:lnTo>
                  <a:pt x="37435" y="220068"/>
                </a:lnTo>
                <a:lnTo>
                  <a:pt x="75447" y="226608"/>
                </a:lnTo>
                <a:lnTo>
                  <a:pt x="123715" y="231445"/>
                </a:lnTo>
                <a:lnTo>
                  <a:pt x="180194" y="234239"/>
                </a:lnTo>
                <a:lnTo>
                  <a:pt x="221398" y="234799"/>
                </a:lnTo>
                <a:lnTo>
                  <a:pt x="241827" y="234579"/>
                </a:lnTo>
                <a:lnTo>
                  <a:pt x="280902" y="233292"/>
                </a:lnTo>
                <a:lnTo>
                  <a:pt x="333758" y="229451"/>
                </a:lnTo>
                <a:lnTo>
                  <a:pt x="377620" y="223637"/>
                </a:lnTo>
                <a:lnTo>
                  <a:pt x="418055" y="213447"/>
                </a:lnTo>
                <a:lnTo>
                  <a:pt x="432770" y="201259"/>
                </a:lnTo>
                <a:lnTo>
                  <a:pt x="432468" y="33519"/>
                </a:lnTo>
                <a:lnTo>
                  <a:pt x="211375" y="33519"/>
                </a:lnTo>
                <a:lnTo>
                  <a:pt x="190948" y="33298"/>
                </a:lnTo>
                <a:lnTo>
                  <a:pt x="151874" y="32011"/>
                </a:lnTo>
                <a:lnTo>
                  <a:pt x="99019" y="28168"/>
                </a:lnTo>
                <a:lnTo>
                  <a:pt x="55155" y="22355"/>
                </a:lnTo>
                <a:lnTo>
                  <a:pt x="14716" y="12171"/>
                </a:lnTo>
                <a:lnTo>
                  <a:pt x="963" y="3181"/>
                </a:lnTo>
                <a:lnTo>
                  <a:pt x="0" y="0"/>
                </a:lnTo>
                <a:close/>
              </a:path>
              <a:path w="433069" h="234950">
                <a:moveTo>
                  <a:pt x="432411" y="1976"/>
                </a:moveTo>
                <a:lnTo>
                  <a:pt x="395344" y="18787"/>
                </a:lnTo>
                <a:lnTo>
                  <a:pt x="357332" y="25325"/>
                </a:lnTo>
                <a:lnTo>
                  <a:pt x="309062" y="30163"/>
                </a:lnTo>
                <a:lnTo>
                  <a:pt x="252581" y="32958"/>
                </a:lnTo>
                <a:lnTo>
                  <a:pt x="211375" y="33519"/>
                </a:lnTo>
                <a:lnTo>
                  <a:pt x="432468" y="33519"/>
                </a:lnTo>
                <a:lnTo>
                  <a:pt x="432411" y="1976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605597" y="4479044"/>
            <a:ext cx="432434" cy="67310"/>
          </a:xfrm>
          <a:custGeom>
            <a:avLst/>
            <a:gdLst/>
            <a:ahLst/>
            <a:cxnLst/>
            <a:rect l="l" t="t" r="r" b="b"/>
            <a:pathLst>
              <a:path w="432435" h="67310">
                <a:moveTo>
                  <a:pt x="211368" y="0"/>
                </a:moveTo>
                <a:lnTo>
                  <a:pt x="171079" y="728"/>
                </a:lnTo>
                <a:lnTo>
                  <a:pt x="115750" y="3834"/>
                </a:lnTo>
                <a:lnTo>
                  <a:pt x="68630" y="9033"/>
                </a:lnTo>
                <a:lnTo>
                  <a:pt x="22630" y="18592"/>
                </a:lnTo>
                <a:lnTo>
                  <a:pt x="0" y="33549"/>
                </a:lnTo>
                <a:lnTo>
                  <a:pt x="472" y="35779"/>
                </a:lnTo>
                <a:lnTo>
                  <a:pt x="38067" y="52464"/>
                </a:lnTo>
                <a:lnTo>
                  <a:pt x="76189" y="58948"/>
                </a:lnTo>
                <a:lnTo>
                  <a:pt x="124547" y="63742"/>
                </a:lnTo>
                <a:lnTo>
                  <a:pt x="181156" y="66510"/>
                </a:lnTo>
                <a:lnTo>
                  <a:pt x="222499" y="67064"/>
                </a:lnTo>
                <a:lnTo>
                  <a:pt x="242836" y="66828"/>
                </a:lnTo>
                <a:lnTo>
                  <a:pt x="281727" y="65506"/>
                </a:lnTo>
                <a:lnTo>
                  <a:pt x="334303" y="61565"/>
                </a:lnTo>
                <a:lnTo>
                  <a:pt x="377891" y="55541"/>
                </a:lnTo>
                <a:lnTo>
                  <a:pt x="417986" y="44784"/>
                </a:lnTo>
                <a:lnTo>
                  <a:pt x="432410" y="31566"/>
                </a:lnTo>
                <a:lnTo>
                  <a:pt x="430343" y="28499"/>
                </a:lnTo>
                <a:lnTo>
                  <a:pt x="383932" y="12388"/>
                </a:lnTo>
                <a:lnTo>
                  <a:pt x="342273" y="6376"/>
                </a:lnTo>
                <a:lnTo>
                  <a:pt x="291039" y="2180"/>
                </a:lnTo>
                <a:lnTo>
                  <a:pt x="252574" y="560"/>
                </a:lnTo>
                <a:lnTo>
                  <a:pt x="211368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6263111" y="4613828"/>
            <a:ext cx="31813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 marR="5080" indent="-2540">
              <a:lnSpc>
                <a:spcPct val="13260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300047" y="4613828"/>
            <a:ext cx="31813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 marR="5080" indent="-2540">
              <a:lnSpc>
                <a:spcPct val="132600"/>
              </a:lnSpc>
            </a:pP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r>
              <a:rPr sz="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endParaRPr sz="8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685922" y="4342835"/>
            <a:ext cx="506095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Controller</a:t>
            </a:r>
            <a:endParaRPr sz="8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658975" y="5230831"/>
            <a:ext cx="33972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NVMe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244991" y="5768676"/>
            <a:ext cx="137668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r>
              <a:rPr sz="85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Profile::Capacity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480438" y="5917072"/>
            <a:ext cx="899794" cy="189865"/>
          </a:xfrm>
          <a:prstGeom prst="rect">
            <a:avLst/>
          </a:prstGeom>
          <a:solidFill>
            <a:srgbClr val="919191"/>
          </a:solidFill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ct val="100000"/>
              </a:lnSpc>
            </a:pPr>
            <a:r>
              <a:rPr sz="850" b="1" spc="15" dirty="0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endParaRPr sz="85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2605966" y="4479044"/>
            <a:ext cx="432434" cy="67310"/>
          </a:xfrm>
          <a:custGeom>
            <a:avLst/>
            <a:gdLst/>
            <a:ahLst/>
            <a:cxnLst/>
            <a:rect l="l" t="t" r="r" b="b"/>
            <a:pathLst>
              <a:path w="432435" h="67310">
                <a:moveTo>
                  <a:pt x="432406" y="33538"/>
                </a:moveTo>
                <a:lnTo>
                  <a:pt x="389472" y="53600"/>
                </a:lnTo>
                <a:lnTo>
                  <a:pt x="349131" y="59992"/>
                </a:lnTo>
                <a:lnTo>
                  <a:pt x="299014" y="64533"/>
                </a:lnTo>
                <a:lnTo>
                  <a:pt x="241467" y="66860"/>
                </a:lnTo>
                <a:lnTo>
                  <a:pt x="221040" y="67081"/>
                </a:lnTo>
                <a:lnTo>
                  <a:pt x="200133" y="66940"/>
                </a:lnTo>
                <a:lnTo>
                  <a:pt x="160221" y="65837"/>
                </a:lnTo>
                <a:lnTo>
                  <a:pt x="106250" y="62323"/>
                </a:lnTo>
                <a:lnTo>
                  <a:pt x="61172" y="56879"/>
                </a:lnTo>
                <a:lnTo>
                  <a:pt x="18438" y="47208"/>
                </a:lnTo>
                <a:lnTo>
                  <a:pt x="0" y="35520"/>
                </a:lnTo>
                <a:lnTo>
                  <a:pt x="896" y="32019"/>
                </a:lnTo>
                <a:lnTo>
                  <a:pt x="42394" y="13945"/>
                </a:lnTo>
                <a:lnTo>
                  <a:pt x="82467" y="7290"/>
                </a:lnTo>
                <a:lnTo>
                  <a:pt x="132307" y="2620"/>
                </a:lnTo>
                <a:lnTo>
                  <a:pt x="189576" y="235"/>
                </a:lnTo>
                <a:lnTo>
                  <a:pt x="209913" y="0"/>
                </a:lnTo>
                <a:lnTo>
                  <a:pt x="230896" y="139"/>
                </a:lnTo>
                <a:lnTo>
                  <a:pt x="270920" y="1230"/>
                </a:lnTo>
                <a:lnTo>
                  <a:pt x="324998" y="4712"/>
                </a:lnTo>
                <a:lnTo>
                  <a:pt x="370163" y="10108"/>
                </a:lnTo>
                <a:lnTo>
                  <a:pt x="413088" y="19702"/>
                </a:lnTo>
                <a:lnTo>
                  <a:pt x="432406" y="33538"/>
                </a:lnTo>
                <a:close/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605594" y="4512582"/>
            <a:ext cx="433070" cy="234950"/>
          </a:xfrm>
          <a:custGeom>
            <a:avLst/>
            <a:gdLst/>
            <a:ahLst/>
            <a:cxnLst/>
            <a:rect l="l" t="t" r="r" b="b"/>
            <a:pathLst>
              <a:path w="433069" h="234950">
                <a:moveTo>
                  <a:pt x="432777" y="0"/>
                </a:moveTo>
                <a:lnTo>
                  <a:pt x="432777" y="201279"/>
                </a:lnTo>
                <a:lnTo>
                  <a:pt x="431814" y="204463"/>
                </a:lnTo>
                <a:lnTo>
                  <a:pt x="389843" y="221332"/>
                </a:lnTo>
                <a:lnTo>
                  <a:pt x="349501" y="227722"/>
                </a:lnTo>
                <a:lnTo>
                  <a:pt x="299383" y="232262"/>
                </a:lnTo>
                <a:lnTo>
                  <a:pt x="241836" y="234589"/>
                </a:lnTo>
                <a:lnTo>
                  <a:pt x="221408" y="234810"/>
                </a:lnTo>
                <a:lnTo>
                  <a:pt x="200501" y="234668"/>
                </a:lnTo>
                <a:lnTo>
                  <a:pt x="160590" y="233566"/>
                </a:lnTo>
                <a:lnTo>
                  <a:pt x="106619" y="230052"/>
                </a:lnTo>
                <a:lnTo>
                  <a:pt x="61541" y="224609"/>
                </a:lnTo>
                <a:lnTo>
                  <a:pt x="18807" y="214941"/>
                </a:lnTo>
                <a:lnTo>
                  <a:pt x="371" y="203259"/>
                </a:lnTo>
                <a:lnTo>
                  <a:pt x="0" y="0"/>
                </a:lnTo>
              </a:path>
            </a:pathLst>
          </a:custGeom>
          <a:ln w="9418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2735315" y="4586375"/>
            <a:ext cx="179070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b="1" spc="-5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ol1</a:t>
            </a:r>
            <a:endParaRPr sz="6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6832427" y="4505218"/>
            <a:ext cx="433070" cy="234950"/>
          </a:xfrm>
          <a:custGeom>
            <a:avLst/>
            <a:gdLst/>
            <a:ahLst/>
            <a:cxnLst/>
            <a:rect l="l" t="t" r="r" b="b"/>
            <a:pathLst>
              <a:path w="433070" h="234950">
                <a:moveTo>
                  <a:pt x="0" y="0"/>
                </a:moveTo>
                <a:lnTo>
                  <a:pt x="368" y="203232"/>
                </a:lnTo>
                <a:lnTo>
                  <a:pt x="37418" y="220060"/>
                </a:lnTo>
                <a:lnTo>
                  <a:pt x="75425" y="226601"/>
                </a:lnTo>
                <a:lnTo>
                  <a:pt x="123692" y="231438"/>
                </a:lnTo>
                <a:lnTo>
                  <a:pt x="180172" y="234233"/>
                </a:lnTo>
                <a:lnTo>
                  <a:pt x="221377" y="234793"/>
                </a:lnTo>
                <a:lnTo>
                  <a:pt x="241807" y="234573"/>
                </a:lnTo>
                <a:lnTo>
                  <a:pt x="280883" y="233287"/>
                </a:lnTo>
                <a:lnTo>
                  <a:pt x="333740" y="229445"/>
                </a:lnTo>
                <a:lnTo>
                  <a:pt x="377603" y="223633"/>
                </a:lnTo>
                <a:lnTo>
                  <a:pt x="418040" y="213444"/>
                </a:lnTo>
                <a:lnTo>
                  <a:pt x="432755" y="201259"/>
                </a:lnTo>
                <a:lnTo>
                  <a:pt x="432445" y="33519"/>
                </a:lnTo>
                <a:lnTo>
                  <a:pt x="211380" y="33519"/>
                </a:lnTo>
                <a:lnTo>
                  <a:pt x="190951" y="33298"/>
                </a:lnTo>
                <a:lnTo>
                  <a:pt x="151874" y="32011"/>
                </a:lnTo>
                <a:lnTo>
                  <a:pt x="99016" y="28169"/>
                </a:lnTo>
                <a:lnTo>
                  <a:pt x="55152" y="22356"/>
                </a:lnTo>
                <a:lnTo>
                  <a:pt x="14715" y="12171"/>
                </a:lnTo>
                <a:lnTo>
                  <a:pt x="963" y="3181"/>
                </a:lnTo>
                <a:lnTo>
                  <a:pt x="0" y="0"/>
                </a:lnTo>
                <a:close/>
              </a:path>
              <a:path w="433070" h="234950">
                <a:moveTo>
                  <a:pt x="432387" y="1969"/>
                </a:moveTo>
                <a:lnTo>
                  <a:pt x="395339" y="18783"/>
                </a:lnTo>
                <a:lnTo>
                  <a:pt x="357333" y="25323"/>
                </a:lnTo>
                <a:lnTo>
                  <a:pt x="309066" y="30162"/>
                </a:lnTo>
                <a:lnTo>
                  <a:pt x="252586" y="32958"/>
                </a:lnTo>
                <a:lnTo>
                  <a:pt x="211380" y="33519"/>
                </a:lnTo>
                <a:lnTo>
                  <a:pt x="432445" y="33519"/>
                </a:lnTo>
                <a:lnTo>
                  <a:pt x="432387" y="1969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832427" y="4471668"/>
            <a:ext cx="432434" cy="67310"/>
          </a:xfrm>
          <a:custGeom>
            <a:avLst/>
            <a:gdLst/>
            <a:ahLst/>
            <a:cxnLst/>
            <a:rect l="l" t="t" r="r" b="b"/>
            <a:pathLst>
              <a:path w="432434" h="67310">
                <a:moveTo>
                  <a:pt x="211373" y="0"/>
                </a:moveTo>
                <a:lnTo>
                  <a:pt x="171080" y="726"/>
                </a:lnTo>
                <a:lnTo>
                  <a:pt x="115747" y="3827"/>
                </a:lnTo>
                <a:lnTo>
                  <a:pt x="68626" y="9021"/>
                </a:lnTo>
                <a:lnTo>
                  <a:pt x="22629" y="18578"/>
                </a:lnTo>
                <a:lnTo>
                  <a:pt x="0" y="33549"/>
                </a:lnTo>
                <a:lnTo>
                  <a:pt x="467" y="35769"/>
                </a:lnTo>
                <a:lnTo>
                  <a:pt x="38037" y="52459"/>
                </a:lnTo>
                <a:lnTo>
                  <a:pt x="76152" y="58945"/>
                </a:lnTo>
                <a:lnTo>
                  <a:pt x="124506" y="63741"/>
                </a:lnTo>
                <a:lnTo>
                  <a:pt x="181112" y="66510"/>
                </a:lnTo>
                <a:lnTo>
                  <a:pt x="222455" y="67064"/>
                </a:lnTo>
                <a:lnTo>
                  <a:pt x="242795" y="66829"/>
                </a:lnTo>
                <a:lnTo>
                  <a:pt x="281689" y="65508"/>
                </a:lnTo>
                <a:lnTo>
                  <a:pt x="334270" y="61568"/>
                </a:lnTo>
                <a:lnTo>
                  <a:pt x="377861" y="55543"/>
                </a:lnTo>
                <a:lnTo>
                  <a:pt x="417960" y="44788"/>
                </a:lnTo>
                <a:lnTo>
                  <a:pt x="432386" y="31571"/>
                </a:lnTo>
                <a:lnTo>
                  <a:pt x="430323" y="28499"/>
                </a:lnTo>
                <a:lnTo>
                  <a:pt x="383930" y="12379"/>
                </a:lnTo>
                <a:lnTo>
                  <a:pt x="342275" y="6369"/>
                </a:lnTo>
                <a:lnTo>
                  <a:pt x="291044" y="2177"/>
                </a:lnTo>
                <a:lnTo>
                  <a:pt x="252579" y="559"/>
                </a:lnTo>
                <a:lnTo>
                  <a:pt x="211373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832763" y="4471669"/>
            <a:ext cx="432434" cy="67310"/>
          </a:xfrm>
          <a:custGeom>
            <a:avLst/>
            <a:gdLst/>
            <a:ahLst/>
            <a:cxnLst/>
            <a:rect l="l" t="t" r="r" b="b"/>
            <a:pathLst>
              <a:path w="432434" h="67310">
                <a:moveTo>
                  <a:pt x="432409" y="33538"/>
                </a:moveTo>
                <a:lnTo>
                  <a:pt x="389472" y="53601"/>
                </a:lnTo>
                <a:lnTo>
                  <a:pt x="349129" y="59992"/>
                </a:lnTo>
                <a:lnTo>
                  <a:pt x="299012" y="64533"/>
                </a:lnTo>
                <a:lnTo>
                  <a:pt x="241467" y="66860"/>
                </a:lnTo>
                <a:lnTo>
                  <a:pt x="221041" y="67081"/>
                </a:lnTo>
                <a:lnTo>
                  <a:pt x="200134" y="66939"/>
                </a:lnTo>
                <a:lnTo>
                  <a:pt x="160223" y="65837"/>
                </a:lnTo>
                <a:lnTo>
                  <a:pt x="106252" y="62323"/>
                </a:lnTo>
                <a:lnTo>
                  <a:pt x="61174" y="56879"/>
                </a:lnTo>
                <a:lnTo>
                  <a:pt x="18439" y="47208"/>
                </a:lnTo>
                <a:lnTo>
                  <a:pt x="0" y="35520"/>
                </a:lnTo>
                <a:lnTo>
                  <a:pt x="896" y="32019"/>
                </a:lnTo>
                <a:lnTo>
                  <a:pt x="42393" y="13946"/>
                </a:lnTo>
                <a:lnTo>
                  <a:pt x="82465" y="7290"/>
                </a:lnTo>
                <a:lnTo>
                  <a:pt x="132304" y="2621"/>
                </a:lnTo>
                <a:lnTo>
                  <a:pt x="189573" y="235"/>
                </a:lnTo>
                <a:lnTo>
                  <a:pt x="209909" y="0"/>
                </a:lnTo>
                <a:lnTo>
                  <a:pt x="230892" y="139"/>
                </a:lnTo>
                <a:lnTo>
                  <a:pt x="270915" y="1230"/>
                </a:lnTo>
                <a:lnTo>
                  <a:pt x="324993" y="4711"/>
                </a:lnTo>
                <a:lnTo>
                  <a:pt x="370160" y="10108"/>
                </a:lnTo>
                <a:lnTo>
                  <a:pt x="413087" y="19700"/>
                </a:lnTo>
                <a:lnTo>
                  <a:pt x="432409" y="33538"/>
                </a:lnTo>
                <a:close/>
              </a:path>
            </a:pathLst>
          </a:custGeom>
          <a:ln w="9417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832421" y="4505207"/>
            <a:ext cx="433070" cy="234950"/>
          </a:xfrm>
          <a:custGeom>
            <a:avLst/>
            <a:gdLst/>
            <a:ahLst/>
            <a:cxnLst/>
            <a:rect l="l" t="t" r="r" b="b"/>
            <a:pathLst>
              <a:path w="433070" h="234950">
                <a:moveTo>
                  <a:pt x="432750" y="0"/>
                </a:moveTo>
                <a:lnTo>
                  <a:pt x="432750" y="201249"/>
                </a:lnTo>
                <a:lnTo>
                  <a:pt x="431786" y="204440"/>
                </a:lnTo>
                <a:lnTo>
                  <a:pt x="389814" y="221329"/>
                </a:lnTo>
                <a:lnTo>
                  <a:pt x="349472" y="227719"/>
                </a:lnTo>
                <a:lnTo>
                  <a:pt x="299355" y="232258"/>
                </a:lnTo>
                <a:lnTo>
                  <a:pt x="241811" y="234583"/>
                </a:lnTo>
                <a:lnTo>
                  <a:pt x="221385" y="234804"/>
                </a:lnTo>
                <a:lnTo>
                  <a:pt x="200478" y="234663"/>
                </a:lnTo>
                <a:lnTo>
                  <a:pt x="160567" y="233561"/>
                </a:lnTo>
                <a:lnTo>
                  <a:pt x="106596" y="230049"/>
                </a:lnTo>
                <a:lnTo>
                  <a:pt x="61518" y="224608"/>
                </a:lnTo>
                <a:lnTo>
                  <a:pt x="18782" y="214935"/>
                </a:lnTo>
                <a:lnTo>
                  <a:pt x="341" y="203235"/>
                </a:lnTo>
                <a:lnTo>
                  <a:pt x="0" y="0"/>
                </a:lnTo>
              </a:path>
            </a:pathLst>
          </a:custGeom>
          <a:ln w="9418">
            <a:solidFill>
              <a:srgbClr val="B5B5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6962145" y="4578996"/>
            <a:ext cx="179070" cy="10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b="1" spc="-5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ol1</a:t>
            </a:r>
            <a:endParaRPr sz="6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155710" y="4595622"/>
            <a:ext cx="525780" cy="144780"/>
          </a:xfrm>
          <a:custGeom>
            <a:avLst/>
            <a:gdLst/>
            <a:ahLst/>
            <a:cxnLst/>
            <a:rect l="l" t="t" r="r" b="b"/>
            <a:pathLst>
              <a:path w="525779" h="144779">
                <a:moveTo>
                  <a:pt x="501335" y="0"/>
                </a:moveTo>
                <a:lnTo>
                  <a:pt x="14588" y="1939"/>
                </a:lnTo>
                <a:lnTo>
                  <a:pt x="4080" y="10661"/>
                </a:lnTo>
                <a:lnTo>
                  <a:pt x="0" y="24048"/>
                </a:lnTo>
                <a:lnTo>
                  <a:pt x="1935" y="129664"/>
                </a:lnTo>
                <a:lnTo>
                  <a:pt x="10657" y="140168"/>
                </a:lnTo>
                <a:lnTo>
                  <a:pt x="24048" y="144243"/>
                </a:lnTo>
                <a:lnTo>
                  <a:pt x="510798" y="142312"/>
                </a:lnTo>
                <a:lnTo>
                  <a:pt x="521308" y="133602"/>
                </a:lnTo>
                <a:lnTo>
                  <a:pt x="525383" y="120213"/>
                </a:lnTo>
                <a:lnTo>
                  <a:pt x="523448" y="14588"/>
                </a:lnTo>
                <a:lnTo>
                  <a:pt x="514735" y="4080"/>
                </a:lnTo>
                <a:lnTo>
                  <a:pt x="501335" y="0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192658" y="4595622"/>
            <a:ext cx="525780" cy="144780"/>
          </a:xfrm>
          <a:custGeom>
            <a:avLst/>
            <a:gdLst/>
            <a:ahLst/>
            <a:cxnLst/>
            <a:rect l="l" t="t" r="r" b="b"/>
            <a:pathLst>
              <a:path w="525779" h="144779">
                <a:moveTo>
                  <a:pt x="501335" y="0"/>
                </a:moveTo>
                <a:lnTo>
                  <a:pt x="14575" y="1939"/>
                </a:lnTo>
                <a:lnTo>
                  <a:pt x="4072" y="10661"/>
                </a:lnTo>
                <a:lnTo>
                  <a:pt x="0" y="24048"/>
                </a:lnTo>
                <a:lnTo>
                  <a:pt x="1931" y="129664"/>
                </a:lnTo>
                <a:lnTo>
                  <a:pt x="10643" y="140168"/>
                </a:lnTo>
                <a:lnTo>
                  <a:pt x="24048" y="144243"/>
                </a:lnTo>
                <a:lnTo>
                  <a:pt x="510764" y="142319"/>
                </a:lnTo>
                <a:lnTo>
                  <a:pt x="521274" y="133610"/>
                </a:lnTo>
                <a:lnTo>
                  <a:pt x="525353" y="120213"/>
                </a:lnTo>
                <a:lnTo>
                  <a:pt x="523425" y="14604"/>
                </a:lnTo>
                <a:lnTo>
                  <a:pt x="514719" y="4085"/>
                </a:lnTo>
                <a:lnTo>
                  <a:pt x="501335" y="0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042789" y="4674642"/>
            <a:ext cx="119380" cy="0"/>
          </a:xfrm>
          <a:custGeom>
            <a:avLst/>
            <a:gdLst/>
            <a:ahLst/>
            <a:cxnLst/>
            <a:rect l="l" t="t" r="r" b="b"/>
            <a:pathLst>
              <a:path w="119380">
                <a:moveTo>
                  <a:pt x="0" y="0"/>
                </a:moveTo>
                <a:lnTo>
                  <a:pt x="118831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017675" y="46369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373" y="0"/>
                </a:moveTo>
                <a:lnTo>
                  <a:pt x="0" y="37673"/>
                </a:lnTo>
                <a:lnTo>
                  <a:pt x="75373" y="75346"/>
                </a:lnTo>
                <a:lnTo>
                  <a:pt x="753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111367" y="46369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0"/>
                </a:moveTo>
                <a:lnTo>
                  <a:pt x="0" y="75346"/>
                </a:lnTo>
                <a:lnTo>
                  <a:pt x="75377" y="376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716483" y="4674642"/>
            <a:ext cx="119380" cy="0"/>
          </a:xfrm>
          <a:custGeom>
            <a:avLst/>
            <a:gdLst/>
            <a:ahLst/>
            <a:cxnLst/>
            <a:rect l="l" t="t" r="r" b="b"/>
            <a:pathLst>
              <a:path w="119379">
                <a:moveTo>
                  <a:pt x="0" y="0"/>
                </a:moveTo>
                <a:lnTo>
                  <a:pt x="118804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691365" y="46369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346" y="0"/>
                </a:moveTo>
                <a:lnTo>
                  <a:pt x="0" y="37673"/>
                </a:lnTo>
                <a:lnTo>
                  <a:pt x="75346" y="75346"/>
                </a:lnTo>
                <a:lnTo>
                  <a:pt x="75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785061" y="46369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0" y="0"/>
                </a:moveTo>
                <a:lnTo>
                  <a:pt x="0" y="75346"/>
                </a:lnTo>
                <a:lnTo>
                  <a:pt x="75377" y="376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340585" y="4613207"/>
            <a:ext cx="2139950" cy="1398905"/>
          </a:xfrm>
          <a:custGeom>
            <a:avLst/>
            <a:gdLst/>
            <a:ahLst/>
            <a:cxnLst/>
            <a:rect l="l" t="t" r="r" b="b"/>
            <a:pathLst>
              <a:path w="2139950" h="1398904">
                <a:moveTo>
                  <a:pt x="265009" y="0"/>
                </a:moveTo>
                <a:lnTo>
                  <a:pt x="0" y="0"/>
                </a:lnTo>
                <a:lnTo>
                  <a:pt x="0" y="1398795"/>
                </a:lnTo>
                <a:lnTo>
                  <a:pt x="2139834" y="1398795"/>
                </a:lnTo>
              </a:path>
            </a:pathLst>
          </a:custGeom>
          <a:ln w="4156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379851" y="4605832"/>
            <a:ext cx="2160270" cy="1406525"/>
          </a:xfrm>
          <a:custGeom>
            <a:avLst/>
            <a:gdLst/>
            <a:ahLst/>
            <a:cxnLst/>
            <a:rect l="l" t="t" r="r" b="b"/>
            <a:pathLst>
              <a:path w="2160270" h="1406525">
                <a:moveTo>
                  <a:pt x="1885321" y="0"/>
                </a:moveTo>
                <a:lnTo>
                  <a:pt x="2160061" y="0"/>
                </a:lnTo>
                <a:lnTo>
                  <a:pt x="2160061" y="1406169"/>
                </a:lnTo>
                <a:lnTo>
                  <a:pt x="0" y="1406169"/>
                </a:lnTo>
              </a:path>
            </a:pathLst>
          </a:custGeom>
          <a:ln w="4156">
            <a:solidFill>
              <a:srgbClr val="9191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solidFill>
                  <a:srgbClr val="898989"/>
                </a:solidFill>
              </a:rPr>
              <a:t>5</a:t>
            </a:fld>
            <a:endParaRPr spc="-1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24969" y="6155394"/>
            <a:ext cx="81280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39658" y="6157038"/>
            <a:ext cx="4498975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500" spc="-5" dirty="0">
                <a:latin typeface="Arial"/>
                <a:cs typeface="Arial"/>
              </a:rPr>
              <a:t>Source: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Intel.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Other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names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and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brands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are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property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of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their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respective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owners.</a:t>
            </a:r>
            <a:r>
              <a:rPr sz="500" dirty="0">
                <a:latin typeface="Times New Roman"/>
                <a:cs typeface="Times New Roman"/>
              </a:rPr>
              <a:t> </a:t>
            </a:r>
            <a:r>
              <a:rPr sz="500" spc="-65" dirty="0">
                <a:latin typeface="Arial"/>
                <a:cs typeface="Arial"/>
              </a:rPr>
              <a:t>T</a:t>
            </a:r>
            <a:r>
              <a:rPr sz="500" spc="-5" dirty="0">
                <a:latin typeface="Arial"/>
                <a:cs typeface="Arial"/>
              </a:rPr>
              <a:t>echnology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claims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are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based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on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comparisons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of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latenc</a:t>
            </a:r>
            <a:r>
              <a:rPr sz="500" spc="-45" dirty="0">
                <a:latin typeface="Arial"/>
                <a:cs typeface="Arial"/>
              </a:rPr>
              <a:t>y</a:t>
            </a:r>
            <a:r>
              <a:rPr sz="500" spc="-5" dirty="0">
                <a:latin typeface="Arial"/>
                <a:cs typeface="Arial"/>
              </a:rPr>
              <a:t>,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density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and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write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cycling</a:t>
            </a:r>
            <a:r>
              <a:rPr sz="500" spc="-5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metrics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amongst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memory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technologies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recorded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on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published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specifications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of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in-market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Arial"/>
                <a:cs typeface="Arial"/>
              </a:rPr>
              <a:t>memory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products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against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internal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Intel</a:t>
            </a:r>
            <a:r>
              <a:rPr sz="500" spc="10" dirty="0">
                <a:latin typeface="Times New Roman"/>
                <a:cs typeface="Times New Roman"/>
              </a:rPr>
              <a:t> </a:t>
            </a:r>
            <a:r>
              <a:rPr sz="500" spc="-5" dirty="0">
                <a:latin typeface="Arial"/>
                <a:cs typeface="Arial"/>
              </a:rPr>
              <a:t>specifications.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5870" y="2308695"/>
            <a:ext cx="5157273" cy="2598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01746" y="4431886"/>
            <a:ext cx="3574755" cy="14117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29991" y="3106085"/>
            <a:ext cx="3746510" cy="1058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33135" y="2339806"/>
            <a:ext cx="3754282" cy="7662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83417" y="4099905"/>
            <a:ext cx="414655" cy="321310"/>
          </a:xfrm>
          <a:custGeom>
            <a:avLst/>
            <a:gdLst/>
            <a:ahLst/>
            <a:cxnLst/>
            <a:rect l="l" t="t" r="r" b="b"/>
            <a:pathLst>
              <a:path w="414654" h="321310">
                <a:moveTo>
                  <a:pt x="0" y="0"/>
                </a:moveTo>
                <a:lnTo>
                  <a:pt x="414336" y="321011"/>
                </a:lnTo>
              </a:path>
            </a:pathLst>
          </a:custGeom>
          <a:ln w="25116">
            <a:solidFill>
              <a:srgbClr val="275D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34964" y="4360377"/>
            <a:ext cx="83185" cy="76200"/>
          </a:xfrm>
          <a:custGeom>
            <a:avLst/>
            <a:gdLst/>
            <a:ahLst/>
            <a:cxnLst/>
            <a:rect l="l" t="t" r="r" b="b"/>
            <a:pathLst>
              <a:path w="83185" h="76200">
                <a:moveTo>
                  <a:pt x="46177" y="0"/>
                </a:moveTo>
                <a:lnTo>
                  <a:pt x="0" y="59557"/>
                </a:lnTo>
                <a:lnTo>
                  <a:pt x="82631" y="75925"/>
                </a:lnTo>
                <a:lnTo>
                  <a:pt x="46177" y="0"/>
                </a:lnTo>
                <a:close/>
              </a:path>
            </a:pathLst>
          </a:custGeom>
          <a:solidFill>
            <a:srgbClr val="275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1097" y="1616747"/>
            <a:ext cx="5447030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00"/>
              </a:lnSpc>
            </a:pPr>
            <a:r>
              <a:rPr sz="2350" b="1" spc="15" dirty="0">
                <a:latin typeface="Arial"/>
                <a:cs typeface="Arial"/>
              </a:rPr>
              <a:t>NVM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2350" b="1" spc="10" dirty="0">
                <a:latin typeface="Arial"/>
                <a:cs typeface="Arial"/>
              </a:rPr>
              <a:t>Ex</a:t>
            </a:r>
            <a:r>
              <a:rPr sz="2350" b="1" dirty="0">
                <a:latin typeface="Arial"/>
                <a:cs typeface="Arial"/>
              </a:rPr>
              <a:t>p</a:t>
            </a:r>
            <a:r>
              <a:rPr sz="2350" b="1" spc="10" dirty="0">
                <a:latin typeface="Arial"/>
                <a:cs typeface="Arial"/>
              </a:rPr>
              <a:t>ress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2350" b="1" spc="10" dirty="0">
                <a:latin typeface="Arial"/>
                <a:cs typeface="Arial"/>
              </a:rPr>
              <a:t>(NVMe)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ts val="1600"/>
              </a:lnSpc>
            </a:pPr>
            <a:r>
              <a:rPr sz="1350" spc="10" dirty="0">
                <a:latin typeface="Arial"/>
                <a:cs typeface="Arial"/>
              </a:rPr>
              <a:t>Standardized</a:t>
            </a:r>
            <a:r>
              <a:rPr sz="1350" spc="4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Arial"/>
                <a:cs typeface="Arial"/>
              </a:rPr>
              <a:t>interface</a:t>
            </a:r>
            <a:r>
              <a:rPr sz="1350" spc="4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Arial"/>
                <a:cs typeface="Arial"/>
              </a:rPr>
              <a:t>for</a:t>
            </a:r>
            <a:r>
              <a:rPr sz="1350" spc="4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Arial"/>
                <a:cs typeface="Arial"/>
              </a:rPr>
              <a:t>non-volatile</a:t>
            </a:r>
            <a:r>
              <a:rPr sz="1350" spc="4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Arial"/>
                <a:cs typeface="Arial"/>
              </a:rPr>
              <a:t>memor</a:t>
            </a:r>
            <a:r>
              <a:rPr sz="1350" spc="-95" dirty="0">
                <a:latin typeface="Arial"/>
                <a:cs typeface="Arial"/>
              </a:rPr>
              <a:t>y</a:t>
            </a:r>
            <a:r>
              <a:rPr sz="1350" spc="5" dirty="0">
                <a:latin typeface="Arial"/>
                <a:cs typeface="Arial"/>
              </a:rPr>
              <a:t>,</a:t>
            </a:r>
            <a:r>
              <a:rPr sz="1350" spc="4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Arial"/>
                <a:cs typeface="Arial"/>
                <a:hlinkClick r:id="rId7"/>
              </a:rPr>
              <a:t>http:/</a:t>
            </a:r>
            <a:r>
              <a:rPr sz="1350" dirty="0">
                <a:latin typeface="Arial"/>
                <a:cs typeface="Arial"/>
                <a:hlinkClick r:id="rId7"/>
              </a:rPr>
              <a:t>/</a:t>
            </a:r>
            <a:r>
              <a:rPr sz="1350" spc="10" dirty="0">
                <a:latin typeface="Arial"/>
                <a:cs typeface="Arial"/>
                <a:hlinkClick r:id="rId7"/>
              </a:rPr>
              <a:t>nvmexpress.org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0853" y="2331033"/>
            <a:ext cx="232473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1790" indent="-339090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sz="1750" spc="5" dirty="0">
                <a:latin typeface="Arial"/>
                <a:cs typeface="Arial"/>
              </a:rPr>
              <a:t>NVMe-over-Fabrics</a:t>
            </a:r>
            <a:endParaRPr sz="1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63062" y="2638173"/>
            <a:ext cx="2547620" cy="467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8925" marR="5080" indent="-276860">
              <a:lnSpc>
                <a:spcPct val="101800"/>
              </a:lnSpc>
              <a:tabLst>
                <a:tab pos="295275" algn="l"/>
              </a:tabLst>
            </a:pPr>
            <a:r>
              <a:rPr sz="1550" spc="15" dirty="0">
                <a:latin typeface="Arial"/>
                <a:cs typeface="Arial"/>
              </a:rPr>
              <a:t>–</a:t>
            </a:r>
            <a:r>
              <a:rPr sz="1550" spc="15" dirty="0">
                <a:latin typeface="Times New Roman"/>
                <a:cs typeface="Times New Roman"/>
              </a:rPr>
              <a:t>		</a:t>
            </a:r>
            <a:r>
              <a:rPr sz="1550" spc="20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commands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over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storage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networking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fabric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0853" y="3440011"/>
            <a:ext cx="3054350" cy="511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1790" marR="5080" indent="-339090">
              <a:lnSpc>
                <a:spcPts val="2039"/>
              </a:lnSpc>
              <a:buFont typeface="Arial"/>
              <a:buChar char="•"/>
              <a:tabLst>
                <a:tab pos="352425" algn="l"/>
              </a:tabLst>
            </a:pPr>
            <a:r>
              <a:rPr sz="1750" spc="10" dirty="0">
                <a:latin typeface="Arial"/>
                <a:cs typeface="Arial"/>
              </a:rPr>
              <a:t>NVMe-oF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Arial"/>
                <a:cs typeface="Arial"/>
              </a:rPr>
              <a:t>supports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Arial"/>
                <a:cs typeface="Arial"/>
              </a:rPr>
              <a:t>various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Arial"/>
                <a:cs typeface="Arial"/>
              </a:rPr>
              <a:t>fabric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Arial"/>
                <a:cs typeface="Arial"/>
              </a:rPr>
              <a:t>transports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3062" y="4019376"/>
            <a:ext cx="2366645" cy="162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8925" indent="-276225">
              <a:lnSpc>
                <a:spcPct val="100000"/>
              </a:lnSpc>
              <a:buFont typeface="Arial"/>
              <a:buChar char="–"/>
              <a:tabLst>
                <a:tab pos="295910" algn="l"/>
              </a:tabLst>
            </a:pPr>
            <a:r>
              <a:rPr sz="1550" spc="20" dirty="0">
                <a:latin typeface="Arial"/>
                <a:cs typeface="Arial"/>
              </a:rPr>
              <a:t>RDMA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(RoCE</a:t>
            </a:r>
            <a:r>
              <a:rPr sz="1550" spc="5" dirty="0">
                <a:latin typeface="Arial"/>
                <a:cs typeface="Arial"/>
              </a:rPr>
              <a:t>,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Arial"/>
                <a:cs typeface="Arial"/>
              </a:rPr>
              <a:t>i</a:t>
            </a:r>
            <a:r>
              <a:rPr sz="1550" spc="-35" dirty="0">
                <a:latin typeface="Arial"/>
                <a:cs typeface="Arial"/>
              </a:rPr>
              <a:t>W</a:t>
            </a:r>
            <a:r>
              <a:rPr sz="1550" spc="15" dirty="0">
                <a:latin typeface="Arial"/>
                <a:cs typeface="Arial"/>
              </a:rPr>
              <a:t>ARP)</a:t>
            </a:r>
            <a:endParaRPr sz="1550">
              <a:latin typeface="Arial"/>
              <a:cs typeface="Arial"/>
            </a:endParaRPr>
          </a:p>
          <a:p>
            <a:pPr marL="295275" indent="-282575">
              <a:lnSpc>
                <a:spcPct val="100000"/>
              </a:lnSpc>
              <a:spcBef>
                <a:spcPts val="414"/>
              </a:spcBef>
              <a:buFont typeface="Arial"/>
              <a:buChar char="–"/>
              <a:tabLst>
                <a:tab pos="295910" algn="l"/>
              </a:tabLst>
            </a:pPr>
            <a:r>
              <a:rPr sz="1550" spc="15" dirty="0">
                <a:latin typeface="Arial"/>
                <a:cs typeface="Arial"/>
              </a:rPr>
              <a:t>InfiniBand™</a:t>
            </a:r>
            <a:endParaRPr sz="1550">
              <a:latin typeface="Arial"/>
              <a:cs typeface="Arial"/>
            </a:endParaRPr>
          </a:p>
          <a:p>
            <a:pPr marL="295275" indent="-282575">
              <a:lnSpc>
                <a:spcPct val="100000"/>
              </a:lnSpc>
              <a:spcBef>
                <a:spcPts val="414"/>
              </a:spcBef>
              <a:buFont typeface="Arial"/>
              <a:buChar char="–"/>
              <a:tabLst>
                <a:tab pos="295910" algn="l"/>
              </a:tabLst>
            </a:pPr>
            <a:r>
              <a:rPr sz="1550" spc="10" dirty="0">
                <a:latin typeface="Arial"/>
                <a:cs typeface="Arial"/>
              </a:rPr>
              <a:t>Fibre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Channel</a:t>
            </a:r>
            <a:endParaRPr sz="1550">
              <a:latin typeface="Arial"/>
              <a:cs typeface="Arial"/>
            </a:endParaRPr>
          </a:p>
          <a:p>
            <a:pPr marL="288925" marR="518795" indent="-276225">
              <a:lnSpc>
                <a:spcPct val="101800"/>
              </a:lnSpc>
              <a:spcBef>
                <a:spcPts val="380"/>
              </a:spcBef>
              <a:buFont typeface="Arial"/>
              <a:buChar char="–"/>
              <a:tabLst>
                <a:tab pos="295910" algn="l"/>
              </a:tabLst>
            </a:pPr>
            <a:r>
              <a:rPr sz="1550" spc="10" dirty="0">
                <a:latin typeface="Arial"/>
                <a:cs typeface="Arial"/>
              </a:rPr>
              <a:t>Intel®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Omni-Path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Architecture</a:t>
            </a:r>
            <a:endParaRPr sz="1550">
              <a:latin typeface="Arial"/>
              <a:cs typeface="Arial"/>
            </a:endParaRPr>
          </a:p>
          <a:p>
            <a:pPr marL="295275" indent="-282575">
              <a:lnSpc>
                <a:spcPct val="100000"/>
              </a:lnSpc>
              <a:spcBef>
                <a:spcPts val="395"/>
              </a:spcBef>
              <a:buFont typeface="Arial"/>
              <a:buChar char="–"/>
              <a:tabLst>
                <a:tab pos="295910" algn="l"/>
              </a:tabLst>
            </a:pPr>
            <a:r>
              <a:rPr sz="1550" spc="15" dirty="0">
                <a:latin typeface="Arial"/>
                <a:cs typeface="Arial"/>
              </a:rPr>
              <a:t>Future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Fabrics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2670" y="3098078"/>
            <a:ext cx="1244600" cy="495300"/>
          </a:xfrm>
          <a:custGeom>
            <a:avLst/>
            <a:gdLst/>
            <a:ahLst/>
            <a:cxnLst/>
            <a:rect l="l" t="t" r="r" b="b"/>
            <a:pathLst>
              <a:path w="1244600" h="495300">
                <a:moveTo>
                  <a:pt x="1161812" y="0"/>
                </a:moveTo>
                <a:lnTo>
                  <a:pt x="79731" y="47"/>
                </a:lnTo>
                <a:lnTo>
                  <a:pt x="39377" y="12168"/>
                </a:lnTo>
                <a:lnTo>
                  <a:pt x="10829" y="41626"/>
                </a:lnTo>
                <a:lnTo>
                  <a:pt x="0" y="82509"/>
                </a:lnTo>
                <a:lnTo>
                  <a:pt x="47" y="415360"/>
                </a:lnTo>
                <a:lnTo>
                  <a:pt x="12173" y="455695"/>
                </a:lnTo>
                <a:lnTo>
                  <a:pt x="41644" y="484230"/>
                </a:lnTo>
                <a:lnTo>
                  <a:pt x="82545" y="495056"/>
                </a:lnTo>
                <a:lnTo>
                  <a:pt x="1164627" y="495009"/>
                </a:lnTo>
                <a:lnTo>
                  <a:pt x="1204980" y="482887"/>
                </a:lnTo>
                <a:lnTo>
                  <a:pt x="1233528" y="453430"/>
                </a:lnTo>
                <a:lnTo>
                  <a:pt x="1244358" y="412546"/>
                </a:lnTo>
                <a:lnTo>
                  <a:pt x="1244311" y="79695"/>
                </a:lnTo>
                <a:lnTo>
                  <a:pt x="1232184" y="39360"/>
                </a:lnTo>
                <a:lnTo>
                  <a:pt x="1202714" y="10825"/>
                </a:lnTo>
                <a:lnTo>
                  <a:pt x="1161812" y="0"/>
                </a:lnTo>
                <a:close/>
              </a:path>
            </a:pathLst>
          </a:custGeom>
          <a:solidFill>
            <a:srgbClr val="00BA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84556" y="3180675"/>
            <a:ext cx="486409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>
              <a:lnSpc>
                <a:spcPct val="100000"/>
              </a:lnSpc>
            </a:pPr>
            <a:r>
              <a:rPr sz="1150" b="1" spc="15" dirty="0">
                <a:solidFill>
                  <a:srgbClr val="1F4E79"/>
                </a:solidFill>
                <a:latin typeface="Arial"/>
                <a:cs typeface="Arial"/>
              </a:rPr>
              <a:t>iSCSI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15" dirty="0">
                <a:solidFill>
                  <a:srgbClr val="1F4E79"/>
                </a:solidFill>
                <a:latin typeface="Arial"/>
                <a:cs typeface="Arial"/>
              </a:rPr>
              <a:t>Target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04810" y="3095244"/>
            <a:ext cx="1285875" cy="498475"/>
          </a:xfrm>
          <a:custGeom>
            <a:avLst/>
            <a:gdLst/>
            <a:ahLst/>
            <a:cxnLst/>
            <a:rect l="l" t="t" r="r" b="b"/>
            <a:pathLst>
              <a:path w="1285875" h="498475">
                <a:moveTo>
                  <a:pt x="1202496" y="0"/>
                </a:moveTo>
                <a:lnTo>
                  <a:pt x="79438" y="75"/>
                </a:lnTo>
                <a:lnTo>
                  <a:pt x="39202" y="12475"/>
                </a:lnTo>
                <a:lnTo>
                  <a:pt x="10774" y="42049"/>
                </a:lnTo>
                <a:lnTo>
                  <a:pt x="0" y="82966"/>
                </a:lnTo>
                <a:lnTo>
                  <a:pt x="76" y="418491"/>
                </a:lnTo>
                <a:lnTo>
                  <a:pt x="12494" y="458708"/>
                </a:lnTo>
                <a:lnTo>
                  <a:pt x="42086" y="487121"/>
                </a:lnTo>
                <a:lnTo>
                  <a:pt x="83012" y="497890"/>
                </a:lnTo>
                <a:lnTo>
                  <a:pt x="1206106" y="497813"/>
                </a:lnTo>
                <a:lnTo>
                  <a:pt x="1246326" y="485394"/>
                </a:lnTo>
                <a:lnTo>
                  <a:pt x="1274749" y="455808"/>
                </a:lnTo>
                <a:lnTo>
                  <a:pt x="1285524" y="414893"/>
                </a:lnTo>
                <a:lnTo>
                  <a:pt x="1285448" y="79381"/>
                </a:lnTo>
                <a:lnTo>
                  <a:pt x="1273027" y="39166"/>
                </a:lnTo>
                <a:lnTo>
                  <a:pt x="1243425" y="10763"/>
                </a:lnTo>
                <a:lnTo>
                  <a:pt x="1202496" y="0"/>
                </a:lnTo>
                <a:close/>
              </a:path>
            </a:pathLst>
          </a:custGeom>
          <a:solidFill>
            <a:srgbClr val="00BA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81683" y="3179240"/>
            <a:ext cx="737235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795" marR="5080" indent="-125730">
              <a:lnSpc>
                <a:spcPct val="100000"/>
              </a:lnSpc>
            </a:pPr>
            <a:r>
              <a:rPr sz="1150" b="1" spc="20" dirty="0">
                <a:solidFill>
                  <a:srgbClr val="C00000"/>
                </a:solidFill>
                <a:latin typeface="Arial"/>
                <a:cs typeface="Arial"/>
              </a:rPr>
              <a:t>NVMe-oF*</a:t>
            </a:r>
            <a:r>
              <a:rPr sz="11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150" b="1" spc="15" dirty="0">
                <a:solidFill>
                  <a:srgbClr val="C00000"/>
                </a:solidFill>
                <a:latin typeface="Arial"/>
                <a:cs typeface="Arial"/>
              </a:rPr>
              <a:t>Target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2670" y="3621420"/>
            <a:ext cx="1244600" cy="339090"/>
          </a:xfrm>
          <a:custGeom>
            <a:avLst/>
            <a:gdLst/>
            <a:ahLst/>
            <a:cxnLst/>
            <a:rect l="l" t="t" r="r" b="b"/>
            <a:pathLst>
              <a:path w="1244600" h="339089">
                <a:moveTo>
                  <a:pt x="1187839" y="0"/>
                </a:moveTo>
                <a:lnTo>
                  <a:pt x="52199" y="163"/>
                </a:lnTo>
                <a:lnTo>
                  <a:pt x="15151" y="18008"/>
                </a:lnTo>
                <a:lnTo>
                  <a:pt x="0" y="56509"/>
                </a:lnTo>
                <a:lnTo>
                  <a:pt x="163" y="286850"/>
                </a:lnTo>
                <a:lnTo>
                  <a:pt x="18017" y="323885"/>
                </a:lnTo>
                <a:lnTo>
                  <a:pt x="56531" y="339029"/>
                </a:lnTo>
                <a:lnTo>
                  <a:pt x="1192161" y="338866"/>
                </a:lnTo>
                <a:lnTo>
                  <a:pt x="1229209" y="321023"/>
                </a:lnTo>
                <a:lnTo>
                  <a:pt x="1244358" y="282519"/>
                </a:lnTo>
                <a:lnTo>
                  <a:pt x="1244195" y="52188"/>
                </a:lnTo>
                <a:lnTo>
                  <a:pt x="1226350" y="15147"/>
                </a:lnTo>
                <a:lnTo>
                  <a:pt x="1187839" y="0"/>
                </a:lnTo>
                <a:close/>
              </a:path>
            </a:pathLst>
          </a:custGeom>
          <a:solidFill>
            <a:srgbClr val="00BA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17227" y="3708682"/>
            <a:ext cx="42164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SCSI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04810" y="3626449"/>
            <a:ext cx="1285875" cy="339090"/>
          </a:xfrm>
          <a:custGeom>
            <a:avLst/>
            <a:gdLst/>
            <a:ahLst/>
            <a:cxnLst/>
            <a:rect l="l" t="t" r="r" b="b"/>
            <a:pathLst>
              <a:path w="1285875" h="339089">
                <a:moveTo>
                  <a:pt x="1228984" y="0"/>
                </a:moveTo>
                <a:lnTo>
                  <a:pt x="52219" y="160"/>
                </a:lnTo>
                <a:lnTo>
                  <a:pt x="15156" y="17980"/>
                </a:lnTo>
                <a:lnTo>
                  <a:pt x="0" y="56479"/>
                </a:lnTo>
                <a:lnTo>
                  <a:pt x="162" y="286810"/>
                </a:lnTo>
                <a:lnTo>
                  <a:pt x="18007" y="323851"/>
                </a:lnTo>
                <a:lnTo>
                  <a:pt x="56519" y="338998"/>
                </a:lnTo>
                <a:lnTo>
                  <a:pt x="1233322" y="338834"/>
                </a:lnTo>
                <a:lnTo>
                  <a:pt x="1270368" y="320987"/>
                </a:lnTo>
                <a:lnTo>
                  <a:pt x="1285524" y="282488"/>
                </a:lnTo>
                <a:lnTo>
                  <a:pt x="1285362" y="52164"/>
                </a:lnTo>
                <a:lnTo>
                  <a:pt x="1267505" y="15135"/>
                </a:lnTo>
                <a:lnTo>
                  <a:pt x="1228984" y="0"/>
                </a:lnTo>
                <a:close/>
              </a:path>
            </a:pathLst>
          </a:custGeom>
          <a:solidFill>
            <a:srgbClr val="00BA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802104" y="3713686"/>
            <a:ext cx="49657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NVMe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4023" y="4765097"/>
            <a:ext cx="1183005" cy="988694"/>
          </a:xfrm>
          <a:custGeom>
            <a:avLst/>
            <a:gdLst/>
            <a:ahLst/>
            <a:cxnLst/>
            <a:rect l="l" t="t" r="r" b="b"/>
            <a:pathLst>
              <a:path w="1183005" h="988695">
                <a:moveTo>
                  <a:pt x="1018175" y="0"/>
                </a:moveTo>
                <a:lnTo>
                  <a:pt x="159621" y="80"/>
                </a:lnTo>
                <a:lnTo>
                  <a:pt x="117029" y="7036"/>
                </a:lnTo>
                <a:lnTo>
                  <a:pt x="78854" y="24165"/>
                </a:lnTo>
                <a:lnTo>
                  <a:pt x="46580" y="49984"/>
                </a:lnTo>
                <a:lnTo>
                  <a:pt x="21691" y="83013"/>
                </a:lnTo>
                <a:lnTo>
                  <a:pt x="5670" y="121768"/>
                </a:lnTo>
                <a:lnTo>
                  <a:pt x="0" y="164768"/>
                </a:lnTo>
                <a:lnTo>
                  <a:pt x="80" y="828991"/>
                </a:lnTo>
                <a:lnTo>
                  <a:pt x="7037" y="871571"/>
                </a:lnTo>
                <a:lnTo>
                  <a:pt x="24173" y="909732"/>
                </a:lnTo>
                <a:lnTo>
                  <a:pt x="50004" y="941993"/>
                </a:lnTo>
                <a:lnTo>
                  <a:pt x="83046" y="966871"/>
                </a:lnTo>
                <a:lnTo>
                  <a:pt x="121816" y="982884"/>
                </a:lnTo>
                <a:lnTo>
                  <a:pt x="164829" y="988551"/>
                </a:lnTo>
                <a:lnTo>
                  <a:pt x="1023376" y="988471"/>
                </a:lnTo>
                <a:lnTo>
                  <a:pt x="1065974" y="981517"/>
                </a:lnTo>
                <a:lnTo>
                  <a:pt x="1104151" y="964391"/>
                </a:lnTo>
                <a:lnTo>
                  <a:pt x="1136426" y="938573"/>
                </a:lnTo>
                <a:lnTo>
                  <a:pt x="1161314" y="905547"/>
                </a:lnTo>
                <a:lnTo>
                  <a:pt x="1177335" y="866792"/>
                </a:lnTo>
                <a:lnTo>
                  <a:pt x="1183004" y="823792"/>
                </a:lnTo>
                <a:lnTo>
                  <a:pt x="1182924" y="159562"/>
                </a:lnTo>
                <a:lnTo>
                  <a:pt x="1175966" y="116982"/>
                </a:lnTo>
                <a:lnTo>
                  <a:pt x="1158831" y="78821"/>
                </a:lnTo>
                <a:lnTo>
                  <a:pt x="1133002" y="46560"/>
                </a:lnTo>
                <a:lnTo>
                  <a:pt x="1099961" y="21681"/>
                </a:lnTo>
                <a:lnTo>
                  <a:pt x="1061191" y="5667"/>
                </a:lnTo>
                <a:lnTo>
                  <a:pt x="1018175" y="0"/>
                </a:lnTo>
                <a:close/>
              </a:path>
            </a:pathLst>
          </a:custGeom>
          <a:solidFill>
            <a:srgbClr val="00BA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24835" y="5075419"/>
            <a:ext cx="666750" cy="3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SCSI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300" b="1" spc="10" dirty="0">
                <a:solidFill>
                  <a:srgbClr val="FFFFFF"/>
                </a:solidFill>
                <a:latin typeface="Arial"/>
                <a:cs typeface="Arial"/>
              </a:rPr>
              <a:t>Devices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5923" y="4156679"/>
            <a:ext cx="2974975" cy="398780"/>
          </a:xfrm>
          <a:custGeom>
            <a:avLst/>
            <a:gdLst/>
            <a:ahLst/>
            <a:cxnLst/>
            <a:rect l="l" t="t" r="r" b="b"/>
            <a:pathLst>
              <a:path w="2974975" h="398779">
                <a:moveTo>
                  <a:pt x="2907965" y="0"/>
                </a:moveTo>
                <a:lnTo>
                  <a:pt x="60592" y="252"/>
                </a:lnTo>
                <a:lnTo>
                  <a:pt x="22490" y="16607"/>
                </a:lnTo>
                <a:lnTo>
                  <a:pt x="1574" y="51979"/>
                </a:lnTo>
                <a:lnTo>
                  <a:pt x="0" y="66415"/>
                </a:lnTo>
                <a:lnTo>
                  <a:pt x="250" y="337856"/>
                </a:lnTo>
                <a:lnTo>
                  <a:pt x="16597" y="375950"/>
                </a:lnTo>
                <a:lnTo>
                  <a:pt x="51979" y="396860"/>
                </a:lnTo>
                <a:lnTo>
                  <a:pt x="66425" y="398434"/>
                </a:lnTo>
                <a:lnTo>
                  <a:pt x="2913793" y="398182"/>
                </a:lnTo>
                <a:lnTo>
                  <a:pt x="2951913" y="381843"/>
                </a:lnTo>
                <a:lnTo>
                  <a:pt x="2972836" y="346485"/>
                </a:lnTo>
                <a:lnTo>
                  <a:pt x="2974412" y="332049"/>
                </a:lnTo>
                <a:lnTo>
                  <a:pt x="2974157" y="60568"/>
                </a:lnTo>
                <a:lnTo>
                  <a:pt x="2957795" y="22484"/>
                </a:lnTo>
                <a:lnTo>
                  <a:pt x="2922410" y="1574"/>
                </a:lnTo>
                <a:lnTo>
                  <a:pt x="2907965" y="0"/>
                </a:lnTo>
                <a:close/>
              </a:path>
            </a:pathLst>
          </a:custGeom>
          <a:solidFill>
            <a:srgbClr val="00BA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50988" y="2798459"/>
            <a:ext cx="262890" cy="273050"/>
          </a:xfrm>
          <a:custGeom>
            <a:avLst/>
            <a:gdLst/>
            <a:ahLst/>
            <a:cxnLst/>
            <a:rect l="l" t="t" r="r" b="b"/>
            <a:pathLst>
              <a:path w="262890" h="273050">
                <a:moveTo>
                  <a:pt x="262591" y="0"/>
                </a:moveTo>
                <a:lnTo>
                  <a:pt x="0" y="272497"/>
                </a:lnTo>
              </a:path>
            </a:pathLst>
          </a:custGeom>
          <a:ln w="37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24843" y="2977499"/>
            <a:ext cx="119380" cy="120650"/>
          </a:xfrm>
          <a:custGeom>
            <a:avLst/>
            <a:gdLst/>
            <a:ahLst/>
            <a:cxnLst/>
            <a:rect l="l" t="t" r="r" b="b"/>
            <a:pathLst>
              <a:path w="119380" h="120650">
                <a:moveTo>
                  <a:pt x="37731" y="0"/>
                </a:moveTo>
                <a:lnTo>
                  <a:pt x="0" y="120578"/>
                </a:lnTo>
                <a:lnTo>
                  <a:pt x="119146" y="78394"/>
                </a:lnTo>
                <a:lnTo>
                  <a:pt x="37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28556" y="3936047"/>
            <a:ext cx="0" cy="183515"/>
          </a:xfrm>
          <a:custGeom>
            <a:avLst/>
            <a:gdLst/>
            <a:ahLst/>
            <a:cxnLst/>
            <a:rect l="l" t="t" r="r" b="b"/>
            <a:pathLst>
              <a:path h="183514">
                <a:moveTo>
                  <a:pt x="0" y="0"/>
                </a:moveTo>
                <a:lnTo>
                  <a:pt x="0" y="182964"/>
                </a:lnTo>
              </a:path>
            </a:pathLst>
          </a:custGeom>
          <a:ln w="37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72027" y="4043690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5" h="113029">
                <a:moveTo>
                  <a:pt x="113062" y="0"/>
                </a:moveTo>
                <a:lnTo>
                  <a:pt x="0" y="0"/>
                </a:lnTo>
                <a:lnTo>
                  <a:pt x="56531" y="113019"/>
                </a:lnTo>
                <a:lnTo>
                  <a:pt x="113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11131" y="2732666"/>
            <a:ext cx="311150" cy="335280"/>
          </a:xfrm>
          <a:custGeom>
            <a:avLst/>
            <a:gdLst/>
            <a:ahLst/>
            <a:cxnLst/>
            <a:rect l="l" t="t" r="r" b="b"/>
            <a:pathLst>
              <a:path w="311150" h="335280">
                <a:moveTo>
                  <a:pt x="0" y="0"/>
                </a:moveTo>
                <a:lnTo>
                  <a:pt x="310918" y="334968"/>
                </a:lnTo>
              </a:path>
            </a:pathLst>
          </a:custGeom>
          <a:ln w="376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29353" y="2973994"/>
            <a:ext cx="118745" cy="121285"/>
          </a:xfrm>
          <a:custGeom>
            <a:avLst/>
            <a:gdLst/>
            <a:ahLst/>
            <a:cxnLst/>
            <a:rect l="l" t="t" r="r" b="b"/>
            <a:pathLst>
              <a:path w="118744" h="121285">
                <a:moveTo>
                  <a:pt x="82881" y="0"/>
                </a:moveTo>
                <a:lnTo>
                  <a:pt x="0" y="76840"/>
                </a:lnTo>
                <a:lnTo>
                  <a:pt x="118326" y="121279"/>
                </a:lnTo>
                <a:lnTo>
                  <a:pt x="828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47567" y="3946713"/>
            <a:ext cx="0" cy="172720"/>
          </a:xfrm>
          <a:custGeom>
            <a:avLst/>
            <a:gdLst/>
            <a:ahLst/>
            <a:cxnLst/>
            <a:rect l="l" t="t" r="r" b="b"/>
            <a:pathLst>
              <a:path h="172720">
                <a:moveTo>
                  <a:pt x="0" y="0"/>
                </a:moveTo>
                <a:lnTo>
                  <a:pt x="0" y="172573"/>
                </a:lnTo>
              </a:path>
            </a:pathLst>
          </a:custGeom>
          <a:ln w="37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91042" y="4043964"/>
            <a:ext cx="113030" cy="113030"/>
          </a:xfrm>
          <a:custGeom>
            <a:avLst/>
            <a:gdLst/>
            <a:ahLst/>
            <a:cxnLst/>
            <a:rect l="l" t="t" r="r" b="b"/>
            <a:pathLst>
              <a:path w="113030" h="113029">
                <a:moveTo>
                  <a:pt x="113041" y="0"/>
                </a:moveTo>
                <a:lnTo>
                  <a:pt x="0" y="0"/>
                </a:lnTo>
                <a:lnTo>
                  <a:pt x="56528" y="113019"/>
                </a:lnTo>
                <a:lnTo>
                  <a:pt x="113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24840" y="4539308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0"/>
                </a:moveTo>
                <a:lnTo>
                  <a:pt x="0" y="198759"/>
                </a:lnTo>
              </a:path>
            </a:pathLst>
          </a:custGeom>
          <a:ln w="37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68324" y="4662739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5" h="113029">
                <a:moveTo>
                  <a:pt x="113050" y="0"/>
                </a:moveTo>
                <a:lnTo>
                  <a:pt x="0" y="0"/>
                </a:lnTo>
                <a:lnTo>
                  <a:pt x="56519" y="113001"/>
                </a:lnTo>
                <a:lnTo>
                  <a:pt x="113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38003" y="4539308"/>
            <a:ext cx="0" cy="188595"/>
          </a:xfrm>
          <a:custGeom>
            <a:avLst/>
            <a:gdLst/>
            <a:ahLst/>
            <a:cxnLst/>
            <a:rect l="l" t="t" r="r" b="b"/>
            <a:pathLst>
              <a:path h="188595">
                <a:moveTo>
                  <a:pt x="0" y="0"/>
                </a:moveTo>
                <a:lnTo>
                  <a:pt x="0" y="188450"/>
                </a:lnTo>
              </a:path>
            </a:pathLst>
          </a:custGeom>
          <a:ln w="37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81480" y="4652406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4" h="113029">
                <a:moveTo>
                  <a:pt x="113062" y="0"/>
                </a:moveTo>
                <a:lnTo>
                  <a:pt x="0" y="0"/>
                </a:lnTo>
                <a:lnTo>
                  <a:pt x="56531" y="113022"/>
                </a:lnTo>
                <a:lnTo>
                  <a:pt x="113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23392" y="2056187"/>
            <a:ext cx="1868170" cy="832485"/>
          </a:xfrm>
          <a:custGeom>
            <a:avLst/>
            <a:gdLst/>
            <a:ahLst/>
            <a:cxnLst/>
            <a:rect l="l" t="t" r="r" b="b"/>
            <a:pathLst>
              <a:path w="1868170" h="832485">
                <a:moveTo>
                  <a:pt x="1196386" y="758951"/>
                </a:moveTo>
                <a:lnTo>
                  <a:pt x="718854" y="758951"/>
                </a:lnTo>
                <a:lnTo>
                  <a:pt x="727761" y="768095"/>
                </a:lnTo>
                <a:lnTo>
                  <a:pt x="768690" y="792479"/>
                </a:lnTo>
                <a:lnTo>
                  <a:pt x="792021" y="801623"/>
                </a:lnTo>
                <a:lnTo>
                  <a:pt x="804324" y="807719"/>
                </a:lnTo>
                <a:lnTo>
                  <a:pt x="817022" y="810767"/>
                </a:lnTo>
                <a:lnTo>
                  <a:pt x="830094" y="816863"/>
                </a:lnTo>
                <a:lnTo>
                  <a:pt x="871320" y="826007"/>
                </a:lnTo>
                <a:lnTo>
                  <a:pt x="917698" y="832103"/>
                </a:lnTo>
                <a:lnTo>
                  <a:pt x="1009131" y="832103"/>
                </a:lnTo>
                <a:lnTo>
                  <a:pt x="1031189" y="829055"/>
                </a:lnTo>
                <a:lnTo>
                  <a:pt x="1052746" y="822959"/>
                </a:lnTo>
                <a:lnTo>
                  <a:pt x="1073712" y="819911"/>
                </a:lnTo>
                <a:lnTo>
                  <a:pt x="1093999" y="813815"/>
                </a:lnTo>
                <a:lnTo>
                  <a:pt x="1113515" y="804671"/>
                </a:lnTo>
                <a:lnTo>
                  <a:pt x="1132170" y="798575"/>
                </a:lnTo>
                <a:lnTo>
                  <a:pt x="1149875" y="789431"/>
                </a:lnTo>
                <a:lnTo>
                  <a:pt x="1166539" y="780287"/>
                </a:lnTo>
                <a:lnTo>
                  <a:pt x="1182073" y="771143"/>
                </a:lnTo>
                <a:lnTo>
                  <a:pt x="1196386" y="758951"/>
                </a:lnTo>
                <a:close/>
              </a:path>
              <a:path w="1868170" h="832485">
                <a:moveTo>
                  <a:pt x="497560" y="73151"/>
                </a:moveTo>
                <a:lnTo>
                  <a:pt x="419790" y="73151"/>
                </a:lnTo>
                <a:lnTo>
                  <a:pt x="373432" y="79247"/>
                </a:lnTo>
                <a:lnTo>
                  <a:pt x="330457" y="91439"/>
                </a:lnTo>
                <a:lnTo>
                  <a:pt x="291379" y="103631"/>
                </a:lnTo>
                <a:lnTo>
                  <a:pt x="256712" y="121919"/>
                </a:lnTo>
                <a:lnTo>
                  <a:pt x="226970" y="143255"/>
                </a:lnTo>
                <a:lnTo>
                  <a:pt x="214107" y="152399"/>
                </a:lnTo>
                <a:lnTo>
                  <a:pt x="202667" y="164591"/>
                </a:lnTo>
                <a:lnTo>
                  <a:pt x="192716" y="176783"/>
                </a:lnTo>
                <a:lnTo>
                  <a:pt x="184317" y="192023"/>
                </a:lnTo>
                <a:lnTo>
                  <a:pt x="177535" y="204215"/>
                </a:lnTo>
                <a:lnTo>
                  <a:pt x="172434" y="216407"/>
                </a:lnTo>
                <a:lnTo>
                  <a:pt x="169079" y="231647"/>
                </a:lnTo>
                <a:lnTo>
                  <a:pt x="167532" y="243839"/>
                </a:lnTo>
                <a:lnTo>
                  <a:pt x="167860" y="259079"/>
                </a:lnTo>
                <a:lnTo>
                  <a:pt x="170125" y="274319"/>
                </a:lnTo>
                <a:lnTo>
                  <a:pt x="164313" y="277367"/>
                </a:lnTo>
                <a:lnTo>
                  <a:pt x="150020" y="277367"/>
                </a:lnTo>
                <a:lnTo>
                  <a:pt x="122428" y="283463"/>
                </a:lnTo>
                <a:lnTo>
                  <a:pt x="96469" y="289559"/>
                </a:lnTo>
                <a:lnTo>
                  <a:pt x="84217" y="295655"/>
                </a:lnTo>
                <a:lnTo>
                  <a:pt x="72510" y="301751"/>
                </a:lnTo>
                <a:lnTo>
                  <a:pt x="61395" y="304799"/>
                </a:lnTo>
                <a:lnTo>
                  <a:pt x="50918" y="313943"/>
                </a:lnTo>
                <a:lnTo>
                  <a:pt x="41124" y="320039"/>
                </a:lnTo>
                <a:lnTo>
                  <a:pt x="32060" y="326135"/>
                </a:lnTo>
                <a:lnTo>
                  <a:pt x="5589" y="362711"/>
                </a:lnTo>
                <a:lnTo>
                  <a:pt x="0" y="393191"/>
                </a:lnTo>
                <a:lnTo>
                  <a:pt x="812" y="402335"/>
                </a:lnTo>
                <a:lnTo>
                  <a:pt x="16738" y="438911"/>
                </a:lnTo>
                <a:lnTo>
                  <a:pt x="51684" y="472439"/>
                </a:lnTo>
                <a:lnTo>
                  <a:pt x="63196" y="478535"/>
                </a:lnTo>
                <a:lnTo>
                  <a:pt x="75764" y="487679"/>
                </a:lnTo>
                <a:lnTo>
                  <a:pt x="89364" y="490727"/>
                </a:lnTo>
                <a:lnTo>
                  <a:pt x="78263" y="499871"/>
                </a:lnTo>
                <a:lnTo>
                  <a:pt x="68596" y="509015"/>
                </a:lnTo>
                <a:lnTo>
                  <a:pt x="60416" y="518159"/>
                </a:lnTo>
                <a:lnTo>
                  <a:pt x="53771" y="530351"/>
                </a:lnTo>
                <a:lnTo>
                  <a:pt x="48713" y="539495"/>
                </a:lnTo>
                <a:lnTo>
                  <a:pt x="45291" y="551687"/>
                </a:lnTo>
                <a:lnTo>
                  <a:pt x="43555" y="563879"/>
                </a:lnTo>
                <a:lnTo>
                  <a:pt x="43556" y="576071"/>
                </a:lnTo>
                <a:lnTo>
                  <a:pt x="60039" y="615695"/>
                </a:lnTo>
                <a:lnTo>
                  <a:pt x="95296" y="646175"/>
                </a:lnTo>
                <a:lnTo>
                  <a:pt x="106475" y="655319"/>
                </a:lnTo>
                <a:lnTo>
                  <a:pt x="118468" y="658367"/>
                </a:lnTo>
                <a:lnTo>
                  <a:pt x="131213" y="664463"/>
                </a:lnTo>
                <a:lnTo>
                  <a:pt x="144643" y="670559"/>
                </a:lnTo>
                <a:lnTo>
                  <a:pt x="158693" y="673607"/>
                </a:lnTo>
                <a:lnTo>
                  <a:pt x="188396" y="679703"/>
                </a:lnTo>
                <a:lnTo>
                  <a:pt x="203918" y="679703"/>
                </a:lnTo>
                <a:lnTo>
                  <a:pt x="219800" y="682751"/>
                </a:lnTo>
                <a:lnTo>
                  <a:pt x="254719" y="682751"/>
                </a:lnTo>
                <a:lnTo>
                  <a:pt x="255911" y="685799"/>
                </a:lnTo>
                <a:lnTo>
                  <a:pt x="270947" y="697991"/>
                </a:lnTo>
                <a:lnTo>
                  <a:pt x="305512" y="725423"/>
                </a:lnTo>
                <a:lnTo>
                  <a:pt x="345311" y="743711"/>
                </a:lnTo>
                <a:lnTo>
                  <a:pt x="389435" y="761999"/>
                </a:lnTo>
                <a:lnTo>
                  <a:pt x="436973" y="774191"/>
                </a:lnTo>
                <a:lnTo>
                  <a:pt x="538659" y="786383"/>
                </a:lnTo>
                <a:lnTo>
                  <a:pt x="564795" y="786383"/>
                </a:lnTo>
                <a:lnTo>
                  <a:pt x="668783" y="774191"/>
                </a:lnTo>
                <a:lnTo>
                  <a:pt x="694073" y="768095"/>
                </a:lnTo>
                <a:lnTo>
                  <a:pt x="718854" y="758951"/>
                </a:lnTo>
                <a:lnTo>
                  <a:pt x="1196386" y="758951"/>
                </a:lnTo>
                <a:lnTo>
                  <a:pt x="1209389" y="746759"/>
                </a:lnTo>
                <a:lnTo>
                  <a:pt x="1220991" y="734567"/>
                </a:lnTo>
                <a:lnTo>
                  <a:pt x="1231103" y="722375"/>
                </a:lnTo>
                <a:lnTo>
                  <a:pt x="1239634" y="710183"/>
                </a:lnTo>
                <a:lnTo>
                  <a:pt x="1488707" y="710183"/>
                </a:lnTo>
                <a:lnTo>
                  <a:pt x="1497152" y="707135"/>
                </a:lnTo>
                <a:lnTo>
                  <a:pt x="1513217" y="701039"/>
                </a:lnTo>
                <a:lnTo>
                  <a:pt x="1528396" y="694943"/>
                </a:lnTo>
                <a:lnTo>
                  <a:pt x="1542623" y="685799"/>
                </a:lnTo>
                <a:lnTo>
                  <a:pt x="1555836" y="679703"/>
                </a:lnTo>
                <a:lnTo>
                  <a:pt x="1567971" y="670559"/>
                </a:lnTo>
                <a:lnTo>
                  <a:pt x="1578965" y="658367"/>
                </a:lnTo>
                <a:lnTo>
                  <a:pt x="1588753" y="649223"/>
                </a:lnTo>
                <a:lnTo>
                  <a:pt x="1610249" y="615695"/>
                </a:lnTo>
                <a:lnTo>
                  <a:pt x="1618609" y="579119"/>
                </a:lnTo>
                <a:lnTo>
                  <a:pt x="1631958" y="579119"/>
                </a:lnTo>
                <a:lnTo>
                  <a:pt x="1658182" y="573023"/>
                </a:lnTo>
                <a:lnTo>
                  <a:pt x="1671016" y="573023"/>
                </a:lnTo>
                <a:lnTo>
                  <a:pt x="1696030" y="566927"/>
                </a:lnTo>
                <a:lnTo>
                  <a:pt x="1708169" y="560831"/>
                </a:lnTo>
                <a:lnTo>
                  <a:pt x="1731613" y="554735"/>
                </a:lnTo>
                <a:lnTo>
                  <a:pt x="1742878" y="548639"/>
                </a:lnTo>
                <a:lnTo>
                  <a:pt x="1753811" y="545591"/>
                </a:lnTo>
                <a:lnTo>
                  <a:pt x="1772252" y="536447"/>
                </a:lnTo>
                <a:lnTo>
                  <a:pt x="1789118" y="524255"/>
                </a:lnTo>
                <a:lnTo>
                  <a:pt x="1804395" y="515111"/>
                </a:lnTo>
                <a:lnTo>
                  <a:pt x="1840555" y="478535"/>
                </a:lnTo>
                <a:lnTo>
                  <a:pt x="1861919" y="438911"/>
                </a:lnTo>
                <a:lnTo>
                  <a:pt x="1868112" y="399287"/>
                </a:lnTo>
                <a:lnTo>
                  <a:pt x="1866741" y="387095"/>
                </a:lnTo>
                <a:lnTo>
                  <a:pt x="1852129" y="344423"/>
                </a:lnTo>
                <a:lnTo>
                  <a:pt x="1821476" y="307847"/>
                </a:lnTo>
                <a:lnTo>
                  <a:pt x="1807629" y="295655"/>
                </a:lnTo>
                <a:lnTo>
                  <a:pt x="1811845" y="289559"/>
                </a:lnTo>
                <a:lnTo>
                  <a:pt x="1825088" y="252983"/>
                </a:lnTo>
                <a:lnTo>
                  <a:pt x="1826265" y="243839"/>
                </a:lnTo>
                <a:lnTo>
                  <a:pt x="1825979" y="231647"/>
                </a:lnTo>
                <a:lnTo>
                  <a:pt x="1824270" y="222503"/>
                </a:lnTo>
                <a:lnTo>
                  <a:pt x="1821181" y="210311"/>
                </a:lnTo>
                <a:lnTo>
                  <a:pt x="1816752" y="201167"/>
                </a:lnTo>
                <a:lnTo>
                  <a:pt x="1811026" y="188975"/>
                </a:lnTo>
                <a:lnTo>
                  <a:pt x="1775970" y="152399"/>
                </a:lnTo>
                <a:lnTo>
                  <a:pt x="1751733" y="137159"/>
                </a:lnTo>
                <a:lnTo>
                  <a:pt x="1738081" y="128015"/>
                </a:lnTo>
                <a:lnTo>
                  <a:pt x="1723463" y="121919"/>
                </a:lnTo>
                <a:lnTo>
                  <a:pt x="1707920" y="115823"/>
                </a:lnTo>
                <a:lnTo>
                  <a:pt x="1691493" y="112775"/>
                </a:lnTo>
                <a:lnTo>
                  <a:pt x="1674224" y="106679"/>
                </a:lnTo>
                <a:lnTo>
                  <a:pt x="1656155" y="103631"/>
                </a:lnTo>
                <a:lnTo>
                  <a:pt x="1653093" y="94487"/>
                </a:lnTo>
                <a:lnTo>
                  <a:pt x="595814" y="94487"/>
                </a:lnTo>
                <a:lnTo>
                  <a:pt x="584160" y="88391"/>
                </a:lnTo>
                <a:lnTo>
                  <a:pt x="560220" y="82295"/>
                </a:lnTo>
                <a:lnTo>
                  <a:pt x="547971" y="82295"/>
                </a:lnTo>
                <a:lnTo>
                  <a:pt x="523010" y="76199"/>
                </a:lnTo>
                <a:lnTo>
                  <a:pt x="510337" y="76199"/>
                </a:lnTo>
                <a:lnTo>
                  <a:pt x="497560" y="73151"/>
                </a:lnTo>
                <a:close/>
              </a:path>
              <a:path w="1868170" h="832485">
                <a:moveTo>
                  <a:pt x="1385687" y="728471"/>
                </a:moveTo>
                <a:lnTo>
                  <a:pt x="1338789" y="728471"/>
                </a:lnTo>
                <a:lnTo>
                  <a:pt x="1351949" y="731519"/>
                </a:lnTo>
                <a:lnTo>
                  <a:pt x="1365191" y="731519"/>
                </a:lnTo>
                <a:lnTo>
                  <a:pt x="1385687" y="728471"/>
                </a:lnTo>
                <a:close/>
              </a:path>
              <a:path w="1868170" h="832485">
                <a:moveTo>
                  <a:pt x="1488707" y="710183"/>
                </a:moveTo>
                <a:lnTo>
                  <a:pt x="1239634" y="710183"/>
                </a:lnTo>
                <a:lnTo>
                  <a:pt x="1263033" y="716279"/>
                </a:lnTo>
                <a:lnTo>
                  <a:pt x="1300067" y="725423"/>
                </a:lnTo>
                <a:lnTo>
                  <a:pt x="1312822" y="725423"/>
                </a:lnTo>
                <a:lnTo>
                  <a:pt x="1325738" y="728471"/>
                </a:lnTo>
                <a:lnTo>
                  <a:pt x="1405740" y="728471"/>
                </a:lnTo>
                <a:lnTo>
                  <a:pt x="1462613" y="719327"/>
                </a:lnTo>
                <a:lnTo>
                  <a:pt x="1480262" y="713231"/>
                </a:lnTo>
                <a:lnTo>
                  <a:pt x="1488707" y="710183"/>
                </a:lnTo>
                <a:close/>
              </a:path>
              <a:path w="1868170" h="832485">
                <a:moveTo>
                  <a:pt x="848063" y="24383"/>
                </a:moveTo>
                <a:lnTo>
                  <a:pt x="758598" y="24383"/>
                </a:lnTo>
                <a:lnTo>
                  <a:pt x="724005" y="30479"/>
                </a:lnTo>
                <a:lnTo>
                  <a:pt x="707253" y="36575"/>
                </a:lnTo>
                <a:lnTo>
                  <a:pt x="690960" y="39623"/>
                </a:lnTo>
                <a:lnTo>
                  <a:pt x="645555" y="57911"/>
                </a:lnTo>
                <a:lnTo>
                  <a:pt x="606876" y="85343"/>
                </a:lnTo>
                <a:lnTo>
                  <a:pt x="595814" y="94487"/>
                </a:lnTo>
                <a:lnTo>
                  <a:pt x="1653093" y="94487"/>
                </a:lnTo>
                <a:lnTo>
                  <a:pt x="1624944" y="57911"/>
                </a:lnTo>
                <a:lnTo>
                  <a:pt x="965013" y="57911"/>
                </a:lnTo>
                <a:lnTo>
                  <a:pt x="954049" y="54863"/>
                </a:lnTo>
                <a:lnTo>
                  <a:pt x="942527" y="48767"/>
                </a:lnTo>
                <a:lnTo>
                  <a:pt x="930481" y="42671"/>
                </a:lnTo>
                <a:lnTo>
                  <a:pt x="917946" y="39623"/>
                </a:lnTo>
                <a:lnTo>
                  <a:pt x="900904" y="33527"/>
                </a:lnTo>
                <a:lnTo>
                  <a:pt x="848063" y="24383"/>
                </a:lnTo>
                <a:close/>
              </a:path>
              <a:path w="1868170" h="832485">
                <a:moveTo>
                  <a:pt x="1166633" y="0"/>
                </a:moveTo>
                <a:lnTo>
                  <a:pt x="1108020" y="0"/>
                </a:lnTo>
                <a:lnTo>
                  <a:pt x="1079561" y="6095"/>
                </a:lnTo>
                <a:lnTo>
                  <a:pt x="1039287" y="15239"/>
                </a:lnTo>
                <a:lnTo>
                  <a:pt x="1026748" y="21335"/>
                </a:lnTo>
                <a:lnTo>
                  <a:pt x="1014750" y="24383"/>
                </a:lnTo>
                <a:lnTo>
                  <a:pt x="1003356" y="30479"/>
                </a:lnTo>
                <a:lnTo>
                  <a:pt x="992625" y="36575"/>
                </a:lnTo>
                <a:lnTo>
                  <a:pt x="982617" y="45719"/>
                </a:lnTo>
                <a:lnTo>
                  <a:pt x="973393" y="51815"/>
                </a:lnTo>
                <a:lnTo>
                  <a:pt x="965013" y="57911"/>
                </a:lnTo>
                <a:lnTo>
                  <a:pt x="1624944" y="57911"/>
                </a:lnTo>
                <a:lnTo>
                  <a:pt x="1621750" y="54863"/>
                </a:lnTo>
                <a:lnTo>
                  <a:pt x="1610913" y="45719"/>
                </a:lnTo>
                <a:lnTo>
                  <a:pt x="1602885" y="39623"/>
                </a:lnTo>
                <a:lnTo>
                  <a:pt x="1282560" y="39623"/>
                </a:lnTo>
                <a:lnTo>
                  <a:pt x="1272400" y="33527"/>
                </a:lnTo>
                <a:lnTo>
                  <a:pt x="1261440" y="27431"/>
                </a:lnTo>
                <a:lnTo>
                  <a:pt x="1249734" y="21335"/>
                </a:lnTo>
                <a:lnTo>
                  <a:pt x="1237334" y="15239"/>
                </a:lnTo>
                <a:lnTo>
                  <a:pt x="1224294" y="12191"/>
                </a:lnTo>
                <a:lnTo>
                  <a:pt x="1210179" y="6095"/>
                </a:lnTo>
                <a:lnTo>
                  <a:pt x="1195823" y="3047"/>
                </a:lnTo>
                <a:lnTo>
                  <a:pt x="1181288" y="3047"/>
                </a:lnTo>
                <a:lnTo>
                  <a:pt x="1166633" y="0"/>
                </a:lnTo>
                <a:close/>
              </a:path>
              <a:path w="1868170" h="832485">
                <a:moveTo>
                  <a:pt x="1480746" y="0"/>
                </a:moveTo>
                <a:lnTo>
                  <a:pt x="1415574" y="0"/>
                </a:lnTo>
                <a:lnTo>
                  <a:pt x="1399394" y="3047"/>
                </a:lnTo>
                <a:lnTo>
                  <a:pt x="1383399" y="3047"/>
                </a:lnTo>
                <a:lnTo>
                  <a:pt x="1367660" y="6095"/>
                </a:lnTo>
                <a:lnTo>
                  <a:pt x="1352249" y="12191"/>
                </a:lnTo>
                <a:lnTo>
                  <a:pt x="1337234" y="15239"/>
                </a:lnTo>
                <a:lnTo>
                  <a:pt x="1322688" y="21335"/>
                </a:lnTo>
                <a:lnTo>
                  <a:pt x="1308680" y="24383"/>
                </a:lnTo>
                <a:lnTo>
                  <a:pt x="1295280" y="33527"/>
                </a:lnTo>
                <a:lnTo>
                  <a:pt x="1282560" y="39623"/>
                </a:lnTo>
                <a:lnTo>
                  <a:pt x="1602885" y="39623"/>
                </a:lnTo>
                <a:lnTo>
                  <a:pt x="1557935" y="18287"/>
                </a:lnTo>
                <a:lnTo>
                  <a:pt x="1543253" y="12191"/>
                </a:lnTo>
                <a:lnTo>
                  <a:pt x="1480746" y="0"/>
                </a:lnTo>
                <a:close/>
              </a:path>
              <a:path w="1868170" h="832485">
                <a:moveTo>
                  <a:pt x="812126" y="21335"/>
                </a:moveTo>
                <a:lnTo>
                  <a:pt x="794161" y="21335"/>
                </a:lnTo>
                <a:lnTo>
                  <a:pt x="776294" y="24383"/>
                </a:lnTo>
                <a:lnTo>
                  <a:pt x="830118" y="24383"/>
                </a:lnTo>
                <a:lnTo>
                  <a:pt x="812126" y="21335"/>
                </a:lnTo>
                <a:close/>
              </a:path>
            </a:pathLst>
          </a:custGeom>
          <a:solidFill>
            <a:srgbClr val="F2F0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46746" y="2366710"/>
            <a:ext cx="69469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solidFill>
                  <a:srgbClr val="FFFFFF"/>
                </a:solidFill>
                <a:latin typeface="Arial"/>
                <a:cs typeface="Arial"/>
              </a:rPr>
              <a:t>Network</a:t>
            </a:r>
            <a:endParaRPr sz="13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446507" y="4759238"/>
            <a:ext cx="1183640" cy="988694"/>
          </a:xfrm>
          <a:custGeom>
            <a:avLst/>
            <a:gdLst/>
            <a:ahLst/>
            <a:cxnLst/>
            <a:rect l="l" t="t" r="r" b="b"/>
            <a:pathLst>
              <a:path w="1183639" h="988695">
                <a:moveTo>
                  <a:pt x="1018184" y="0"/>
                </a:moveTo>
                <a:lnTo>
                  <a:pt x="159631" y="80"/>
                </a:lnTo>
                <a:lnTo>
                  <a:pt x="117032" y="7033"/>
                </a:lnTo>
                <a:lnTo>
                  <a:pt x="78854" y="24161"/>
                </a:lnTo>
                <a:lnTo>
                  <a:pt x="46579" y="49980"/>
                </a:lnTo>
                <a:lnTo>
                  <a:pt x="21690" y="83007"/>
                </a:lnTo>
                <a:lnTo>
                  <a:pt x="5669" y="121760"/>
                </a:lnTo>
                <a:lnTo>
                  <a:pt x="0" y="164756"/>
                </a:lnTo>
                <a:lnTo>
                  <a:pt x="80" y="828991"/>
                </a:lnTo>
                <a:lnTo>
                  <a:pt x="7036" y="871572"/>
                </a:lnTo>
                <a:lnTo>
                  <a:pt x="24170" y="909734"/>
                </a:lnTo>
                <a:lnTo>
                  <a:pt x="49999" y="941994"/>
                </a:lnTo>
                <a:lnTo>
                  <a:pt x="83040" y="966871"/>
                </a:lnTo>
                <a:lnTo>
                  <a:pt x="121811" y="982884"/>
                </a:lnTo>
                <a:lnTo>
                  <a:pt x="164829" y="988551"/>
                </a:lnTo>
                <a:lnTo>
                  <a:pt x="1023389" y="988471"/>
                </a:lnTo>
                <a:lnTo>
                  <a:pt x="1065979" y="981517"/>
                </a:lnTo>
                <a:lnTo>
                  <a:pt x="1104155" y="964390"/>
                </a:lnTo>
                <a:lnTo>
                  <a:pt x="1136432" y="938573"/>
                </a:lnTo>
                <a:lnTo>
                  <a:pt x="1161324" y="905547"/>
                </a:lnTo>
                <a:lnTo>
                  <a:pt x="1177348" y="866792"/>
                </a:lnTo>
                <a:lnTo>
                  <a:pt x="1183020" y="823792"/>
                </a:lnTo>
                <a:lnTo>
                  <a:pt x="1182939" y="159555"/>
                </a:lnTo>
                <a:lnTo>
                  <a:pt x="1175980" y="116979"/>
                </a:lnTo>
                <a:lnTo>
                  <a:pt x="1158841" y="78820"/>
                </a:lnTo>
                <a:lnTo>
                  <a:pt x="1133008" y="46560"/>
                </a:lnTo>
                <a:lnTo>
                  <a:pt x="1099964" y="21681"/>
                </a:lnTo>
                <a:lnTo>
                  <a:pt x="1061195" y="5667"/>
                </a:lnTo>
                <a:lnTo>
                  <a:pt x="1018184" y="0"/>
                </a:lnTo>
                <a:close/>
              </a:path>
            </a:pathLst>
          </a:custGeom>
          <a:solidFill>
            <a:srgbClr val="00BA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446503" y="4759237"/>
            <a:ext cx="1183005" cy="988694"/>
          </a:xfrm>
          <a:custGeom>
            <a:avLst/>
            <a:gdLst/>
            <a:ahLst/>
            <a:cxnLst/>
            <a:rect l="l" t="t" r="r" b="b"/>
            <a:pathLst>
              <a:path w="1183004" h="988695">
                <a:moveTo>
                  <a:pt x="0" y="164759"/>
                </a:moveTo>
                <a:lnTo>
                  <a:pt x="5669" y="121762"/>
                </a:lnTo>
                <a:lnTo>
                  <a:pt x="21690" y="83008"/>
                </a:lnTo>
                <a:lnTo>
                  <a:pt x="46578" y="49981"/>
                </a:lnTo>
                <a:lnTo>
                  <a:pt x="78853" y="24162"/>
                </a:lnTo>
                <a:lnTo>
                  <a:pt x="117030" y="7034"/>
                </a:lnTo>
                <a:lnTo>
                  <a:pt x="159628" y="80"/>
                </a:lnTo>
                <a:lnTo>
                  <a:pt x="1018180" y="0"/>
                </a:lnTo>
                <a:lnTo>
                  <a:pt x="1032900" y="648"/>
                </a:lnTo>
                <a:lnTo>
                  <a:pt x="1074666" y="9930"/>
                </a:lnTo>
                <a:lnTo>
                  <a:pt x="1111689" y="29067"/>
                </a:lnTo>
                <a:lnTo>
                  <a:pt x="1142487" y="56575"/>
                </a:lnTo>
                <a:lnTo>
                  <a:pt x="1165577" y="90971"/>
                </a:lnTo>
                <a:lnTo>
                  <a:pt x="1179478" y="130773"/>
                </a:lnTo>
                <a:lnTo>
                  <a:pt x="1182988" y="823793"/>
                </a:lnTo>
                <a:lnTo>
                  <a:pt x="1182340" y="838508"/>
                </a:lnTo>
                <a:lnTo>
                  <a:pt x="1173056" y="880261"/>
                </a:lnTo>
                <a:lnTo>
                  <a:pt x="1153917" y="917273"/>
                </a:lnTo>
                <a:lnTo>
                  <a:pt x="1126403" y="948062"/>
                </a:lnTo>
                <a:lnTo>
                  <a:pt x="1091997" y="971146"/>
                </a:lnTo>
                <a:lnTo>
                  <a:pt x="1052181" y="985043"/>
                </a:lnTo>
                <a:lnTo>
                  <a:pt x="164829" y="988553"/>
                </a:lnTo>
                <a:lnTo>
                  <a:pt x="150109" y="987905"/>
                </a:lnTo>
                <a:lnTo>
                  <a:pt x="108342" y="978625"/>
                </a:lnTo>
                <a:lnTo>
                  <a:pt x="71317" y="959492"/>
                </a:lnTo>
                <a:lnTo>
                  <a:pt x="40515" y="931989"/>
                </a:lnTo>
                <a:lnTo>
                  <a:pt x="17420" y="897597"/>
                </a:lnTo>
                <a:lnTo>
                  <a:pt x="3514" y="857797"/>
                </a:lnTo>
                <a:lnTo>
                  <a:pt x="0" y="164759"/>
                </a:lnTo>
                <a:close/>
              </a:path>
            </a:pathLst>
          </a:custGeom>
          <a:ln w="94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707314" y="5069551"/>
            <a:ext cx="666750" cy="3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NVMe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300" b="1" spc="10" dirty="0">
                <a:solidFill>
                  <a:srgbClr val="FFFFFF"/>
                </a:solidFill>
                <a:latin typeface="Arial"/>
                <a:cs typeface="Arial"/>
              </a:rPr>
              <a:t>Devices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5923" y="4146011"/>
            <a:ext cx="2974975" cy="398780"/>
          </a:xfrm>
          <a:custGeom>
            <a:avLst/>
            <a:gdLst/>
            <a:ahLst/>
            <a:cxnLst/>
            <a:rect l="l" t="t" r="r" b="b"/>
            <a:pathLst>
              <a:path w="2974975" h="398779">
                <a:moveTo>
                  <a:pt x="2907965" y="0"/>
                </a:moveTo>
                <a:lnTo>
                  <a:pt x="60592" y="252"/>
                </a:lnTo>
                <a:lnTo>
                  <a:pt x="22490" y="16607"/>
                </a:lnTo>
                <a:lnTo>
                  <a:pt x="1574" y="51979"/>
                </a:lnTo>
                <a:lnTo>
                  <a:pt x="0" y="66415"/>
                </a:lnTo>
                <a:lnTo>
                  <a:pt x="252" y="337849"/>
                </a:lnTo>
                <a:lnTo>
                  <a:pt x="16606" y="375943"/>
                </a:lnTo>
                <a:lnTo>
                  <a:pt x="51983" y="396859"/>
                </a:lnTo>
                <a:lnTo>
                  <a:pt x="66425" y="398434"/>
                </a:lnTo>
                <a:lnTo>
                  <a:pt x="2913817" y="398180"/>
                </a:lnTo>
                <a:lnTo>
                  <a:pt x="2951922" y="381821"/>
                </a:lnTo>
                <a:lnTo>
                  <a:pt x="2972837" y="346453"/>
                </a:lnTo>
                <a:lnTo>
                  <a:pt x="2974412" y="332018"/>
                </a:lnTo>
                <a:lnTo>
                  <a:pt x="2974157" y="60568"/>
                </a:lnTo>
                <a:lnTo>
                  <a:pt x="2957795" y="22484"/>
                </a:lnTo>
                <a:lnTo>
                  <a:pt x="2922410" y="1574"/>
                </a:lnTo>
                <a:lnTo>
                  <a:pt x="2907965" y="0"/>
                </a:lnTo>
                <a:close/>
              </a:path>
            </a:pathLst>
          </a:custGeom>
          <a:solidFill>
            <a:srgbClr val="00BA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15920" y="4146012"/>
            <a:ext cx="2974975" cy="398780"/>
          </a:xfrm>
          <a:custGeom>
            <a:avLst/>
            <a:gdLst/>
            <a:ahLst/>
            <a:cxnLst/>
            <a:rect l="l" t="t" r="r" b="b"/>
            <a:pathLst>
              <a:path w="2974975" h="398779">
                <a:moveTo>
                  <a:pt x="0" y="66402"/>
                </a:moveTo>
                <a:lnTo>
                  <a:pt x="13160" y="26727"/>
                </a:lnTo>
                <a:lnTo>
                  <a:pt x="46553" y="3024"/>
                </a:lnTo>
                <a:lnTo>
                  <a:pt x="2907962" y="0"/>
                </a:lnTo>
                <a:lnTo>
                  <a:pt x="2922411" y="1574"/>
                </a:lnTo>
                <a:lnTo>
                  <a:pt x="2957793" y="22489"/>
                </a:lnTo>
                <a:lnTo>
                  <a:pt x="2974139" y="60580"/>
                </a:lnTo>
                <a:lnTo>
                  <a:pt x="2974391" y="332012"/>
                </a:lnTo>
                <a:lnTo>
                  <a:pt x="2972817" y="346454"/>
                </a:lnTo>
                <a:lnTo>
                  <a:pt x="2951914" y="381832"/>
                </a:lnTo>
                <a:lnTo>
                  <a:pt x="2913814" y="398191"/>
                </a:lnTo>
                <a:lnTo>
                  <a:pt x="66426" y="398445"/>
                </a:lnTo>
                <a:lnTo>
                  <a:pt x="51985" y="396871"/>
                </a:lnTo>
                <a:lnTo>
                  <a:pt x="16611" y="375959"/>
                </a:lnTo>
                <a:lnTo>
                  <a:pt x="253" y="337860"/>
                </a:lnTo>
                <a:lnTo>
                  <a:pt x="0" y="66402"/>
                </a:lnTo>
                <a:close/>
              </a:path>
            </a:pathLst>
          </a:custGeom>
          <a:ln w="941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55183" y="4262974"/>
            <a:ext cx="270192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solidFill>
                  <a:srgbClr val="FFFFFF"/>
                </a:solidFill>
                <a:latin typeface="Arial"/>
                <a:cs typeface="Arial"/>
              </a:rPr>
              <a:t>Block</a:t>
            </a:r>
            <a:r>
              <a:rPr sz="13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10" dirty="0">
                <a:solidFill>
                  <a:srgbClr val="FFFFFF"/>
                </a:solidFill>
                <a:latin typeface="Arial"/>
                <a:cs typeface="Arial"/>
              </a:rPr>
              <a:t>Device</a:t>
            </a:r>
            <a:r>
              <a:rPr sz="13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10" dirty="0">
                <a:solidFill>
                  <a:srgbClr val="FFFFFF"/>
                </a:solidFill>
                <a:latin typeface="Arial"/>
                <a:cs typeface="Arial"/>
              </a:rPr>
              <a:t>Abstraction</a:t>
            </a:r>
            <a:r>
              <a:rPr sz="13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(BDEV)</a:t>
            </a:r>
            <a:endParaRPr sz="13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16540" y="2112133"/>
            <a:ext cx="1833880" cy="3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01955">
              <a:lnSpc>
                <a:spcPct val="101400"/>
              </a:lnSpc>
            </a:pPr>
            <a:r>
              <a:rPr sz="1300" b="1" spc="15" dirty="0">
                <a:solidFill>
                  <a:srgbClr val="5B9BD5"/>
                </a:solidFill>
                <a:latin typeface="Calibri"/>
                <a:cs typeface="Calibri"/>
              </a:rPr>
              <a:t>D</a:t>
            </a:r>
            <a:r>
              <a:rPr sz="1300" b="1" dirty="0">
                <a:solidFill>
                  <a:srgbClr val="5B9BD5"/>
                </a:solidFill>
                <a:latin typeface="Calibri"/>
                <a:cs typeface="Calibri"/>
              </a:rPr>
              <a:t>isa</a:t>
            </a:r>
            <a:r>
              <a:rPr sz="1300" b="1" spc="10" dirty="0">
                <a:solidFill>
                  <a:srgbClr val="5B9BD5"/>
                </a:solidFill>
                <a:latin typeface="Calibri"/>
                <a:cs typeface="Calibri"/>
              </a:rPr>
              <a:t>ggreg</a:t>
            </a:r>
            <a:r>
              <a:rPr sz="1300" b="1" spc="5" dirty="0">
                <a:solidFill>
                  <a:srgbClr val="5B9BD5"/>
                </a:solidFill>
                <a:latin typeface="Calibri"/>
                <a:cs typeface="Calibri"/>
              </a:rPr>
              <a:t>at</a:t>
            </a:r>
            <a:r>
              <a:rPr sz="1300" b="1" spc="10" dirty="0">
                <a:solidFill>
                  <a:srgbClr val="5B9BD5"/>
                </a:solidFill>
                <a:latin typeface="Calibri"/>
                <a:cs typeface="Calibri"/>
              </a:rPr>
              <a:t>ed</a:t>
            </a:r>
            <a:r>
              <a:rPr sz="1300" b="1" spc="5" dirty="0">
                <a:solidFill>
                  <a:srgbClr val="5B9BD5"/>
                </a:solidFill>
                <a:latin typeface="Times New Roman"/>
                <a:cs typeface="Times New Roman"/>
              </a:rPr>
              <a:t> </a:t>
            </a:r>
            <a:r>
              <a:rPr sz="1300" b="1" spc="10" dirty="0">
                <a:solidFill>
                  <a:srgbClr val="5B9BD5"/>
                </a:solidFill>
                <a:latin typeface="Calibri"/>
                <a:cs typeface="Calibri"/>
              </a:rPr>
              <a:t>Cloud</a:t>
            </a:r>
            <a:r>
              <a:rPr sz="1300" b="1" spc="-25" dirty="0">
                <a:solidFill>
                  <a:srgbClr val="5B9BD5"/>
                </a:solidFill>
                <a:latin typeface="Times New Roman"/>
                <a:cs typeface="Times New Roman"/>
              </a:rPr>
              <a:t> </a:t>
            </a:r>
            <a:r>
              <a:rPr sz="1300" b="1" spc="10" dirty="0">
                <a:solidFill>
                  <a:srgbClr val="5B9BD5"/>
                </a:solidFill>
                <a:latin typeface="Calibri"/>
                <a:cs typeface="Calibri"/>
              </a:rPr>
              <a:t>Deployment</a:t>
            </a:r>
            <a:r>
              <a:rPr sz="1300" b="1" spc="-25" dirty="0">
                <a:solidFill>
                  <a:srgbClr val="5B9BD5"/>
                </a:solidFill>
                <a:latin typeface="Times New Roman"/>
                <a:cs typeface="Times New Roman"/>
              </a:rPr>
              <a:t> </a:t>
            </a:r>
            <a:r>
              <a:rPr sz="1300" b="1" spc="10" dirty="0">
                <a:solidFill>
                  <a:srgbClr val="5B9BD5"/>
                </a:solidFill>
                <a:latin typeface="Calibri"/>
                <a:cs typeface="Calibri"/>
              </a:rPr>
              <a:t>Model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74324" y="2641454"/>
            <a:ext cx="1308018" cy="3106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868502" y="2292959"/>
            <a:ext cx="0" cy="3460750"/>
          </a:xfrm>
          <a:custGeom>
            <a:avLst/>
            <a:gdLst/>
            <a:ahLst/>
            <a:cxnLst/>
            <a:rect l="l" t="t" r="r" b="b"/>
            <a:pathLst>
              <a:path h="3460750">
                <a:moveTo>
                  <a:pt x="0" y="0"/>
                </a:moveTo>
                <a:lnTo>
                  <a:pt x="0" y="3460688"/>
                </a:lnTo>
              </a:path>
            </a:pathLst>
          </a:custGeom>
          <a:ln w="12561">
            <a:solidFill>
              <a:srgbClr val="6095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52082" y="2205682"/>
            <a:ext cx="0" cy="3460750"/>
          </a:xfrm>
          <a:custGeom>
            <a:avLst/>
            <a:gdLst/>
            <a:ahLst/>
            <a:cxnLst/>
            <a:rect l="l" t="t" r="r" b="b"/>
            <a:pathLst>
              <a:path h="3460750">
                <a:moveTo>
                  <a:pt x="0" y="0"/>
                </a:moveTo>
                <a:lnTo>
                  <a:pt x="0" y="3460704"/>
                </a:lnTo>
              </a:path>
            </a:pathLst>
          </a:custGeom>
          <a:ln w="12561">
            <a:solidFill>
              <a:srgbClr val="6095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19130" y="1704136"/>
            <a:ext cx="7028180" cy="327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b="1" spc="15" dirty="0">
                <a:latin typeface="Arial"/>
                <a:cs typeface="Arial"/>
              </a:rPr>
              <a:t>Remo</a:t>
            </a:r>
            <a:r>
              <a:rPr sz="2350" b="1" spc="10" dirty="0">
                <a:latin typeface="Arial"/>
                <a:cs typeface="Arial"/>
              </a:rPr>
              <a:t>te</a:t>
            </a:r>
            <a:r>
              <a:rPr sz="2350" b="1" spc="-20" dirty="0">
                <a:latin typeface="Times New Roman"/>
                <a:cs typeface="Times New Roman"/>
              </a:rPr>
              <a:t> </a:t>
            </a:r>
            <a:r>
              <a:rPr sz="2350" b="1" spc="10" dirty="0">
                <a:latin typeface="Arial"/>
                <a:cs typeface="Arial"/>
              </a:rPr>
              <a:t>Access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2350" b="1" spc="-180" dirty="0">
                <a:latin typeface="Arial"/>
                <a:cs typeface="Arial"/>
              </a:rPr>
              <a:t>T</a:t>
            </a:r>
            <a:r>
              <a:rPr sz="2350" b="1" dirty="0">
                <a:latin typeface="Arial"/>
                <a:cs typeface="Arial"/>
              </a:rPr>
              <a:t>o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2350" b="1" spc="10" dirty="0">
                <a:latin typeface="Arial"/>
                <a:cs typeface="Arial"/>
              </a:rPr>
              <a:t>Stora</a:t>
            </a:r>
            <a:r>
              <a:rPr sz="2350" b="1" dirty="0">
                <a:latin typeface="Arial"/>
                <a:cs typeface="Arial"/>
              </a:rPr>
              <a:t>g</a:t>
            </a:r>
            <a:r>
              <a:rPr sz="2350" b="1" spc="10" dirty="0">
                <a:latin typeface="Arial"/>
                <a:cs typeface="Arial"/>
              </a:rPr>
              <a:t>e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2350" b="1" spc="10" dirty="0">
                <a:latin typeface="Arial"/>
                <a:cs typeface="Arial"/>
              </a:rPr>
              <a:t>–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2350" b="1" dirty="0">
                <a:latin typeface="Arial"/>
                <a:cs typeface="Arial"/>
              </a:rPr>
              <a:t>i</a:t>
            </a:r>
            <a:r>
              <a:rPr sz="2350" b="1" spc="15" dirty="0">
                <a:latin typeface="Arial"/>
                <a:cs typeface="Arial"/>
              </a:rPr>
              <a:t>SC</a:t>
            </a:r>
            <a:r>
              <a:rPr sz="2350" b="1" dirty="0">
                <a:latin typeface="Arial"/>
                <a:cs typeface="Arial"/>
              </a:rPr>
              <a:t>SI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2350" b="1" spc="10" dirty="0">
                <a:latin typeface="Arial"/>
                <a:cs typeface="Arial"/>
              </a:rPr>
              <a:t>a</a:t>
            </a:r>
            <a:r>
              <a:rPr sz="2350" b="1" dirty="0">
                <a:latin typeface="Arial"/>
                <a:cs typeface="Arial"/>
              </a:rPr>
              <a:t>nd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2350" b="1" spc="15" dirty="0">
                <a:latin typeface="Arial"/>
                <a:cs typeface="Arial"/>
              </a:rPr>
              <a:t>NVMe</a:t>
            </a:r>
            <a:r>
              <a:rPr sz="2350" b="1" dirty="0">
                <a:latin typeface="Arial"/>
                <a:cs typeface="Arial"/>
              </a:rPr>
              <a:t>-oF</a:t>
            </a:r>
            <a:endParaRPr sz="235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/>
              <a:t>7</a:t>
            </a:fld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115" y="2474673"/>
            <a:ext cx="4140200" cy="2913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1790" marR="5080" indent="-339090">
              <a:lnSpc>
                <a:spcPct val="101000"/>
              </a:lnSpc>
              <a:buFont typeface="Arial"/>
              <a:buChar char="•"/>
              <a:tabLst>
                <a:tab pos="352425" algn="l"/>
              </a:tabLst>
            </a:pPr>
            <a:r>
              <a:rPr sz="1550" spc="15" dirty="0">
                <a:latin typeface="Arial"/>
                <a:cs typeface="Arial"/>
              </a:rPr>
              <a:t>The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idea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is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to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extend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e</a:t>
            </a:r>
            <a:r>
              <a:rPr sz="1550" spc="-25" dirty="0">
                <a:latin typeface="Arial"/>
                <a:cs typeface="Arial"/>
              </a:rPr>
              <a:t>f</a:t>
            </a:r>
            <a:r>
              <a:rPr sz="1550" spc="10" dirty="0">
                <a:latin typeface="Arial"/>
                <a:cs typeface="Arial"/>
              </a:rPr>
              <a:t>ficiency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of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local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interface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over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a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network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fabric</a:t>
            </a:r>
            <a:endParaRPr sz="1550">
              <a:latin typeface="Arial"/>
              <a:cs typeface="Arial"/>
            </a:endParaRPr>
          </a:p>
          <a:p>
            <a:pPr marL="514984" lvl="1" indent="-163195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521970" algn="l"/>
              </a:tabLst>
            </a:pPr>
            <a:r>
              <a:rPr sz="1550" spc="10" dirty="0">
                <a:latin typeface="Arial"/>
                <a:cs typeface="Arial"/>
              </a:rPr>
              <a:t>Ethernet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or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IB</a:t>
            </a:r>
            <a:endParaRPr sz="1550">
              <a:latin typeface="Arial"/>
              <a:cs typeface="Arial"/>
            </a:endParaRPr>
          </a:p>
          <a:p>
            <a:pPr marL="514984" marR="237490" lvl="1" indent="-163195">
              <a:lnSpc>
                <a:spcPct val="102299"/>
              </a:lnSpc>
              <a:spcBef>
                <a:spcPts val="370"/>
              </a:spcBef>
              <a:buFont typeface="Arial"/>
              <a:buChar char="–"/>
              <a:tabLst>
                <a:tab pos="521970" algn="l"/>
              </a:tabLst>
            </a:pPr>
            <a:r>
              <a:rPr sz="1550" spc="20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commands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and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data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structures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are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transferred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end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to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end</a:t>
            </a:r>
            <a:endParaRPr sz="15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352425" algn="l"/>
              </a:tabLst>
            </a:pPr>
            <a:r>
              <a:rPr sz="1550" spc="10" dirty="0">
                <a:latin typeface="Arial"/>
                <a:cs typeface="Arial"/>
              </a:rPr>
              <a:t>Relies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on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Arial"/>
                <a:cs typeface="Arial"/>
              </a:rPr>
              <a:t>RDMA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for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performance</a:t>
            </a:r>
            <a:endParaRPr sz="1550">
              <a:latin typeface="Arial"/>
              <a:cs typeface="Arial"/>
            </a:endParaRPr>
          </a:p>
          <a:p>
            <a:pPr marL="521334" lvl="1" indent="-169545">
              <a:lnSpc>
                <a:spcPct val="100000"/>
              </a:lnSpc>
              <a:spcBef>
                <a:spcPts val="405"/>
              </a:spcBef>
              <a:buFont typeface="Arial"/>
              <a:buChar char="–"/>
              <a:tabLst>
                <a:tab pos="521970" algn="l"/>
              </a:tabLst>
            </a:pPr>
            <a:r>
              <a:rPr sz="1550" spc="15" dirty="0">
                <a:latin typeface="Arial"/>
                <a:cs typeface="Arial"/>
              </a:rPr>
              <a:t>Bypassing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TCP/IP</a:t>
            </a:r>
            <a:endParaRPr sz="1550">
              <a:latin typeface="Arial"/>
              <a:cs typeface="Arial"/>
            </a:endParaRPr>
          </a:p>
          <a:p>
            <a:pPr marL="351790" marR="273050" indent="-339090">
              <a:lnSpc>
                <a:spcPct val="111400"/>
              </a:lnSpc>
              <a:spcBef>
                <a:spcPts val="210"/>
              </a:spcBef>
              <a:buFont typeface="Arial"/>
              <a:buChar char="•"/>
              <a:tabLst>
                <a:tab pos="352425" algn="l"/>
              </a:tabLst>
            </a:pPr>
            <a:r>
              <a:rPr sz="1550" spc="15" dirty="0">
                <a:latin typeface="Arial"/>
                <a:cs typeface="Arial"/>
              </a:rPr>
              <a:t>For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more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Information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on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over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Fabrics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Arial"/>
                <a:cs typeface="Arial"/>
              </a:rPr>
              <a:t>(</a:t>
            </a:r>
            <a:r>
              <a:rPr sz="1550" spc="15" dirty="0">
                <a:latin typeface="Arial"/>
                <a:cs typeface="Arial"/>
              </a:rPr>
              <a:t>NVMe-o</a:t>
            </a:r>
            <a:r>
              <a:rPr sz="1550" spc="10" dirty="0">
                <a:latin typeface="Arial"/>
                <a:cs typeface="Arial"/>
              </a:rPr>
              <a:t>F)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u="heavy" spc="1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h</a:t>
            </a:r>
            <a:r>
              <a:rPr sz="1550" u="heavy" spc="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tt</a:t>
            </a:r>
            <a:r>
              <a:rPr sz="1550" u="heavy" spc="1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p</a:t>
            </a:r>
            <a:r>
              <a:rPr sz="1550" u="heavy" spc="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://</a:t>
            </a:r>
            <a:r>
              <a:rPr sz="1550" u="heavy" spc="20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ww</a:t>
            </a:r>
            <a:r>
              <a:rPr sz="1550" u="heavy" spc="-70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w</a:t>
            </a:r>
            <a:r>
              <a:rPr sz="1550" u="heavy" spc="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.</a:t>
            </a:r>
            <a:r>
              <a:rPr sz="1550" u="heavy" spc="1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nvmexp</a:t>
            </a:r>
            <a:r>
              <a:rPr sz="1550" u="heavy" spc="10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ress.</a:t>
            </a:r>
            <a:r>
              <a:rPr sz="1550" u="heavy" spc="1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o</a:t>
            </a:r>
            <a:r>
              <a:rPr sz="1550" u="heavy" spc="10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rg</a:t>
            </a:r>
            <a:r>
              <a:rPr sz="1550" u="heavy" spc="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/</a:t>
            </a:r>
            <a:r>
              <a:rPr sz="1550" u="heavy" spc="20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w</a:t>
            </a:r>
            <a:r>
              <a:rPr sz="1550" u="heavy" spc="1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p</a:t>
            </a:r>
            <a:r>
              <a:rPr sz="1550" u="heavy" spc="10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-co</a:t>
            </a:r>
            <a:r>
              <a:rPr sz="1550" u="heavy" spc="1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n</a:t>
            </a:r>
            <a:r>
              <a:rPr sz="1550" u="heavy" spc="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t</a:t>
            </a:r>
            <a:r>
              <a:rPr sz="1550" u="heavy" spc="1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en</a:t>
            </a:r>
            <a:r>
              <a:rPr sz="1550" u="heavy" spc="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t/</a:t>
            </a:r>
            <a:endParaRPr sz="1550">
              <a:latin typeface="Arial"/>
              <a:cs typeface="Arial"/>
            </a:endParaRPr>
          </a:p>
          <a:p>
            <a:pPr marL="351790">
              <a:lnSpc>
                <a:spcPct val="100000"/>
              </a:lnSpc>
              <a:spcBef>
                <a:spcPts val="40"/>
              </a:spcBef>
            </a:pPr>
            <a:r>
              <a:rPr sz="1550" u="heavy" spc="15" dirty="0">
                <a:solidFill>
                  <a:srgbClr val="0000FF"/>
                </a:solidFill>
                <a:latin typeface="Arial"/>
                <a:cs typeface="Arial"/>
              </a:rPr>
              <a:t>uploads/NVMe_Over_Fabrics.pdf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33085" y="2404073"/>
            <a:ext cx="3690975" cy="31077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04358" y="4042675"/>
            <a:ext cx="1696085" cy="226060"/>
          </a:xfrm>
          <a:custGeom>
            <a:avLst/>
            <a:gdLst/>
            <a:ahLst/>
            <a:cxnLst/>
            <a:rect l="l" t="t" r="r" b="b"/>
            <a:pathLst>
              <a:path w="1696084" h="226060">
                <a:moveTo>
                  <a:pt x="0" y="0"/>
                </a:moveTo>
                <a:lnTo>
                  <a:pt x="1695789" y="0"/>
                </a:lnTo>
                <a:lnTo>
                  <a:pt x="1695789" y="226024"/>
                </a:lnTo>
                <a:lnTo>
                  <a:pt x="0" y="226024"/>
                </a:lnTo>
                <a:lnTo>
                  <a:pt x="0" y="0"/>
                </a:lnTo>
                <a:close/>
              </a:path>
            </a:pathLst>
          </a:custGeom>
          <a:ln w="3766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90721" y="3308154"/>
            <a:ext cx="1723073" cy="2825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6987" y="2686598"/>
            <a:ext cx="283210" cy="2204085"/>
          </a:xfrm>
          <a:custGeom>
            <a:avLst/>
            <a:gdLst/>
            <a:ahLst/>
            <a:cxnLst/>
            <a:rect l="l" t="t" r="r" b="b"/>
            <a:pathLst>
              <a:path w="283209" h="2204085">
                <a:moveTo>
                  <a:pt x="282641" y="2062340"/>
                </a:moveTo>
                <a:lnTo>
                  <a:pt x="0" y="2062340"/>
                </a:lnTo>
                <a:lnTo>
                  <a:pt x="141305" y="2203642"/>
                </a:lnTo>
                <a:lnTo>
                  <a:pt x="282641" y="2062340"/>
                </a:lnTo>
                <a:close/>
              </a:path>
              <a:path w="283209" h="2204085">
                <a:moveTo>
                  <a:pt x="211957" y="141305"/>
                </a:moveTo>
                <a:lnTo>
                  <a:pt x="70652" y="141305"/>
                </a:lnTo>
                <a:lnTo>
                  <a:pt x="70652" y="2062340"/>
                </a:lnTo>
                <a:lnTo>
                  <a:pt x="211957" y="2062340"/>
                </a:lnTo>
                <a:lnTo>
                  <a:pt x="211957" y="141305"/>
                </a:lnTo>
                <a:close/>
              </a:path>
              <a:path w="283209" h="2204085">
                <a:moveTo>
                  <a:pt x="141305" y="0"/>
                </a:moveTo>
                <a:lnTo>
                  <a:pt x="0" y="141305"/>
                </a:lnTo>
                <a:lnTo>
                  <a:pt x="282641" y="141305"/>
                </a:lnTo>
                <a:lnTo>
                  <a:pt x="141305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00147" y="2630091"/>
            <a:ext cx="678815" cy="2317115"/>
          </a:xfrm>
          <a:custGeom>
            <a:avLst/>
            <a:gdLst/>
            <a:ahLst/>
            <a:cxnLst/>
            <a:rect l="l" t="t" r="r" b="b"/>
            <a:pathLst>
              <a:path w="678815" h="2317115">
                <a:moveTo>
                  <a:pt x="0" y="0"/>
                </a:moveTo>
                <a:lnTo>
                  <a:pt x="678285" y="0"/>
                </a:lnTo>
                <a:lnTo>
                  <a:pt x="678285" y="2316645"/>
                </a:lnTo>
                <a:lnTo>
                  <a:pt x="0" y="2316645"/>
                </a:lnTo>
                <a:lnTo>
                  <a:pt x="0" y="0"/>
                </a:lnTo>
                <a:close/>
              </a:path>
            </a:pathLst>
          </a:custGeom>
          <a:ln w="37682">
            <a:solidFill>
              <a:srgbClr val="B6D8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NVMe</a:t>
            </a:r>
            <a:r>
              <a:rPr dirty="0"/>
              <a:t>-oF</a:t>
            </a:r>
            <a:r>
              <a:rPr spc="5" dirty="0"/>
              <a:t>: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/>
              <a:t>Lo</a:t>
            </a:r>
            <a:r>
              <a:rPr spc="10" dirty="0"/>
              <a:t>ca</a:t>
            </a:r>
            <a:r>
              <a:rPr dirty="0"/>
              <a:t>l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15" dirty="0"/>
              <a:t>NVMe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10" dirty="0"/>
              <a:t>Per</a:t>
            </a:r>
            <a:r>
              <a:rPr dirty="0"/>
              <a:t>fo</a:t>
            </a:r>
            <a:r>
              <a:rPr spc="10" dirty="0"/>
              <a:t>rma</a:t>
            </a:r>
            <a:r>
              <a:rPr dirty="0"/>
              <a:t>n</a:t>
            </a:r>
            <a:r>
              <a:rPr spc="10" dirty="0"/>
              <a:t>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/>
              <a:t>8</a:t>
            </a:fld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191" y="2767625"/>
            <a:ext cx="6689090" cy="145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1790" indent="-339090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sz="1550" spc="15" dirty="0">
                <a:latin typeface="Arial"/>
                <a:cs typeface="Arial"/>
              </a:rPr>
              <a:t>Uses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nvme-cli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package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implement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kernel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initiator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side</a:t>
            </a:r>
            <a:endParaRPr sz="15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spcBef>
                <a:spcPts val="1285"/>
              </a:spcBef>
              <a:buFont typeface="Arial"/>
              <a:buChar char="•"/>
              <a:tabLst>
                <a:tab pos="352425" algn="l"/>
              </a:tabLst>
            </a:pPr>
            <a:r>
              <a:rPr sz="1550" spc="15" dirty="0">
                <a:latin typeface="Arial"/>
                <a:cs typeface="Arial"/>
              </a:rPr>
              <a:t>Connect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to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remote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target</a:t>
            </a:r>
            <a:endParaRPr sz="15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spcBef>
                <a:spcPts val="1400"/>
              </a:spcBef>
              <a:buFont typeface="Arial"/>
              <a:buChar char="•"/>
              <a:tabLst>
                <a:tab pos="352425" algn="l"/>
              </a:tabLst>
            </a:pPr>
            <a:r>
              <a:rPr sz="1550" spc="15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connect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–t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rdma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–</a:t>
            </a:r>
            <a:r>
              <a:rPr sz="1550" spc="15" dirty="0">
                <a:latin typeface="Arial"/>
                <a:cs typeface="Arial"/>
              </a:rPr>
              <a:t>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&lt;conn_nq</a:t>
            </a:r>
            <a:r>
              <a:rPr sz="1550" spc="1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&gt;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–a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&lt;target_ip</a:t>
            </a:r>
            <a:r>
              <a:rPr sz="1550" spc="15" dirty="0">
                <a:latin typeface="Arial"/>
                <a:cs typeface="Arial"/>
              </a:rPr>
              <a:t>&gt;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–s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&lt;target_por</a:t>
            </a:r>
            <a:r>
              <a:rPr sz="1550" dirty="0">
                <a:latin typeface="Arial"/>
                <a:cs typeface="Arial"/>
              </a:rPr>
              <a:t>t</a:t>
            </a:r>
            <a:r>
              <a:rPr sz="1550" spc="15" dirty="0">
                <a:latin typeface="Arial"/>
                <a:cs typeface="Arial"/>
              </a:rPr>
              <a:t>&gt;</a:t>
            </a:r>
            <a:endParaRPr sz="15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spcBef>
                <a:spcPts val="1400"/>
              </a:spcBef>
              <a:buFont typeface="Arial"/>
              <a:buChar char="•"/>
              <a:tabLst>
                <a:tab pos="352425" algn="l"/>
              </a:tabLst>
            </a:pPr>
            <a:r>
              <a:rPr sz="1550" spc="15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Arial"/>
                <a:cs typeface="Arial"/>
              </a:rPr>
              <a:t>list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-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to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get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all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devices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/>
              <a:t>9</a:t>
            </a:fld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NVMe</a:t>
            </a:r>
            <a:r>
              <a:rPr dirty="0"/>
              <a:t>-oF</a:t>
            </a:r>
            <a:r>
              <a:rPr spc="5" dirty="0"/>
              <a:t>: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10" dirty="0"/>
              <a:t>Ker</a:t>
            </a:r>
            <a:r>
              <a:rPr dirty="0"/>
              <a:t>n</a:t>
            </a:r>
            <a:r>
              <a:rPr spc="10" dirty="0"/>
              <a:t>e</a:t>
            </a:r>
            <a:r>
              <a:rPr dirty="0"/>
              <a:t>l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/>
              <a:t>Initi</a:t>
            </a:r>
            <a:r>
              <a:rPr spc="10" dirty="0"/>
              <a:t>a</a:t>
            </a:r>
            <a:r>
              <a:rPr dirty="0"/>
              <a:t>to</a:t>
            </a:r>
            <a:r>
              <a:rPr spc="5" dirty="0"/>
              <a:t>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99957" y="2762237"/>
            <a:ext cx="3137535" cy="2048510"/>
          </a:xfrm>
          <a:custGeom>
            <a:avLst/>
            <a:gdLst/>
            <a:ahLst/>
            <a:cxnLst/>
            <a:rect l="l" t="t" r="r" b="b"/>
            <a:pathLst>
              <a:path w="3137534" h="2048510">
                <a:moveTo>
                  <a:pt x="0" y="2048255"/>
                </a:moveTo>
                <a:lnTo>
                  <a:pt x="3137214" y="2048255"/>
                </a:lnTo>
                <a:lnTo>
                  <a:pt x="3137214" y="0"/>
                </a:lnTo>
                <a:lnTo>
                  <a:pt x="0" y="0"/>
                </a:lnTo>
                <a:lnTo>
                  <a:pt x="0" y="204825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52159" y="2635136"/>
            <a:ext cx="3433145" cy="2340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99957" y="2762237"/>
            <a:ext cx="3137214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55977" y="2718282"/>
            <a:ext cx="3225165" cy="2136775"/>
          </a:xfrm>
          <a:custGeom>
            <a:avLst/>
            <a:gdLst/>
            <a:ahLst/>
            <a:cxnLst/>
            <a:rect l="l" t="t" r="r" b="b"/>
            <a:pathLst>
              <a:path w="3225165" h="2136775">
                <a:moveTo>
                  <a:pt x="0" y="0"/>
                </a:moveTo>
                <a:lnTo>
                  <a:pt x="3225154" y="0"/>
                </a:lnTo>
                <a:lnTo>
                  <a:pt x="3225154" y="2136158"/>
                </a:lnTo>
                <a:lnTo>
                  <a:pt x="0" y="2136158"/>
                </a:lnTo>
                <a:lnTo>
                  <a:pt x="0" y="0"/>
                </a:lnTo>
                <a:close/>
              </a:path>
            </a:pathLst>
          </a:custGeom>
          <a:ln w="8790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57574" y="2761148"/>
            <a:ext cx="4352925" cy="1769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1790" marR="5080" indent="-339090">
              <a:lnSpc>
                <a:spcPct val="148800"/>
              </a:lnSpc>
              <a:buFont typeface="Arial"/>
              <a:buChar char="•"/>
              <a:tabLst>
                <a:tab pos="352425" algn="l"/>
              </a:tabLst>
            </a:pPr>
            <a:r>
              <a:rPr sz="1550" spc="15" dirty="0">
                <a:latin typeface="Arial"/>
                <a:cs typeface="Arial"/>
              </a:rPr>
              <a:t>Uses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nvmetcli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package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implement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kernel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target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side</a:t>
            </a:r>
            <a:endParaRPr sz="1550">
              <a:latin typeface="Arial"/>
              <a:cs typeface="Arial"/>
            </a:endParaRPr>
          </a:p>
          <a:p>
            <a:pPr marL="351790" marR="484505" indent="-339090">
              <a:lnSpc>
                <a:spcPct val="155000"/>
              </a:lnSpc>
              <a:spcBef>
                <a:spcPts val="360"/>
              </a:spcBef>
              <a:buFont typeface="Arial"/>
              <a:buChar char="•"/>
              <a:tabLst>
                <a:tab pos="352425" algn="l"/>
              </a:tabLst>
            </a:pPr>
            <a:r>
              <a:rPr sz="1550" spc="15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save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&lt;file_nam</a:t>
            </a:r>
            <a:r>
              <a:rPr sz="1550" spc="10" dirty="0">
                <a:latin typeface="Arial"/>
                <a:cs typeface="Arial"/>
              </a:rPr>
              <a:t>e</a:t>
            </a:r>
            <a:r>
              <a:rPr sz="1550" spc="15" dirty="0">
                <a:latin typeface="Arial"/>
                <a:cs typeface="Arial"/>
              </a:rPr>
              <a:t>&gt;–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to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create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new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subsystem</a:t>
            </a:r>
            <a:endParaRPr sz="15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spcBef>
                <a:spcPts val="1385"/>
              </a:spcBef>
              <a:buFont typeface="Arial"/>
              <a:buChar char="•"/>
              <a:tabLst>
                <a:tab pos="352425" algn="l"/>
              </a:tabLst>
            </a:pPr>
            <a:r>
              <a:rPr sz="1550" spc="15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restore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–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to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load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existing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subsystems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69090" y="6155394"/>
            <a:ext cx="137160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NVMe</a:t>
            </a:r>
            <a:r>
              <a:rPr dirty="0"/>
              <a:t>-oF</a:t>
            </a:r>
            <a:r>
              <a:rPr spc="5" dirty="0"/>
              <a:t>: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10" dirty="0"/>
              <a:t>Ker</a:t>
            </a:r>
            <a:r>
              <a:rPr dirty="0"/>
              <a:t>n</a:t>
            </a:r>
            <a:r>
              <a:rPr spc="10" dirty="0"/>
              <a:t>e</a:t>
            </a:r>
            <a:r>
              <a:rPr dirty="0"/>
              <a:t>l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-180" dirty="0"/>
              <a:t>T</a:t>
            </a:r>
            <a:r>
              <a:rPr spc="10" dirty="0"/>
              <a:t>ar</a:t>
            </a:r>
            <a:r>
              <a:rPr dirty="0"/>
              <a:t>g</a:t>
            </a:r>
            <a:r>
              <a:rPr spc="10" dirty="0"/>
              <a:t>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28959" y="2613147"/>
            <a:ext cx="1678305" cy="2974340"/>
          </a:xfrm>
          <a:custGeom>
            <a:avLst/>
            <a:gdLst/>
            <a:ahLst/>
            <a:cxnLst/>
            <a:rect l="l" t="t" r="r" b="b"/>
            <a:pathLst>
              <a:path w="1678304" h="2974340">
                <a:moveTo>
                  <a:pt x="1452205" y="0"/>
                </a:moveTo>
                <a:lnTo>
                  <a:pt x="1678290" y="0"/>
                </a:lnTo>
                <a:lnTo>
                  <a:pt x="1678290" y="2974265"/>
                </a:lnTo>
                <a:lnTo>
                  <a:pt x="0" y="2974265"/>
                </a:lnTo>
              </a:path>
            </a:pathLst>
          </a:custGeom>
          <a:ln w="37680">
            <a:solidFill>
              <a:srgbClr val="FFC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91283" y="5530906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4" h="113029">
                <a:moveTo>
                  <a:pt x="113050" y="0"/>
                </a:moveTo>
                <a:lnTo>
                  <a:pt x="0" y="56506"/>
                </a:lnTo>
                <a:lnTo>
                  <a:pt x="113050" y="113013"/>
                </a:lnTo>
                <a:lnTo>
                  <a:pt x="113050" y="0"/>
                </a:lnTo>
                <a:close/>
              </a:path>
            </a:pathLst>
          </a:custGeom>
          <a:solidFill>
            <a:srgbClr val="FFC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05014" y="2402390"/>
            <a:ext cx="1221970" cy="4613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29439" y="2493832"/>
            <a:ext cx="760613" cy="2784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50643" y="2428073"/>
            <a:ext cx="1130935" cy="370205"/>
          </a:xfrm>
          <a:custGeom>
            <a:avLst/>
            <a:gdLst/>
            <a:ahLst/>
            <a:cxnLst/>
            <a:rect l="l" t="t" r="r" b="b"/>
            <a:pathLst>
              <a:path w="1130935" h="370205">
                <a:moveTo>
                  <a:pt x="0" y="370143"/>
                </a:moveTo>
                <a:lnTo>
                  <a:pt x="1130521" y="370143"/>
                </a:lnTo>
                <a:lnTo>
                  <a:pt x="1130521" y="0"/>
                </a:lnTo>
                <a:lnTo>
                  <a:pt x="0" y="0"/>
                </a:lnTo>
                <a:lnTo>
                  <a:pt x="0" y="370143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97631" y="2552175"/>
            <a:ext cx="64325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67854" y="3308469"/>
            <a:ext cx="1167938" cy="5985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2652" y="3333396"/>
            <a:ext cx="1034933" cy="5444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14793" y="3333811"/>
            <a:ext cx="1074420" cy="508634"/>
          </a:xfrm>
          <a:custGeom>
            <a:avLst/>
            <a:gdLst/>
            <a:ahLst/>
            <a:cxnLst/>
            <a:rect l="l" t="t" r="r" b="b"/>
            <a:pathLst>
              <a:path w="1074420" h="508635">
                <a:moveTo>
                  <a:pt x="989197" y="0"/>
                </a:moveTo>
                <a:lnTo>
                  <a:pt x="78319" y="243"/>
                </a:lnTo>
                <a:lnTo>
                  <a:pt x="38538" y="13696"/>
                </a:lnTo>
                <a:lnTo>
                  <a:pt x="10567" y="43723"/>
                </a:lnTo>
                <a:lnTo>
                  <a:pt x="0" y="84734"/>
                </a:lnTo>
                <a:lnTo>
                  <a:pt x="245" y="430259"/>
                </a:lnTo>
                <a:lnTo>
                  <a:pt x="13715" y="470009"/>
                </a:lnTo>
                <a:lnTo>
                  <a:pt x="43762" y="497965"/>
                </a:lnTo>
                <a:lnTo>
                  <a:pt x="84795" y="508528"/>
                </a:lnTo>
                <a:lnTo>
                  <a:pt x="995697" y="508283"/>
                </a:lnTo>
                <a:lnTo>
                  <a:pt x="1035466" y="494814"/>
                </a:lnTo>
                <a:lnTo>
                  <a:pt x="1063429" y="464775"/>
                </a:lnTo>
                <a:lnTo>
                  <a:pt x="1073993" y="423763"/>
                </a:lnTo>
                <a:lnTo>
                  <a:pt x="1073749" y="78262"/>
                </a:lnTo>
                <a:lnTo>
                  <a:pt x="1060286" y="38509"/>
                </a:lnTo>
                <a:lnTo>
                  <a:pt x="1030236" y="10559"/>
                </a:lnTo>
                <a:lnTo>
                  <a:pt x="989197" y="0"/>
                </a:lnTo>
                <a:close/>
              </a:path>
            </a:pathLst>
          </a:custGeom>
          <a:solidFill>
            <a:srgbClr val="00BE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14600" y="3316790"/>
            <a:ext cx="1163781" cy="5985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76946" y="3271064"/>
            <a:ext cx="1047402" cy="6816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59868" y="3341034"/>
            <a:ext cx="1074420" cy="508634"/>
          </a:xfrm>
          <a:custGeom>
            <a:avLst/>
            <a:gdLst/>
            <a:ahLst/>
            <a:cxnLst/>
            <a:rect l="l" t="t" r="r" b="b"/>
            <a:pathLst>
              <a:path w="1074420" h="508635">
                <a:moveTo>
                  <a:pt x="989222" y="0"/>
                </a:moveTo>
                <a:lnTo>
                  <a:pt x="78298" y="245"/>
                </a:lnTo>
                <a:lnTo>
                  <a:pt x="38535" y="13713"/>
                </a:lnTo>
                <a:lnTo>
                  <a:pt x="10568" y="43753"/>
                </a:lnTo>
                <a:lnTo>
                  <a:pt x="0" y="84764"/>
                </a:lnTo>
                <a:lnTo>
                  <a:pt x="245" y="430259"/>
                </a:lnTo>
                <a:lnTo>
                  <a:pt x="13720" y="470009"/>
                </a:lnTo>
                <a:lnTo>
                  <a:pt x="43772" y="497965"/>
                </a:lnTo>
                <a:lnTo>
                  <a:pt x="84795" y="508528"/>
                </a:lnTo>
                <a:lnTo>
                  <a:pt x="995694" y="508284"/>
                </a:lnTo>
                <a:lnTo>
                  <a:pt x="1035456" y="494822"/>
                </a:lnTo>
                <a:lnTo>
                  <a:pt x="1063420" y="464781"/>
                </a:lnTo>
                <a:lnTo>
                  <a:pt x="1073987" y="423763"/>
                </a:lnTo>
                <a:lnTo>
                  <a:pt x="1073743" y="78292"/>
                </a:lnTo>
                <a:lnTo>
                  <a:pt x="1060281" y="38531"/>
                </a:lnTo>
                <a:lnTo>
                  <a:pt x="1030240" y="10566"/>
                </a:lnTo>
                <a:lnTo>
                  <a:pt x="989222" y="0"/>
                </a:lnTo>
                <a:close/>
              </a:path>
            </a:pathLst>
          </a:custGeom>
          <a:solidFill>
            <a:srgbClr val="00BE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51784" y="3100119"/>
            <a:ext cx="0" cy="233679"/>
          </a:xfrm>
          <a:custGeom>
            <a:avLst/>
            <a:gdLst/>
            <a:ahLst/>
            <a:cxnLst/>
            <a:rect l="l" t="t" r="r" b="b"/>
            <a:pathLst>
              <a:path h="233679">
                <a:moveTo>
                  <a:pt x="0" y="233673"/>
                </a:moveTo>
                <a:lnTo>
                  <a:pt x="0" y="0"/>
                </a:lnTo>
              </a:path>
            </a:pathLst>
          </a:custGeom>
          <a:ln w="3768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95250" y="3062447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4" h="113030">
                <a:moveTo>
                  <a:pt x="56509" y="0"/>
                </a:moveTo>
                <a:lnTo>
                  <a:pt x="0" y="112989"/>
                </a:lnTo>
                <a:lnTo>
                  <a:pt x="113050" y="112989"/>
                </a:lnTo>
                <a:lnTo>
                  <a:pt x="56509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47472" y="4450507"/>
            <a:ext cx="0" cy="199390"/>
          </a:xfrm>
          <a:custGeom>
            <a:avLst/>
            <a:gdLst/>
            <a:ahLst/>
            <a:cxnLst/>
            <a:rect l="l" t="t" r="r" b="b"/>
            <a:pathLst>
              <a:path h="199389">
                <a:moveTo>
                  <a:pt x="0" y="198780"/>
                </a:moveTo>
                <a:lnTo>
                  <a:pt x="0" y="0"/>
                </a:lnTo>
              </a:path>
            </a:pathLst>
          </a:custGeom>
          <a:ln w="3768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90944" y="4573950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4" h="113029">
                <a:moveTo>
                  <a:pt x="113050" y="0"/>
                </a:moveTo>
                <a:lnTo>
                  <a:pt x="0" y="0"/>
                </a:lnTo>
                <a:lnTo>
                  <a:pt x="56509" y="112989"/>
                </a:lnTo>
                <a:lnTo>
                  <a:pt x="11305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74431" y="4678728"/>
            <a:ext cx="1217295" cy="285115"/>
          </a:xfrm>
          <a:custGeom>
            <a:avLst/>
            <a:gdLst/>
            <a:ahLst/>
            <a:cxnLst/>
            <a:rect l="l" t="t" r="r" b="b"/>
            <a:pathLst>
              <a:path w="1217295" h="285114">
                <a:moveTo>
                  <a:pt x="0" y="284856"/>
                </a:moveTo>
                <a:lnTo>
                  <a:pt x="1216853" y="284856"/>
                </a:lnTo>
                <a:lnTo>
                  <a:pt x="1216853" y="0"/>
                </a:lnTo>
                <a:lnTo>
                  <a:pt x="0" y="0"/>
                </a:lnTo>
                <a:lnTo>
                  <a:pt x="0" y="284856"/>
                </a:lnTo>
                <a:close/>
              </a:path>
            </a:pathLst>
          </a:custGeom>
          <a:solidFill>
            <a:srgbClr val="C5E3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11587" y="3842371"/>
            <a:ext cx="840740" cy="313055"/>
          </a:xfrm>
          <a:custGeom>
            <a:avLst/>
            <a:gdLst/>
            <a:ahLst/>
            <a:cxnLst/>
            <a:rect l="l" t="t" r="r" b="b"/>
            <a:pathLst>
              <a:path w="840739" h="313054">
                <a:moveTo>
                  <a:pt x="0" y="312600"/>
                </a:moveTo>
                <a:lnTo>
                  <a:pt x="840196" y="312600"/>
                </a:lnTo>
                <a:lnTo>
                  <a:pt x="840196" y="0"/>
                </a:lnTo>
              </a:path>
            </a:pathLst>
          </a:custGeom>
          <a:ln w="37670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73905" y="4098462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4" h="113029">
                <a:moveTo>
                  <a:pt x="113050" y="0"/>
                </a:moveTo>
                <a:lnTo>
                  <a:pt x="0" y="56509"/>
                </a:lnTo>
                <a:lnTo>
                  <a:pt x="113050" y="113019"/>
                </a:lnTo>
                <a:lnTo>
                  <a:pt x="11305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33851" y="3588432"/>
            <a:ext cx="943610" cy="6985"/>
          </a:xfrm>
          <a:custGeom>
            <a:avLst/>
            <a:gdLst/>
            <a:ahLst/>
            <a:cxnLst/>
            <a:rect l="l" t="t" r="r" b="b"/>
            <a:pathLst>
              <a:path w="943610" h="6985">
                <a:moveTo>
                  <a:pt x="0" y="6856"/>
                </a:moveTo>
                <a:lnTo>
                  <a:pt x="943392" y="0"/>
                </a:lnTo>
              </a:path>
            </a:pathLst>
          </a:custGeom>
          <a:ln w="37669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1499" y="3532479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4" h="113029">
                <a:moveTo>
                  <a:pt x="0" y="0"/>
                </a:moveTo>
                <a:lnTo>
                  <a:pt x="822" y="112989"/>
                </a:lnTo>
                <a:lnTo>
                  <a:pt x="113446" y="55656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05014" y="2805549"/>
            <a:ext cx="1221970" cy="3241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29947" y="2830483"/>
            <a:ext cx="1159626" cy="2784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50643" y="2830205"/>
            <a:ext cx="1130935" cy="235585"/>
          </a:xfrm>
          <a:custGeom>
            <a:avLst/>
            <a:gdLst/>
            <a:ahLst/>
            <a:cxnLst/>
            <a:rect l="l" t="t" r="r" b="b"/>
            <a:pathLst>
              <a:path w="1130935" h="235585">
                <a:moveTo>
                  <a:pt x="0" y="235076"/>
                </a:moveTo>
                <a:lnTo>
                  <a:pt x="1130521" y="235076"/>
                </a:lnTo>
                <a:lnTo>
                  <a:pt x="1130521" y="0"/>
                </a:lnTo>
                <a:lnTo>
                  <a:pt x="0" y="0"/>
                </a:lnTo>
                <a:lnTo>
                  <a:pt x="0" y="235076"/>
                </a:lnTo>
                <a:close/>
              </a:path>
            </a:pathLst>
          </a:custGeom>
          <a:solidFill>
            <a:srgbClr val="DADB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2606" y="5474254"/>
            <a:ext cx="427990" cy="3810"/>
          </a:xfrm>
          <a:custGeom>
            <a:avLst/>
            <a:gdLst/>
            <a:ahLst/>
            <a:cxnLst/>
            <a:rect l="l" t="t" r="r" b="b"/>
            <a:pathLst>
              <a:path w="427990" h="3810">
                <a:moveTo>
                  <a:pt x="0" y="3644"/>
                </a:moveTo>
                <a:lnTo>
                  <a:pt x="427457" y="0"/>
                </a:lnTo>
              </a:path>
            </a:pathLst>
          </a:custGeom>
          <a:ln w="37669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14223" y="5418402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5" h="113029">
                <a:moveTo>
                  <a:pt x="0" y="0"/>
                </a:moveTo>
                <a:lnTo>
                  <a:pt x="963" y="113004"/>
                </a:lnTo>
                <a:lnTo>
                  <a:pt x="113525" y="55531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2606" y="5618274"/>
            <a:ext cx="427990" cy="7620"/>
          </a:xfrm>
          <a:custGeom>
            <a:avLst/>
            <a:gdLst/>
            <a:ahLst/>
            <a:cxnLst/>
            <a:rect l="l" t="t" r="r" b="b"/>
            <a:pathLst>
              <a:path w="427990" h="7620">
                <a:moveTo>
                  <a:pt x="0" y="7298"/>
                </a:moveTo>
                <a:lnTo>
                  <a:pt x="427466" y="0"/>
                </a:lnTo>
              </a:path>
            </a:pathLst>
          </a:custGeom>
          <a:ln w="37669">
            <a:solidFill>
              <a:srgbClr val="FFC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13745" y="5563063"/>
            <a:ext cx="114300" cy="113030"/>
          </a:xfrm>
          <a:custGeom>
            <a:avLst/>
            <a:gdLst/>
            <a:ahLst/>
            <a:cxnLst/>
            <a:rect l="l" t="t" r="r" b="b"/>
            <a:pathLst>
              <a:path w="114300" h="113029">
                <a:moveTo>
                  <a:pt x="0" y="0"/>
                </a:moveTo>
                <a:lnTo>
                  <a:pt x="1929" y="112992"/>
                </a:lnTo>
                <a:lnTo>
                  <a:pt x="114004" y="54568"/>
                </a:lnTo>
                <a:lnTo>
                  <a:pt x="0" y="0"/>
                </a:lnTo>
                <a:close/>
              </a:path>
            </a:pathLst>
          </a:custGeom>
          <a:solidFill>
            <a:srgbClr val="FFC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24721" y="4457952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29" h="146685">
                <a:moveTo>
                  <a:pt x="71054" y="0"/>
                </a:moveTo>
                <a:lnTo>
                  <a:pt x="31150" y="13908"/>
                </a:lnTo>
                <a:lnTo>
                  <a:pt x="5527" y="45738"/>
                </a:lnTo>
                <a:lnTo>
                  <a:pt x="0" y="73387"/>
                </a:lnTo>
                <a:lnTo>
                  <a:pt x="1180" y="86320"/>
                </a:lnTo>
                <a:lnTo>
                  <a:pt x="18609" y="120543"/>
                </a:lnTo>
                <a:lnTo>
                  <a:pt x="54261" y="141896"/>
                </a:lnTo>
                <a:lnTo>
                  <a:pt x="86492" y="146112"/>
                </a:lnTo>
                <a:lnTo>
                  <a:pt x="99782" y="142970"/>
                </a:lnTo>
                <a:lnTo>
                  <a:pt x="132511" y="120413"/>
                </a:lnTo>
                <a:lnTo>
                  <a:pt x="149623" y="81356"/>
                </a:lnTo>
                <a:lnTo>
                  <a:pt x="150766" y="65381"/>
                </a:lnTo>
                <a:lnTo>
                  <a:pt x="147932" y="51991"/>
                </a:lnTo>
                <a:lnTo>
                  <a:pt x="125579" y="18832"/>
                </a:lnTo>
                <a:lnTo>
                  <a:pt x="86724" y="1263"/>
                </a:lnTo>
                <a:lnTo>
                  <a:pt x="71054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24694" y="4457951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29" h="146685">
                <a:moveTo>
                  <a:pt x="0" y="73372"/>
                </a:moveTo>
                <a:lnTo>
                  <a:pt x="12038" y="33571"/>
                </a:lnTo>
                <a:lnTo>
                  <a:pt x="43248" y="6926"/>
                </a:lnTo>
                <a:lnTo>
                  <a:pt x="71071" y="0"/>
                </a:lnTo>
                <a:lnTo>
                  <a:pt x="86735" y="1263"/>
                </a:lnTo>
                <a:lnTo>
                  <a:pt x="125593" y="18828"/>
                </a:lnTo>
                <a:lnTo>
                  <a:pt x="147959" y="51981"/>
                </a:lnTo>
                <a:lnTo>
                  <a:pt x="150796" y="65368"/>
                </a:lnTo>
                <a:lnTo>
                  <a:pt x="149652" y="81337"/>
                </a:lnTo>
                <a:lnTo>
                  <a:pt x="132533" y="120394"/>
                </a:lnTo>
                <a:lnTo>
                  <a:pt x="99807" y="142963"/>
                </a:lnTo>
                <a:lnTo>
                  <a:pt x="86523" y="146109"/>
                </a:lnTo>
                <a:lnTo>
                  <a:pt x="69650" y="145148"/>
                </a:lnTo>
                <a:lnTo>
                  <a:pt x="28669" y="129379"/>
                </a:lnTo>
                <a:lnTo>
                  <a:pt x="4772" y="98809"/>
                </a:lnTo>
                <a:lnTo>
                  <a:pt x="0" y="73372"/>
                </a:lnTo>
                <a:close/>
              </a:path>
            </a:pathLst>
          </a:custGeom>
          <a:ln w="6279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73967" y="3354638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29" h="146685">
                <a:moveTo>
                  <a:pt x="71060" y="0"/>
                </a:moveTo>
                <a:lnTo>
                  <a:pt x="31158" y="13915"/>
                </a:lnTo>
                <a:lnTo>
                  <a:pt x="5529" y="45742"/>
                </a:lnTo>
                <a:lnTo>
                  <a:pt x="0" y="73386"/>
                </a:lnTo>
                <a:lnTo>
                  <a:pt x="1192" y="86383"/>
                </a:lnTo>
                <a:lnTo>
                  <a:pt x="18652" y="120583"/>
                </a:lnTo>
                <a:lnTo>
                  <a:pt x="54320" y="141924"/>
                </a:lnTo>
                <a:lnTo>
                  <a:pt x="86553" y="146135"/>
                </a:lnTo>
                <a:lnTo>
                  <a:pt x="99831" y="142985"/>
                </a:lnTo>
                <a:lnTo>
                  <a:pt x="132542" y="120407"/>
                </a:lnTo>
                <a:lnTo>
                  <a:pt x="149651" y="81336"/>
                </a:lnTo>
                <a:lnTo>
                  <a:pt x="150794" y="65360"/>
                </a:lnTo>
                <a:lnTo>
                  <a:pt x="147955" y="51974"/>
                </a:lnTo>
                <a:lnTo>
                  <a:pt x="125586" y="18825"/>
                </a:lnTo>
                <a:lnTo>
                  <a:pt x="86726" y="1262"/>
                </a:lnTo>
                <a:lnTo>
                  <a:pt x="7106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73971" y="3354645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29" h="146685">
                <a:moveTo>
                  <a:pt x="0" y="73372"/>
                </a:moveTo>
                <a:lnTo>
                  <a:pt x="12031" y="33571"/>
                </a:lnTo>
                <a:lnTo>
                  <a:pt x="43235" y="6926"/>
                </a:lnTo>
                <a:lnTo>
                  <a:pt x="71068" y="0"/>
                </a:lnTo>
                <a:lnTo>
                  <a:pt x="86734" y="1263"/>
                </a:lnTo>
                <a:lnTo>
                  <a:pt x="125586" y="18835"/>
                </a:lnTo>
                <a:lnTo>
                  <a:pt x="147936" y="51998"/>
                </a:lnTo>
                <a:lnTo>
                  <a:pt x="150768" y="65388"/>
                </a:lnTo>
                <a:lnTo>
                  <a:pt x="149623" y="81357"/>
                </a:lnTo>
                <a:lnTo>
                  <a:pt x="132505" y="120411"/>
                </a:lnTo>
                <a:lnTo>
                  <a:pt x="99773" y="142973"/>
                </a:lnTo>
                <a:lnTo>
                  <a:pt x="86485" y="146114"/>
                </a:lnTo>
                <a:lnTo>
                  <a:pt x="69610" y="145151"/>
                </a:lnTo>
                <a:lnTo>
                  <a:pt x="28637" y="129371"/>
                </a:lnTo>
                <a:lnTo>
                  <a:pt x="4759" y="98786"/>
                </a:lnTo>
                <a:lnTo>
                  <a:pt x="0" y="73372"/>
                </a:lnTo>
                <a:close/>
              </a:path>
            </a:pathLst>
          </a:custGeom>
          <a:ln w="6279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77322" y="3872036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29" h="146685">
                <a:moveTo>
                  <a:pt x="71060" y="0"/>
                </a:moveTo>
                <a:lnTo>
                  <a:pt x="31158" y="13915"/>
                </a:lnTo>
                <a:lnTo>
                  <a:pt x="5529" y="45742"/>
                </a:lnTo>
                <a:lnTo>
                  <a:pt x="0" y="73386"/>
                </a:lnTo>
                <a:lnTo>
                  <a:pt x="1193" y="86388"/>
                </a:lnTo>
                <a:lnTo>
                  <a:pt x="18655" y="120586"/>
                </a:lnTo>
                <a:lnTo>
                  <a:pt x="54324" y="141924"/>
                </a:lnTo>
                <a:lnTo>
                  <a:pt x="86560" y="146135"/>
                </a:lnTo>
                <a:lnTo>
                  <a:pt x="99843" y="142986"/>
                </a:lnTo>
                <a:lnTo>
                  <a:pt x="132553" y="120407"/>
                </a:lnTo>
                <a:lnTo>
                  <a:pt x="149652" y="81336"/>
                </a:lnTo>
                <a:lnTo>
                  <a:pt x="150795" y="65360"/>
                </a:lnTo>
                <a:lnTo>
                  <a:pt x="147957" y="51974"/>
                </a:lnTo>
                <a:lnTo>
                  <a:pt x="125598" y="18825"/>
                </a:lnTo>
                <a:lnTo>
                  <a:pt x="86735" y="1262"/>
                </a:lnTo>
                <a:lnTo>
                  <a:pt x="7106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77312" y="3872033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29" h="146685">
                <a:moveTo>
                  <a:pt x="0" y="73400"/>
                </a:moveTo>
                <a:lnTo>
                  <a:pt x="12030" y="33590"/>
                </a:lnTo>
                <a:lnTo>
                  <a:pt x="43228" y="6939"/>
                </a:lnTo>
                <a:lnTo>
                  <a:pt x="71050" y="0"/>
                </a:lnTo>
                <a:lnTo>
                  <a:pt x="86723" y="1261"/>
                </a:lnTo>
                <a:lnTo>
                  <a:pt x="125587" y="18817"/>
                </a:lnTo>
                <a:lnTo>
                  <a:pt x="147951" y="51963"/>
                </a:lnTo>
                <a:lnTo>
                  <a:pt x="150792" y="65351"/>
                </a:lnTo>
                <a:lnTo>
                  <a:pt x="149650" y="81332"/>
                </a:lnTo>
                <a:lnTo>
                  <a:pt x="132550" y="120409"/>
                </a:lnTo>
                <a:lnTo>
                  <a:pt x="99846" y="142986"/>
                </a:lnTo>
                <a:lnTo>
                  <a:pt x="86567" y="146135"/>
                </a:lnTo>
                <a:lnTo>
                  <a:pt x="69685" y="145175"/>
                </a:lnTo>
                <a:lnTo>
                  <a:pt x="28689" y="129416"/>
                </a:lnTo>
                <a:lnTo>
                  <a:pt x="4783" y="98863"/>
                </a:lnTo>
                <a:lnTo>
                  <a:pt x="0" y="73400"/>
                </a:lnTo>
                <a:close/>
              </a:path>
            </a:pathLst>
          </a:custGeom>
          <a:ln w="6279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431944" y="3171174"/>
            <a:ext cx="168910" cy="156845"/>
          </a:xfrm>
          <a:custGeom>
            <a:avLst/>
            <a:gdLst/>
            <a:ahLst/>
            <a:cxnLst/>
            <a:rect l="l" t="t" r="r" b="b"/>
            <a:pathLst>
              <a:path w="168910" h="156845">
                <a:moveTo>
                  <a:pt x="83362" y="0"/>
                </a:moveTo>
                <a:lnTo>
                  <a:pt x="41250" y="10972"/>
                </a:lnTo>
                <a:lnTo>
                  <a:pt x="11362" y="39027"/>
                </a:lnTo>
                <a:lnTo>
                  <a:pt x="0" y="78328"/>
                </a:lnTo>
                <a:lnTo>
                  <a:pt x="53" y="81136"/>
                </a:lnTo>
                <a:lnTo>
                  <a:pt x="12587" y="119352"/>
                </a:lnTo>
                <a:lnTo>
                  <a:pt x="43311" y="146371"/>
                </a:lnTo>
                <a:lnTo>
                  <a:pt x="86691" y="156601"/>
                </a:lnTo>
                <a:lnTo>
                  <a:pt x="101482" y="155009"/>
                </a:lnTo>
                <a:lnTo>
                  <a:pt x="139596" y="137323"/>
                </a:lnTo>
                <a:lnTo>
                  <a:pt x="163561" y="104407"/>
                </a:lnTo>
                <a:lnTo>
                  <a:pt x="168656" y="76623"/>
                </a:lnTo>
                <a:lnTo>
                  <a:pt x="167019" y="62803"/>
                </a:lnTo>
                <a:lnTo>
                  <a:pt x="148134" y="27182"/>
                </a:lnTo>
                <a:lnTo>
                  <a:pt x="112938" y="4771"/>
                </a:lnTo>
                <a:lnTo>
                  <a:pt x="83362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31946" y="3171159"/>
            <a:ext cx="168910" cy="156845"/>
          </a:xfrm>
          <a:custGeom>
            <a:avLst/>
            <a:gdLst/>
            <a:ahLst/>
            <a:cxnLst/>
            <a:rect l="l" t="t" r="r" b="b"/>
            <a:pathLst>
              <a:path w="168910" h="156845">
                <a:moveTo>
                  <a:pt x="0" y="78343"/>
                </a:moveTo>
                <a:lnTo>
                  <a:pt x="11363" y="39041"/>
                </a:lnTo>
                <a:lnTo>
                  <a:pt x="41249" y="10978"/>
                </a:lnTo>
                <a:lnTo>
                  <a:pt x="83349" y="0"/>
                </a:lnTo>
                <a:lnTo>
                  <a:pt x="98602" y="1228"/>
                </a:lnTo>
                <a:lnTo>
                  <a:pt x="137904" y="17970"/>
                </a:lnTo>
                <a:lnTo>
                  <a:pt x="162881" y="49832"/>
                </a:lnTo>
                <a:lnTo>
                  <a:pt x="168629" y="76639"/>
                </a:lnTo>
                <a:lnTo>
                  <a:pt x="167321" y="90981"/>
                </a:lnTo>
                <a:lnTo>
                  <a:pt x="149440" y="127799"/>
                </a:lnTo>
                <a:lnTo>
                  <a:pt x="115369" y="151160"/>
                </a:lnTo>
                <a:lnTo>
                  <a:pt x="86678" y="156630"/>
                </a:lnTo>
                <a:lnTo>
                  <a:pt x="71159" y="155431"/>
                </a:lnTo>
                <a:lnTo>
                  <a:pt x="31391" y="138975"/>
                </a:lnTo>
                <a:lnTo>
                  <a:pt x="6115" y="107595"/>
                </a:lnTo>
                <a:lnTo>
                  <a:pt x="0" y="78343"/>
                </a:lnTo>
                <a:close/>
              </a:path>
            </a:pathLst>
          </a:custGeom>
          <a:ln w="6279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470251" y="3193854"/>
            <a:ext cx="1249680" cy="60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985" indent="-248920">
              <a:lnSpc>
                <a:spcPct val="100000"/>
              </a:lnSpc>
            </a:pPr>
            <a:r>
              <a:rPr sz="800" b="1" spc="-15" dirty="0">
                <a:latin typeface="Verdana"/>
                <a:cs typeface="Verdana"/>
              </a:rPr>
              <a:t>7</a:t>
            </a:r>
            <a:r>
              <a:rPr sz="800" b="1" spc="-15" dirty="0">
                <a:latin typeface="Times New Roman"/>
                <a:cs typeface="Times New Roman"/>
              </a:rPr>
              <a:t>  </a:t>
            </a:r>
            <a:r>
              <a:rPr sz="800" b="1" spc="30" dirty="0"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Launch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Doc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k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er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Container</a:t>
            </a:r>
            <a:endParaRPr sz="650">
              <a:latin typeface="Verdana"/>
              <a:cs typeface="Verdana"/>
            </a:endParaRPr>
          </a:p>
          <a:p>
            <a:pPr marL="248920" marR="121920" indent="32384" algn="just">
              <a:lnSpc>
                <a:spcPct val="101800"/>
              </a:lnSpc>
              <a:spcBef>
                <a:spcPts val="610"/>
              </a:spcBef>
            </a:pP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K8s</a:t>
            </a:r>
            <a:r>
              <a:rPr sz="85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850" b="1" spc="10" dirty="0">
                <a:solidFill>
                  <a:srgbClr val="FFFFFF"/>
                </a:solidFill>
                <a:latin typeface="Verdana"/>
                <a:cs typeface="Verdana"/>
              </a:rPr>
              <a:t>ervi</a:t>
            </a: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850" b="1" spc="15" dirty="0">
                <a:solidFill>
                  <a:srgbClr val="FFFFFF"/>
                </a:solidFill>
                <a:latin typeface="Verdana"/>
                <a:cs typeface="Verdana"/>
              </a:rPr>
              <a:t>es</a:t>
            </a:r>
            <a:r>
              <a:rPr sz="85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(API,</a:t>
            </a:r>
            <a:r>
              <a:rPr sz="85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Master,</a:t>
            </a:r>
            <a:r>
              <a:rPr sz="8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Verdana"/>
                <a:cs typeface="Verdana"/>
              </a:rPr>
              <a:t>Rep</a:t>
            </a:r>
            <a:r>
              <a:rPr sz="850" b="1" spc="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85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Kubelet)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49716" y="3330902"/>
            <a:ext cx="900430" cy="540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3400"/>
              </a:lnSpc>
            </a:pP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K8s</a:t>
            </a:r>
            <a:r>
              <a:rPr sz="8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850" i="1" spc="20" dirty="0">
                <a:solidFill>
                  <a:srgbClr val="FFFFFF"/>
                </a:solidFill>
                <a:latin typeface="Verdana"/>
                <a:cs typeface="Verdana"/>
              </a:rPr>
              <a:t>Dashboard</a:t>
            </a:r>
            <a:r>
              <a:rPr sz="850" i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15" dirty="0">
                <a:solidFill>
                  <a:srgbClr val="FFFFFF"/>
                </a:solidFill>
                <a:latin typeface="Verdana"/>
                <a:cs typeface="Verdana"/>
              </a:rPr>
              <a:t>(or)</a:t>
            </a:r>
            <a:r>
              <a:rPr sz="85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15" dirty="0">
                <a:solidFill>
                  <a:srgbClr val="FFFFFF"/>
                </a:solidFill>
                <a:latin typeface="Verdana"/>
                <a:cs typeface="Verdana"/>
              </a:rPr>
              <a:t>kubectl</a:t>
            </a:r>
            <a:r>
              <a:rPr sz="850" i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20" dirty="0">
                <a:solidFill>
                  <a:srgbClr val="FFFFFF"/>
                </a:solidFill>
                <a:latin typeface="Verdana"/>
                <a:cs typeface="Verdana"/>
              </a:rPr>
              <a:t>w/</a:t>
            </a:r>
            <a:r>
              <a:rPr sz="850" i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20" dirty="0">
                <a:solidFill>
                  <a:srgbClr val="FFFFFF"/>
                </a:solidFill>
                <a:latin typeface="Verdana"/>
                <a:cs typeface="Verdana"/>
              </a:rPr>
              <a:t>SDS</a:t>
            </a:r>
            <a:r>
              <a:rPr sz="85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15" dirty="0">
                <a:solidFill>
                  <a:srgbClr val="FFFFFF"/>
                </a:solidFill>
                <a:latin typeface="Verdana"/>
                <a:cs typeface="Verdana"/>
              </a:rPr>
              <a:t>plug-in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26068" y="4471315"/>
            <a:ext cx="647065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Create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v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olume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26068" y="4571768"/>
            <a:ext cx="514984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on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bac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k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end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71827" y="4760173"/>
            <a:ext cx="102743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0" dirty="0">
                <a:latin typeface="Verdana"/>
                <a:cs typeface="Verdana"/>
              </a:rPr>
              <a:t>NVMe-oF</a:t>
            </a:r>
            <a:r>
              <a:rPr sz="850" b="1" spc="90" dirty="0">
                <a:latin typeface="Times New Roman"/>
                <a:cs typeface="Times New Roman"/>
              </a:rPr>
              <a:t> </a:t>
            </a:r>
            <a:r>
              <a:rPr sz="850" b="1" spc="15" dirty="0">
                <a:latin typeface="Verdana"/>
                <a:cs typeface="Verdana"/>
              </a:rPr>
              <a:t>Driver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64016" y="3345141"/>
            <a:ext cx="517525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Create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SDS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64016" y="3445595"/>
            <a:ext cx="336550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v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o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l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ume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97314" y="2886744"/>
            <a:ext cx="104394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spc="25" dirty="0">
                <a:latin typeface="Verdana"/>
                <a:cs typeface="Verdana"/>
              </a:rPr>
              <a:t>D</a:t>
            </a:r>
            <a:r>
              <a:rPr sz="850" b="1" spc="15" dirty="0">
                <a:latin typeface="Verdana"/>
                <a:cs typeface="Verdana"/>
              </a:rPr>
              <a:t>ocker</a:t>
            </a:r>
            <a:r>
              <a:rPr sz="850" b="1" spc="90" dirty="0">
                <a:latin typeface="Times New Roman"/>
                <a:cs typeface="Times New Roman"/>
              </a:rPr>
              <a:t> </a:t>
            </a:r>
            <a:r>
              <a:rPr sz="850" b="1" spc="20" dirty="0">
                <a:latin typeface="Verdana"/>
                <a:cs typeface="Verdana"/>
              </a:rPr>
              <a:t>Runtime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80766" y="3878656"/>
            <a:ext cx="477520" cy="21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00"/>
              </a:lnSpc>
            </a:pP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Create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sds</a:t>
            </a:r>
            <a:r>
              <a:rPr sz="65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v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o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l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ume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56458" y="4039992"/>
            <a:ext cx="1163781" cy="4488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8146" y="4056626"/>
            <a:ext cx="1172093" cy="40732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0791" y="4065727"/>
            <a:ext cx="1074420" cy="357505"/>
          </a:xfrm>
          <a:custGeom>
            <a:avLst/>
            <a:gdLst/>
            <a:ahLst/>
            <a:cxnLst/>
            <a:rect l="l" t="t" r="r" b="b"/>
            <a:pathLst>
              <a:path w="1074420" h="357504">
                <a:moveTo>
                  <a:pt x="1014493" y="0"/>
                </a:moveTo>
                <a:lnTo>
                  <a:pt x="50378" y="695"/>
                </a:lnTo>
                <a:lnTo>
                  <a:pt x="14491" y="20585"/>
                </a:lnTo>
                <a:lnTo>
                  <a:pt x="0" y="59496"/>
                </a:lnTo>
                <a:lnTo>
                  <a:pt x="695" y="306550"/>
                </a:lnTo>
                <a:lnTo>
                  <a:pt x="20589" y="342432"/>
                </a:lnTo>
                <a:lnTo>
                  <a:pt x="59506" y="356920"/>
                </a:lnTo>
                <a:lnTo>
                  <a:pt x="1023623" y="356224"/>
                </a:lnTo>
                <a:lnTo>
                  <a:pt x="1059511" y="336334"/>
                </a:lnTo>
                <a:lnTo>
                  <a:pt x="1074002" y="297423"/>
                </a:lnTo>
                <a:lnTo>
                  <a:pt x="1073306" y="50368"/>
                </a:lnTo>
                <a:lnTo>
                  <a:pt x="1053411" y="14487"/>
                </a:lnTo>
                <a:lnTo>
                  <a:pt x="1014493" y="0"/>
                </a:lnTo>
                <a:close/>
              </a:path>
            </a:pathLst>
          </a:custGeom>
          <a:solidFill>
            <a:srgbClr val="FFB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337784" y="4460319"/>
            <a:ext cx="1837055" cy="361315"/>
          </a:xfrm>
          <a:custGeom>
            <a:avLst/>
            <a:gdLst/>
            <a:ahLst/>
            <a:cxnLst/>
            <a:rect l="l" t="t" r="r" b="b"/>
            <a:pathLst>
              <a:path w="1837055" h="361314">
                <a:moveTo>
                  <a:pt x="1836640" y="360831"/>
                </a:moveTo>
                <a:lnTo>
                  <a:pt x="0" y="360831"/>
                </a:lnTo>
                <a:lnTo>
                  <a:pt x="0" y="0"/>
                </a:lnTo>
              </a:path>
            </a:pathLst>
          </a:custGeom>
          <a:ln w="37669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281266" y="4422648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5" h="113029">
                <a:moveTo>
                  <a:pt x="56519" y="0"/>
                </a:moveTo>
                <a:lnTo>
                  <a:pt x="0" y="112989"/>
                </a:lnTo>
                <a:lnTo>
                  <a:pt x="113050" y="112989"/>
                </a:lnTo>
                <a:lnTo>
                  <a:pt x="56519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64766" y="4577739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30" h="146685">
                <a:moveTo>
                  <a:pt x="71058" y="0"/>
                </a:moveTo>
                <a:lnTo>
                  <a:pt x="31153" y="13913"/>
                </a:lnTo>
                <a:lnTo>
                  <a:pt x="5527" y="45741"/>
                </a:lnTo>
                <a:lnTo>
                  <a:pt x="0" y="73386"/>
                </a:lnTo>
                <a:lnTo>
                  <a:pt x="1184" y="86341"/>
                </a:lnTo>
                <a:lnTo>
                  <a:pt x="18625" y="120557"/>
                </a:lnTo>
                <a:lnTo>
                  <a:pt x="54282" y="141907"/>
                </a:lnTo>
                <a:lnTo>
                  <a:pt x="86512" y="146122"/>
                </a:lnTo>
                <a:lnTo>
                  <a:pt x="99795" y="142979"/>
                </a:lnTo>
                <a:lnTo>
                  <a:pt x="132517" y="120415"/>
                </a:lnTo>
                <a:lnTo>
                  <a:pt x="149631" y="81351"/>
                </a:lnTo>
                <a:lnTo>
                  <a:pt x="150775" y="65375"/>
                </a:lnTo>
                <a:lnTo>
                  <a:pt x="147938" y="51986"/>
                </a:lnTo>
                <a:lnTo>
                  <a:pt x="125579" y="18830"/>
                </a:lnTo>
                <a:lnTo>
                  <a:pt x="86725" y="1263"/>
                </a:lnTo>
                <a:lnTo>
                  <a:pt x="71058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364761" y="4577744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30" h="146685">
                <a:moveTo>
                  <a:pt x="0" y="73372"/>
                </a:moveTo>
                <a:lnTo>
                  <a:pt x="12032" y="33573"/>
                </a:lnTo>
                <a:lnTo>
                  <a:pt x="43239" y="6929"/>
                </a:lnTo>
                <a:lnTo>
                  <a:pt x="71070" y="0"/>
                </a:lnTo>
                <a:lnTo>
                  <a:pt x="86735" y="1263"/>
                </a:lnTo>
                <a:lnTo>
                  <a:pt x="125589" y="18832"/>
                </a:lnTo>
                <a:lnTo>
                  <a:pt x="147945" y="51991"/>
                </a:lnTo>
                <a:lnTo>
                  <a:pt x="150780" y="65380"/>
                </a:lnTo>
                <a:lnTo>
                  <a:pt x="149635" y="81348"/>
                </a:lnTo>
                <a:lnTo>
                  <a:pt x="132521" y="120412"/>
                </a:lnTo>
                <a:lnTo>
                  <a:pt x="99804" y="142992"/>
                </a:lnTo>
                <a:lnTo>
                  <a:pt x="86523" y="146140"/>
                </a:lnTo>
                <a:lnTo>
                  <a:pt x="69647" y="145177"/>
                </a:lnTo>
                <a:lnTo>
                  <a:pt x="28669" y="129402"/>
                </a:lnTo>
                <a:lnTo>
                  <a:pt x="4776" y="98827"/>
                </a:lnTo>
                <a:lnTo>
                  <a:pt x="0" y="73372"/>
                </a:lnTo>
                <a:close/>
              </a:path>
            </a:pathLst>
          </a:custGeom>
          <a:ln w="6279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347570" y="3463154"/>
            <a:ext cx="1205865" cy="565150"/>
          </a:xfrm>
          <a:custGeom>
            <a:avLst/>
            <a:gdLst/>
            <a:ahLst/>
            <a:cxnLst/>
            <a:rect l="l" t="t" r="r" b="b"/>
            <a:pathLst>
              <a:path w="1205864" h="565150">
                <a:moveTo>
                  <a:pt x="0" y="564893"/>
                </a:moveTo>
                <a:lnTo>
                  <a:pt x="0" y="0"/>
                </a:lnTo>
                <a:lnTo>
                  <a:pt x="1205694" y="0"/>
                </a:lnTo>
              </a:path>
            </a:pathLst>
          </a:custGeom>
          <a:ln w="37681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291053" y="3952707"/>
            <a:ext cx="113664" cy="113030"/>
          </a:xfrm>
          <a:custGeom>
            <a:avLst/>
            <a:gdLst/>
            <a:ahLst/>
            <a:cxnLst/>
            <a:rect l="l" t="t" r="r" b="b"/>
            <a:pathLst>
              <a:path w="113665" h="113029">
                <a:moveTo>
                  <a:pt x="113050" y="0"/>
                </a:moveTo>
                <a:lnTo>
                  <a:pt x="0" y="0"/>
                </a:lnTo>
                <a:lnTo>
                  <a:pt x="56519" y="113019"/>
                </a:lnTo>
                <a:lnTo>
                  <a:pt x="11305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30460" y="3734662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29" h="146685">
                <a:moveTo>
                  <a:pt x="71058" y="0"/>
                </a:moveTo>
                <a:lnTo>
                  <a:pt x="31153" y="13913"/>
                </a:lnTo>
                <a:lnTo>
                  <a:pt x="5527" y="45741"/>
                </a:lnTo>
                <a:lnTo>
                  <a:pt x="0" y="73386"/>
                </a:lnTo>
                <a:lnTo>
                  <a:pt x="1190" y="86375"/>
                </a:lnTo>
                <a:lnTo>
                  <a:pt x="18642" y="120580"/>
                </a:lnTo>
                <a:lnTo>
                  <a:pt x="54305" y="141924"/>
                </a:lnTo>
                <a:lnTo>
                  <a:pt x="86541" y="146136"/>
                </a:lnTo>
                <a:lnTo>
                  <a:pt x="99820" y="142988"/>
                </a:lnTo>
                <a:lnTo>
                  <a:pt x="132532" y="120411"/>
                </a:lnTo>
                <a:lnTo>
                  <a:pt x="149642" y="81341"/>
                </a:lnTo>
                <a:lnTo>
                  <a:pt x="150786" y="65366"/>
                </a:lnTo>
                <a:lnTo>
                  <a:pt x="147947" y="51979"/>
                </a:lnTo>
                <a:lnTo>
                  <a:pt x="125582" y="18827"/>
                </a:lnTo>
                <a:lnTo>
                  <a:pt x="86724" y="1263"/>
                </a:lnTo>
                <a:lnTo>
                  <a:pt x="71058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30458" y="3734654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29" h="146685">
                <a:moveTo>
                  <a:pt x="0" y="73372"/>
                </a:moveTo>
                <a:lnTo>
                  <a:pt x="12032" y="33573"/>
                </a:lnTo>
                <a:lnTo>
                  <a:pt x="43237" y="6929"/>
                </a:lnTo>
                <a:lnTo>
                  <a:pt x="71070" y="0"/>
                </a:lnTo>
                <a:lnTo>
                  <a:pt x="86734" y="1263"/>
                </a:lnTo>
                <a:lnTo>
                  <a:pt x="125590" y="18830"/>
                </a:lnTo>
                <a:lnTo>
                  <a:pt x="147952" y="51985"/>
                </a:lnTo>
                <a:lnTo>
                  <a:pt x="150788" y="65373"/>
                </a:lnTo>
                <a:lnTo>
                  <a:pt x="149643" y="81350"/>
                </a:lnTo>
                <a:lnTo>
                  <a:pt x="132530" y="120419"/>
                </a:lnTo>
                <a:lnTo>
                  <a:pt x="99815" y="142992"/>
                </a:lnTo>
                <a:lnTo>
                  <a:pt x="86535" y="146139"/>
                </a:lnTo>
                <a:lnTo>
                  <a:pt x="69657" y="145178"/>
                </a:lnTo>
                <a:lnTo>
                  <a:pt x="28673" y="129414"/>
                </a:lnTo>
                <a:lnTo>
                  <a:pt x="4778" y="98846"/>
                </a:lnTo>
                <a:lnTo>
                  <a:pt x="0" y="73372"/>
                </a:lnTo>
                <a:close/>
              </a:path>
            </a:pathLst>
          </a:custGeom>
          <a:ln w="6279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519424" y="3685552"/>
            <a:ext cx="1036955" cy="343535"/>
          </a:xfrm>
          <a:custGeom>
            <a:avLst/>
            <a:gdLst/>
            <a:ahLst/>
            <a:cxnLst/>
            <a:rect l="l" t="t" r="r" b="b"/>
            <a:pathLst>
              <a:path w="1036955" h="343535">
                <a:moveTo>
                  <a:pt x="0" y="343165"/>
                </a:moveTo>
                <a:lnTo>
                  <a:pt x="5002" y="0"/>
                </a:lnTo>
                <a:lnTo>
                  <a:pt x="1036877" y="0"/>
                </a:lnTo>
              </a:path>
            </a:pathLst>
          </a:custGeom>
          <a:ln w="37670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464003" y="3952554"/>
            <a:ext cx="113030" cy="114300"/>
          </a:xfrm>
          <a:custGeom>
            <a:avLst/>
            <a:gdLst/>
            <a:ahLst/>
            <a:cxnLst/>
            <a:rect l="l" t="t" r="r" b="b"/>
            <a:pathLst>
              <a:path w="113030" h="114300">
                <a:moveTo>
                  <a:pt x="0" y="0"/>
                </a:moveTo>
                <a:lnTo>
                  <a:pt x="54876" y="113842"/>
                </a:lnTo>
                <a:lnTo>
                  <a:pt x="113038" y="1676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626656" y="3729206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30" h="146685">
                <a:moveTo>
                  <a:pt x="71058" y="0"/>
                </a:moveTo>
                <a:lnTo>
                  <a:pt x="31153" y="13913"/>
                </a:lnTo>
                <a:lnTo>
                  <a:pt x="5527" y="45741"/>
                </a:lnTo>
                <a:lnTo>
                  <a:pt x="0" y="73386"/>
                </a:lnTo>
                <a:lnTo>
                  <a:pt x="1190" y="86375"/>
                </a:lnTo>
                <a:lnTo>
                  <a:pt x="18642" y="120580"/>
                </a:lnTo>
                <a:lnTo>
                  <a:pt x="54305" y="141924"/>
                </a:lnTo>
                <a:lnTo>
                  <a:pt x="86541" y="146136"/>
                </a:lnTo>
                <a:lnTo>
                  <a:pt x="99820" y="142988"/>
                </a:lnTo>
                <a:lnTo>
                  <a:pt x="132532" y="120411"/>
                </a:lnTo>
                <a:lnTo>
                  <a:pt x="149642" y="81341"/>
                </a:lnTo>
                <a:lnTo>
                  <a:pt x="150786" y="65366"/>
                </a:lnTo>
                <a:lnTo>
                  <a:pt x="147947" y="51979"/>
                </a:lnTo>
                <a:lnTo>
                  <a:pt x="125582" y="18827"/>
                </a:lnTo>
                <a:lnTo>
                  <a:pt x="86724" y="1263"/>
                </a:lnTo>
                <a:lnTo>
                  <a:pt x="71058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626652" y="3729200"/>
            <a:ext cx="151130" cy="146685"/>
          </a:xfrm>
          <a:custGeom>
            <a:avLst/>
            <a:gdLst/>
            <a:ahLst/>
            <a:cxnLst/>
            <a:rect l="l" t="t" r="r" b="b"/>
            <a:pathLst>
              <a:path w="151130" h="146685">
                <a:moveTo>
                  <a:pt x="0" y="73372"/>
                </a:moveTo>
                <a:lnTo>
                  <a:pt x="12032" y="33573"/>
                </a:lnTo>
                <a:lnTo>
                  <a:pt x="43237" y="6929"/>
                </a:lnTo>
                <a:lnTo>
                  <a:pt x="71070" y="0"/>
                </a:lnTo>
                <a:lnTo>
                  <a:pt x="86734" y="1263"/>
                </a:lnTo>
                <a:lnTo>
                  <a:pt x="125590" y="18830"/>
                </a:lnTo>
                <a:lnTo>
                  <a:pt x="147952" y="51985"/>
                </a:lnTo>
                <a:lnTo>
                  <a:pt x="150788" y="65373"/>
                </a:lnTo>
                <a:lnTo>
                  <a:pt x="149643" y="81350"/>
                </a:lnTo>
                <a:lnTo>
                  <a:pt x="132530" y="120419"/>
                </a:lnTo>
                <a:lnTo>
                  <a:pt x="99815" y="142992"/>
                </a:lnTo>
                <a:lnTo>
                  <a:pt x="86535" y="146139"/>
                </a:lnTo>
                <a:lnTo>
                  <a:pt x="69657" y="145178"/>
                </a:lnTo>
                <a:lnTo>
                  <a:pt x="28673" y="129414"/>
                </a:lnTo>
                <a:lnTo>
                  <a:pt x="4778" y="98846"/>
                </a:lnTo>
                <a:lnTo>
                  <a:pt x="0" y="73372"/>
                </a:lnTo>
                <a:close/>
              </a:path>
            </a:pathLst>
          </a:custGeom>
          <a:ln w="6279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54386" y="5061940"/>
            <a:ext cx="168275" cy="127635"/>
          </a:xfrm>
          <a:custGeom>
            <a:avLst/>
            <a:gdLst/>
            <a:ahLst/>
            <a:cxnLst/>
            <a:rect l="l" t="t" r="r" b="b"/>
            <a:pathLst>
              <a:path w="168275" h="127635">
                <a:moveTo>
                  <a:pt x="78761" y="0"/>
                </a:moveTo>
                <a:lnTo>
                  <a:pt x="34520" y="12231"/>
                </a:lnTo>
                <a:lnTo>
                  <a:pt x="6123" y="39870"/>
                </a:lnTo>
                <a:lnTo>
                  <a:pt x="0" y="63832"/>
                </a:lnTo>
                <a:lnTo>
                  <a:pt x="41" y="65856"/>
                </a:lnTo>
                <a:lnTo>
                  <a:pt x="21944" y="105768"/>
                </a:lnTo>
                <a:lnTo>
                  <a:pt x="61495" y="123600"/>
                </a:lnTo>
                <a:lnTo>
                  <a:pt x="96947" y="127087"/>
                </a:lnTo>
                <a:lnTo>
                  <a:pt x="111716" y="124303"/>
                </a:lnTo>
                <a:lnTo>
                  <a:pt x="148045" y="104407"/>
                </a:lnTo>
                <a:lnTo>
                  <a:pt x="166926" y="69682"/>
                </a:lnTo>
                <a:lnTo>
                  <a:pt x="168123" y="55365"/>
                </a:lnTo>
                <a:lnTo>
                  <a:pt x="164675" y="43984"/>
                </a:lnTo>
                <a:lnTo>
                  <a:pt x="126703" y="9198"/>
                </a:lnTo>
                <a:lnTo>
                  <a:pt x="78761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254370" y="5061942"/>
            <a:ext cx="168275" cy="127635"/>
          </a:xfrm>
          <a:custGeom>
            <a:avLst/>
            <a:gdLst/>
            <a:ahLst/>
            <a:cxnLst/>
            <a:rect l="l" t="t" r="r" b="b"/>
            <a:pathLst>
              <a:path w="168275" h="127635">
                <a:moveTo>
                  <a:pt x="0" y="63827"/>
                </a:moveTo>
                <a:lnTo>
                  <a:pt x="22883" y="20036"/>
                </a:lnTo>
                <a:lnTo>
                  <a:pt x="62745" y="1988"/>
                </a:lnTo>
                <a:lnTo>
                  <a:pt x="78759" y="0"/>
                </a:lnTo>
                <a:lnTo>
                  <a:pt x="96169" y="1055"/>
                </a:lnTo>
                <a:lnTo>
                  <a:pt x="139398" y="15881"/>
                </a:lnTo>
                <a:lnTo>
                  <a:pt x="168126" y="55358"/>
                </a:lnTo>
                <a:lnTo>
                  <a:pt x="166928" y="69678"/>
                </a:lnTo>
                <a:lnTo>
                  <a:pt x="148044" y="104407"/>
                </a:lnTo>
                <a:lnTo>
                  <a:pt x="111716" y="124303"/>
                </a:lnTo>
                <a:lnTo>
                  <a:pt x="96951" y="127085"/>
                </a:lnTo>
                <a:lnTo>
                  <a:pt x="78395" y="126299"/>
                </a:lnTo>
                <a:lnTo>
                  <a:pt x="33132" y="113157"/>
                </a:lnTo>
                <a:lnTo>
                  <a:pt x="1828" y="77034"/>
                </a:lnTo>
                <a:lnTo>
                  <a:pt x="0" y="63827"/>
                </a:lnTo>
                <a:close/>
              </a:path>
            </a:pathLst>
          </a:custGeom>
          <a:ln w="6279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5050240" y="5070141"/>
            <a:ext cx="984250" cy="478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ct val="100000"/>
              </a:lnSpc>
            </a:pPr>
            <a:r>
              <a:rPr sz="800" b="1" spc="-15" dirty="0">
                <a:latin typeface="Verdana"/>
                <a:cs typeface="Verdana"/>
              </a:rPr>
              <a:t>9</a:t>
            </a:r>
            <a:endParaRPr sz="800">
              <a:latin typeface="Verdana"/>
              <a:cs typeface="Verdana"/>
            </a:endParaRPr>
          </a:p>
          <a:p>
            <a:pPr marL="12700" marR="5080">
              <a:lnSpc>
                <a:spcPct val="101400"/>
              </a:lnSpc>
              <a:spcBef>
                <a:spcPts val="390"/>
              </a:spcBef>
            </a:pP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NVMe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submission,</a:t>
            </a:r>
            <a:r>
              <a:rPr sz="65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completion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commands</a:t>
            </a:r>
            <a:r>
              <a:rPr sz="65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808080"/>
                </a:solidFill>
                <a:latin typeface="Verdana"/>
                <a:cs typeface="Verdana"/>
              </a:rPr>
              <a:t>o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v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er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-30" dirty="0">
                <a:solidFill>
                  <a:srgbClr val="808080"/>
                </a:solidFill>
                <a:latin typeface="Verdana"/>
                <a:cs typeface="Verdana"/>
              </a:rPr>
              <a:t>F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abrics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0355" y="5249382"/>
            <a:ext cx="1290320" cy="483870"/>
          </a:xfrm>
          <a:prstGeom prst="rect">
            <a:avLst/>
          </a:prstGeom>
          <a:ln w="18835">
            <a:solidFill>
              <a:srgbClr val="CACAC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z="750" b="1" spc="10" dirty="0">
                <a:latin typeface="Arial"/>
                <a:cs typeface="Arial"/>
              </a:rPr>
              <a:t>Legend:</a:t>
            </a:r>
            <a:endParaRPr sz="750">
              <a:latin typeface="Arial"/>
              <a:cs typeface="Arial"/>
            </a:endParaRPr>
          </a:p>
          <a:p>
            <a:pPr marL="629920" indent="-635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latin typeface="Arial"/>
                <a:cs typeface="Arial"/>
              </a:rPr>
              <a:t>Control</a:t>
            </a:r>
            <a:r>
              <a:rPr sz="750" spc="25" dirty="0">
                <a:latin typeface="Times New Roman"/>
                <a:cs typeface="Times New Roman"/>
              </a:rPr>
              <a:t> </a:t>
            </a:r>
            <a:r>
              <a:rPr sz="750" spc="10" dirty="0">
                <a:latin typeface="Arial"/>
                <a:cs typeface="Arial"/>
              </a:rPr>
              <a:t>Plane</a:t>
            </a:r>
            <a:endParaRPr sz="750">
              <a:latin typeface="Arial"/>
              <a:cs typeface="Arial"/>
            </a:endParaRPr>
          </a:p>
          <a:p>
            <a:pPr marL="629920">
              <a:lnSpc>
                <a:spcPct val="100000"/>
              </a:lnSpc>
              <a:spcBef>
                <a:spcPts val="334"/>
              </a:spcBef>
            </a:pPr>
            <a:r>
              <a:rPr sz="750" spc="10" dirty="0">
                <a:latin typeface="Arial"/>
                <a:cs typeface="Arial"/>
              </a:rPr>
              <a:t>Data</a:t>
            </a:r>
            <a:r>
              <a:rPr sz="750" spc="25" dirty="0">
                <a:latin typeface="Times New Roman"/>
                <a:cs typeface="Times New Roman"/>
              </a:rPr>
              <a:t> </a:t>
            </a:r>
            <a:r>
              <a:rPr sz="750" spc="10" dirty="0">
                <a:latin typeface="Arial"/>
                <a:cs typeface="Arial"/>
              </a:rPr>
              <a:t>Plane</a:t>
            </a:r>
            <a:endParaRPr sz="7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13846" y="4115394"/>
            <a:ext cx="1053465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20979">
              <a:lnSpc>
                <a:spcPts val="990"/>
              </a:lnSpc>
            </a:pPr>
            <a:r>
              <a:rPr sz="850" b="1" spc="25" dirty="0">
                <a:solidFill>
                  <a:srgbClr val="FFFFFF"/>
                </a:solidFill>
                <a:latin typeface="Verdana"/>
                <a:cs typeface="Verdana"/>
              </a:rPr>
              <a:t>OpenSDS</a:t>
            </a:r>
            <a:r>
              <a:rPr sz="8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Verdana"/>
                <a:cs typeface="Verdana"/>
              </a:rPr>
              <a:t>(Discover,</a:t>
            </a:r>
            <a:r>
              <a:rPr sz="85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Poo</a:t>
            </a:r>
            <a:r>
              <a:rPr sz="850" b="1" spc="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850" b="1" spc="1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30262" y="4498569"/>
            <a:ext cx="1619250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Disc</a:t>
            </a:r>
            <a:r>
              <a:rPr sz="650" dirty="0">
                <a:solidFill>
                  <a:srgbClr val="808080"/>
                </a:solidFill>
                <a:latin typeface="Verdana"/>
                <a:cs typeface="Verdana"/>
              </a:rPr>
              <a:t>o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v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er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NVMe-oF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targets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–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ip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sweep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30265" y="4599022"/>
            <a:ext cx="1740535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#nvme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discover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-t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&lt;transport&gt;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-a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&lt;ip&gt;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30270" y="4699475"/>
            <a:ext cx="450850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-s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&lt;port&gt;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04474" y="3671366"/>
            <a:ext cx="50038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00"/>
              </a:lnSpc>
            </a:pP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Disc</a:t>
            </a:r>
            <a:r>
              <a:rPr sz="650" dirty="0">
                <a:solidFill>
                  <a:srgbClr val="808080"/>
                </a:solidFill>
                <a:latin typeface="Verdana"/>
                <a:cs typeface="Verdana"/>
              </a:rPr>
              <a:t>o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v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er</a:t>
            </a:r>
            <a:r>
              <a:rPr sz="65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sto</a:t>
            </a:r>
            <a:r>
              <a:rPr sz="650" spc="-10" dirty="0">
                <a:solidFill>
                  <a:srgbClr val="808080"/>
                </a:solidFill>
                <a:latin typeface="Verdana"/>
                <a:cs typeface="Verdana"/>
              </a:rPr>
              <a:t>r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age</a:t>
            </a:r>
            <a:r>
              <a:rPr sz="65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(REST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API)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795997" y="3727501"/>
            <a:ext cx="708660" cy="21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00"/>
              </a:lnSpc>
            </a:pP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Create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v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olume</a:t>
            </a:r>
            <a:r>
              <a:rPr sz="65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pool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(REST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API)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302228" y="3096127"/>
            <a:ext cx="1471295" cy="1291590"/>
          </a:xfrm>
          <a:custGeom>
            <a:avLst/>
            <a:gdLst/>
            <a:ahLst/>
            <a:cxnLst/>
            <a:rect l="l" t="t" r="r" b="b"/>
            <a:pathLst>
              <a:path w="1471295" h="1291589">
                <a:moveTo>
                  <a:pt x="0" y="1291298"/>
                </a:moveTo>
                <a:lnTo>
                  <a:pt x="1470801" y="1291298"/>
                </a:lnTo>
                <a:lnTo>
                  <a:pt x="1466198" y="0"/>
                </a:lnTo>
              </a:path>
            </a:pathLst>
          </a:custGeom>
          <a:ln w="376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712165" y="3058454"/>
            <a:ext cx="113664" cy="113664"/>
          </a:xfrm>
          <a:custGeom>
            <a:avLst/>
            <a:gdLst/>
            <a:ahLst/>
            <a:cxnLst/>
            <a:rect l="l" t="t" r="r" b="b"/>
            <a:pathLst>
              <a:path w="113664" h="113664">
                <a:moveTo>
                  <a:pt x="56113" y="0"/>
                </a:moveTo>
                <a:lnTo>
                  <a:pt x="0" y="113202"/>
                </a:lnTo>
                <a:lnTo>
                  <a:pt x="113050" y="112806"/>
                </a:lnTo>
                <a:lnTo>
                  <a:pt x="56113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53116" y="4226998"/>
            <a:ext cx="152400" cy="127635"/>
          </a:xfrm>
          <a:custGeom>
            <a:avLst/>
            <a:gdLst/>
            <a:ahLst/>
            <a:cxnLst/>
            <a:rect l="l" t="t" r="r" b="b"/>
            <a:pathLst>
              <a:path w="152400" h="127635">
                <a:moveTo>
                  <a:pt x="62914" y="0"/>
                </a:moveTo>
                <a:lnTo>
                  <a:pt x="23141" y="17186"/>
                </a:lnTo>
                <a:lnTo>
                  <a:pt x="1608" y="50027"/>
                </a:lnTo>
                <a:lnTo>
                  <a:pt x="0" y="63183"/>
                </a:lnTo>
                <a:lnTo>
                  <a:pt x="68" y="65926"/>
                </a:lnTo>
                <a:lnTo>
                  <a:pt x="24254" y="109417"/>
                </a:lnTo>
                <a:lnTo>
                  <a:pt x="65268" y="125989"/>
                </a:lnTo>
                <a:lnTo>
                  <a:pt x="82103" y="127172"/>
                </a:lnTo>
                <a:lnTo>
                  <a:pt x="96518" y="125077"/>
                </a:lnTo>
                <a:lnTo>
                  <a:pt x="132274" y="105677"/>
                </a:lnTo>
                <a:lnTo>
                  <a:pt x="151016" y="69412"/>
                </a:lnTo>
                <a:lnTo>
                  <a:pt x="152196" y="54200"/>
                </a:lnTo>
                <a:lnTo>
                  <a:pt x="148931" y="42878"/>
                </a:lnTo>
                <a:lnTo>
                  <a:pt x="112181" y="8521"/>
                </a:lnTo>
                <a:lnTo>
                  <a:pt x="62914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853112" y="4227013"/>
            <a:ext cx="152400" cy="127635"/>
          </a:xfrm>
          <a:custGeom>
            <a:avLst/>
            <a:gdLst/>
            <a:ahLst/>
            <a:cxnLst/>
            <a:rect l="l" t="t" r="r" b="b"/>
            <a:pathLst>
              <a:path w="152400" h="127635">
                <a:moveTo>
                  <a:pt x="0" y="63170"/>
                </a:moveTo>
                <a:lnTo>
                  <a:pt x="13506" y="26752"/>
                </a:lnTo>
                <a:lnTo>
                  <a:pt x="48178" y="3535"/>
                </a:lnTo>
                <a:lnTo>
                  <a:pt x="62923" y="0"/>
                </a:lnTo>
                <a:lnTo>
                  <a:pt x="81184" y="785"/>
                </a:lnTo>
                <a:lnTo>
                  <a:pt x="124701" y="15059"/>
                </a:lnTo>
                <a:lnTo>
                  <a:pt x="152198" y="54200"/>
                </a:lnTo>
                <a:lnTo>
                  <a:pt x="151016" y="69417"/>
                </a:lnTo>
                <a:lnTo>
                  <a:pt x="132270" y="105686"/>
                </a:lnTo>
                <a:lnTo>
                  <a:pt x="96515" y="125083"/>
                </a:lnTo>
                <a:lnTo>
                  <a:pt x="82104" y="127177"/>
                </a:lnTo>
                <a:lnTo>
                  <a:pt x="65273" y="125994"/>
                </a:lnTo>
                <a:lnTo>
                  <a:pt x="24261" y="109425"/>
                </a:lnTo>
                <a:lnTo>
                  <a:pt x="2178" y="78373"/>
                </a:lnTo>
                <a:lnTo>
                  <a:pt x="0" y="63170"/>
                </a:lnTo>
                <a:close/>
              </a:path>
            </a:pathLst>
          </a:custGeom>
          <a:ln w="6279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4883636" y="4204919"/>
            <a:ext cx="909955" cy="155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22" baseline="-24305" dirty="0">
                <a:latin typeface="Verdana"/>
                <a:cs typeface="Verdana"/>
              </a:rPr>
              <a:t>8</a:t>
            </a:r>
            <a:r>
              <a:rPr sz="1200" b="1" spc="-22" baseline="-24305" dirty="0">
                <a:latin typeface="Times New Roman"/>
                <a:cs typeface="Times New Roman"/>
              </a:rPr>
              <a:t>  </a:t>
            </a:r>
            <a:r>
              <a:rPr sz="1200" b="1" spc="-37" baseline="-24305" dirty="0"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Mount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-5" dirty="0">
                <a:solidFill>
                  <a:srgbClr val="808080"/>
                </a:solidFill>
                <a:latin typeface="Verdana"/>
                <a:cs typeface="Verdana"/>
              </a:rPr>
              <a:t>v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olume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on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028441" y="4305372"/>
            <a:ext cx="553085" cy="11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host,</a:t>
            </a:r>
            <a:r>
              <a:rPr sz="650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spc="5" dirty="0">
                <a:solidFill>
                  <a:srgbClr val="808080"/>
                </a:solidFill>
                <a:latin typeface="Verdana"/>
                <a:cs typeface="Verdana"/>
              </a:rPr>
              <a:t>format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028441" y="4405826"/>
            <a:ext cx="86614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#nvme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connect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-t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&lt;proto&gt;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-a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&lt;ip&gt;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-s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&lt;port&gt;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-n</a:t>
            </a:r>
            <a:r>
              <a:rPr sz="650" i="1" spc="7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650" i="1" spc="5" dirty="0">
                <a:solidFill>
                  <a:srgbClr val="808080"/>
                </a:solidFill>
                <a:latin typeface="Verdana"/>
                <a:cs typeface="Verdana"/>
              </a:rPr>
              <a:t>&lt;nqn&gt;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108960" y="4048283"/>
            <a:ext cx="1209501" cy="4488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179612" y="4064916"/>
            <a:ext cx="1055717" cy="40732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156295" y="4073133"/>
            <a:ext cx="1117600" cy="357505"/>
          </a:xfrm>
          <a:custGeom>
            <a:avLst/>
            <a:gdLst/>
            <a:ahLst/>
            <a:cxnLst/>
            <a:rect l="l" t="t" r="r" b="b"/>
            <a:pathLst>
              <a:path w="1117600" h="357504">
                <a:moveTo>
                  <a:pt x="1058113" y="0"/>
                </a:moveTo>
                <a:lnTo>
                  <a:pt x="50377" y="698"/>
                </a:lnTo>
                <a:lnTo>
                  <a:pt x="14486" y="20591"/>
                </a:lnTo>
                <a:lnTo>
                  <a:pt x="0" y="59496"/>
                </a:lnTo>
                <a:lnTo>
                  <a:pt x="698" y="306565"/>
                </a:lnTo>
                <a:lnTo>
                  <a:pt x="20596" y="342437"/>
                </a:lnTo>
                <a:lnTo>
                  <a:pt x="59527" y="356920"/>
                </a:lnTo>
                <a:lnTo>
                  <a:pt x="1067233" y="356226"/>
                </a:lnTo>
                <a:lnTo>
                  <a:pt x="1103119" y="336337"/>
                </a:lnTo>
                <a:lnTo>
                  <a:pt x="1117610" y="297423"/>
                </a:lnTo>
                <a:lnTo>
                  <a:pt x="1116915" y="50376"/>
                </a:lnTo>
                <a:lnTo>
                  <a:pt x="1097026" y="14490"/>
                </a:lnTo>
                <a:lnTo>
                  <a:pt x="1058113" y="0"/>
                </a:lnTo>
                <a:close/>
              </a:path>
            </a:pathLst>
          </a:custGeom>
          <a:solidFill>
            <a:srgbClr val="FFB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3248222" y="4122811"/>
            <a:ext cx="939165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63830">
              <a:lnSpc>
                <a:spcPts val="990"/>
              </a:lnSpc>
            </a:pPr>
            <a:r>
              <a:rPr sz="850" b="1" spc="25" dirty="0">
                <a:solidFill>
                  <a:srgbClr val="FFFFFF"/>
                </a:solidFill>
                <a:latin typeface="Verdana"/>
                <a:cs typeface="Verdana"/>
              </a:rPr>
              <a:t>OpenSDS</a:t>
            </a:r>
            <a:r>
              <a:rPr sz="8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Pro</a:t>
            </a:r>
            <a:r>
              <a:rPr sz="850" b="1" spc="10" dirty="0">
                <a:solidFill>
                  <a:srgbClr val="FFFFFF"/>
                </a:solidFill>
                <a:latin typeface="Verdana"/>
                <a:cs typeface="Verdana"/>
              </a:rPr>
              <a:t>vi</a:t>
            </a: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850" b="1" spc="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850" b="1" spc="2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850" b="1" spc="10" dirty="0">
                <a:solidFill>
                  <a:srgbClr val="FFFFFF"/>
                </a:solidFill>
                <a:latin typeface="Verdana"/>
                <a:cs typeface="Verdana"/>
              </a:rPr>
              <a:t>ing)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3695639" y="4986671"/>
            <a:ext cx="193599" cy="7459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464539" y="4968323"/>
            <a:ext cx="231088" cy="11534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329239" y="5019376"/>
            <a:ext cx="842601" cy="33025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695639" y="5027419"/>
            <a:ext cx="193599" cy="1149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462893" y="5015829"/>
            <a:ext cx="231088" cy="11534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463716" y="5061774"/>
            <a:ext cx="231091" cy="11534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800642" y="5155978"/>
            <a:ext cx="193595" cy="7459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569573" y="5137630"/>
            <a:ext cx="231088" cy="11534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434242" y="5188683"/>
            <a:ext cx="842601" cy="33025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800642" y="5196731"/>
            <a:ext cx="193595" cy="11489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567897" y="5185136"/>
            <a:ext cx="231091" cy="11534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568720" y="5231082"/>
            <a:ext cx="231088" cy="11534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915095" y="5389580"/>
            <a:ext cx="193595" cy="7459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684026" y="5371232"/>
            <a:ext cx="231088" cy="11534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548695" y="5422282"/>
            <a:ext cx="842601" cy="33025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915095" y="5430332"/>
            <a:ext cx="193595" cy="11489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682349" y="5418738"/>
            <a:ext cx="231091" cy="11534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683172" y="5464686"/>
            <a:ext cx="231088" cy="11534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6460431" y="2676626"/>
            <a:ext cx="2825750" cy="1214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750" b="1" spc="-20" dirty="0">
                <a:latin typeface="Arial"/>
                <a:cs typeface="Arial"/>
              </a:rPr>
              <a:t>W</a:t>
            </a:r>
            <a:r>
              <a:rPr sz="1750" b="1" spc="5" dirty="0">
                <a:latin typeface="Arial"/>
                <a:cs typeface="Arial"/>
              </a:rPr>
              <a:t>ork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In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Progress</a:t>
            </a:r>
            <a:endParaRPr sz="1750">
              <a:latin typeface="Arial"/>
              <a:cs typeface="Arial"/>
            </a:endParaRPr>
          </a:p>
          <a:p>
            <a:pPr marL="232410" indent="-169545">
              <a:lnSpc>
                <a:spcPts val="1850"/>
              </a:lnSpc>
              <a:buFont typeface="Arial"/>
              <a:buChar char="•"/>
              <a:tabLst>
                <a:tab pos="233045" algn="l"/>
              </a:tabLst>
            </a:pPr>
            <a:r>
              <a:rPr sz="1550" spc="10" dirty="0">
                <a:latin typeface="Arial"/>
                <a:cs typeface="Arial"/>
              </a:rPr>
              <a:t>Linux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Kernel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Driver</a:t>
            </a:r>
            <a:endParaRPr sz="1550">
              <a:latin typeface="Arial"/>
              <a:cs typeface="Arial"/>
            </a:endParaRPr>
          </a:p>
          <a:p>
            <a:pPr marL="232410" indent="-16954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233045" algn="l"/>
              </a:tabLst>
            </a:pPr>
            <a:r>
              <a:rPr sz="1550" i="1" spc="15" dirty="0">
                <a:latin typeface="Arial"/>
                <a:cs typeface="Arial"/>
              </a:rPr>
              <a:t>nvme</a:t>
            </a:r>
            <a:r>
              <a:rPr sz="1550" i="1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commands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for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connect</a:t>
            </a:r>
            <a:endParaRPr sz="1550">
              <a:latin typeface="Arial"/>
              <a:cs typeface="Arial"/>
            </a:endParaRPr>
          </a:p>
          <a:p>
            <a:pPr marL="232410" indent="-169545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33045" algn="l"/>
              </a:tabLst>
            </a:pPr>
            <a:r>
              <a:rPr sz="1550" spc="10" dirty="0">
                <a:latin typeface="Arial"/>
                <a:cs typeface="Arial"/>
              </a:rPr>
              <a:t>Drive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assignment</a:t>
            </a:r>
            <a:endParaRPr sz="1550">
              <a:latin typeface="Arial"/>
              <a:cs typeface="Arial"/>
            </a:endParaRPr>
          </a:p>
          <a:p>
            <a:pPr marL="232410" indent="-16954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233045" algn="l"/>
              </a:tabLst>
            </a:pPr>
            <a:r>
              <a:rPr sz="1550" spc="15" dirty="0">
                <a:latin typeface="Arial"/>
                <a:cs typeface="Arial"/>
              </a:rPr>
              <a:t>Specs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include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target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info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460431" y="4183406"/>
            <a:ext cx="2535555" cy="1213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750" b="1" spc="5" dirty="0">
                <a:latin typeface="Arial"/>
                <a:cs typeface="Arial"/>
              </a:rPr>
              <a:t>2019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Plans</a:t>
            </a:r>
            <a:endParaRPr sz="1750">
              <a:latin typeface="Arial"/>
              <a:cs typeface="Arial"/>
            </a:endParaRPr>
          </a:p>
          <a:p>
            <a:pPr marL="232410" indent="-169545">
              <a:lnSpc>
                <a:spcPts val="1850"/>
              </a:lnSpc>
              <a:buFont typeface="Arial"/>
              <a:buChar char="•"/>
              <a:tabLst>
                <a:tab pos="233045" algn="l"/>
              </a:tabLst>
            </a:pPr>
            <a:r>
              <a:rPr sz="1550" spc="10" dirty="0">
                <a:latin typeface="Arial"/>
                <a:cs typeface="Arial"/>
              </a:rPr>
              <a:t>Pooling</a:t>
            </a:r>
            <a:endParaRPr sz="1550">
              <a:latin typeface="Arial"/>
              <a:cs typeface="Arial"/>
            </a:endParaRPr>
          </a:p>
          <a:p>
            <a:pPr marL="232410" indent="-16954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233045" algn="l"/>
              </a:tabLst>
            </a:pPr>
            <a:r>
              <a:rPr sz="1550" spc="15" dirty="0">
                <a:latin typeface="Arial"/>
                <a:cs typeface="Arial"/>
              </a:rPr>
              <a:t>Rack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aware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scheduling</a:t>
            </a:r>
            <a:endParaRPr sz="1550">
              <a:latin typeface="Arial"/>
              <a:cs typeface="Arial"/>
            </a:endParaRPr>
          </a:p>
          <a:p>
            <a:pPr marL="232410" indent="-169545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33045" algn="l"/>
              </a:tabLst>
            </a:pPr>
            <a:r>
              <a:rPr sz="1550" spc="15" dirty="0">
                <a:latin typeface="Arial"/>
                <a:cs typeface="Arial"/>
              </a:rPr>
              <a:t>User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mode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Arial"/>
                <a:cs typeface="Arial"/>
              </a:rPr>
              <a:t>target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(SPDK)</a:t>
            </a:r>
            <a:endParaRPr sz="1550">
              <a:latin typeface="Arial"/>
              <a:cs typeface="Arial"/>
            </a:endParaRPr>
          </a:p>
          <a:p>
            <a:pPr marL="232410" indent="-16954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233045" algn="l"/>
              </a:tabLst>
            </a:pPr>
            <a:r>
              <a:rPr sz="1550" spc="20" dirty="0">
                <a:latin typeface="Arial"/>
                <a:cs typeface="Arial"/>
              </a:rPr>
              <a:t>NVMe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over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TCP/IP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NVMe</a:t>
            </a:r>
            <a:r>
              <a:rPr dirty="0"/>
              <a:t>-oF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/>
              <a:t>in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e</a:t>
            </a:r>
            <a:r>
              <a:rPr dirty="0"/>
              <a:t>n</a:t>
            </a:r>
            <a:r>
              <a:rPr spc="15" dirty="0"/>
              <a:t>SDS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5375" y="4853525"/>
            <a:ext cx="2174330" cy="10525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81640" y="5176503"/>
            <a:ext cx="1381384" cy="4065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69090" y="6155394"/>
            <a:ext cx="137160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rgbClr val="898989"/>
                </a:solidFill>
                <a:latin typeface="Arial"/>
                <a:cs typeface="Arial"/>
              </a:rPr>
              <a:t>12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7870" y="2292081"/>
            <a:ext cx="661035" cy="39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15" dirty="0">
                <a:solidFill>
                  <a:srgbClr val="00A3DA"/>
                </a:solidFill>
                <a:latin typeface="Arial"/>
                <a:cs typeface="Arial"/>
              </a:rPr>
              <a:t>2018H1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350" b="1" spc="15" dirty="0">
                <a:solidFill>
                  <a:srgbClr val="00A3DA"/>
                </a:solidFill>
                <a:latin typeface="Arial"/>
                <a:cs typeface="Arial"/>
              </a:rPr>
              <a:t>ARUBA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7870" y="2882238"/>
            <a:ext cx="1211580" cy="195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 indent="-114300">
              <a:lnSpc>
                <a:spcPct val="100000"/>
              </a:lnSpc>
              <a:buClr>
                <a:srgbClr val="1F497D"/>
              </a:buClr>
              <a:buFont typeface="Arial"/>
              <a:buChar char="•"/>
              <a:tabLst>
                <a:tab pos="127635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OpenStack</a:t>
            </a:r>
            <a:endParaRPr sz="1150">
              <a:latin typeface="Arial"/>
              <a:cs typeface="Arial"/>
            </a:endParaRPr>
          </a:p>
          <a:p>
            <a:pPr marL="127000" indent="-114300">
              <a:lnSpc>
                <a:spcPts val="1300"/>
              </a:lnSpc>
              <a:spcBef>
                <a:spcPts val="200"/>
              </a:spcBef>
              <a:buClr>
                <a:srgbClr val="1F497D"/>
              </a:buClr>
              <a:buFont typeface="Arial"/>
              <a:buChar char="•"/>
              <a:tabLst>
                <a:tab pos="127635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Replication</a:t>
            </a:r>
            <a:endParaRPr sz="1150">
              <a:latin typeface="Arial"/>
              <a:cs typeface="Arial"/>
            </a:endParaRPr>
          </a:p>
          <a:p>
            <a:pPr marL="125730">
              <a:lnSpc>
                <a:spcPts val="925"/>
              </a:lnSpc>
            </a:pPr>
            <a:r>
              <a:rPr sz="850" spc="15" dirty="0">
                <a:solidFill>
                  <a:srgbClr val="1F497D"/>
                </a:solidFill>
                <a:latin typeface="Arial"/>
                <a:cs typeface="Arial"/>
              </a:rPr>
              <a:t>Array-Based,</a:t>
            </a:r>
            <a:endParaRPr sz="850">
              <a:latin typeface="Arial"/>
              <a:cs typeface="Arial"/>
            </a:endParaRPr>
          </a:p>
          <a:p>
            <a:pPr marL="125730">
              <a:lnSpc>
                <a:spcPts val="1005"/>
              </a:lnSpc>
            </a:pPr>
            <a:r>
              <a:rPr sz="850" spc="15" dirty="0">
                <a:solidFill>
                  <a:srgbClr val="1F497D"/>
                </a:solidFill>
                <a:latin typeface="Arial"/>
                <a:cs typeface="Arial"/>
              </a:rPr>
              <a:t>Host-Based</a:t>
            </a:r>
            <a:endParaRPr sz="8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30"/>
              </a:spcBef>
              <a:buClr>
                <a:srgbClr val="1F497D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Dashboard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1F497D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Storage</a:t>
            </a:r>
            <a:r>
              <a:rPr sz="1150" spc="4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150" spc="10" dirty="0">
                <a:solidFill>
                  <a:srgbClr val="1F497D"/>
                </a:solidFill>
                <a:latin typeface="Arial"/>
                <a:cs typeface="Arial"/>
              </a:rPr>
              <a:t>Profiles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1F497D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Enumeration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1F497D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Block</a:t>
            </a:r>
            <a:r>
              <a:rPr sz="1150" spc="4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Storage</a:t>
            </a:r>
            <a:endParaRPr sz="1150">
              <a:latin typeface="Arial"/>
              <a:cs typeface="Arial"/>
            </a:endParaRPr>
          </a:p>
          <a:p>
            <a:pPr marL="240029" lvl="1" indent="-114300">
              <a:lnSpc>
                <a:spcPct val="100000"/>
              </a:lnSpc>
              <a:spcBef>
                <a:spcPts val="234"/>
              </a:spcBef>
              <a:buClr>
                <a:srgbClr val="1F497D"/>
              </a:buClr>
              <a:buFont typeface="Arial"/>
              <a:buChar char="•"/>
              <a:tabLst>
                <a:tab pos="240665" algn="l"/>
              </a:tabLst>
            </a:pPr>
            <a:r>
              <a:rPr sz="850" spc="15" dirty="0">
                <a:solidFill>
                  <a:srgbClr val="1F497D"/>
                </a:solidFill>
                <a:latin typeface="Arial"/>
                <a:cs typeface="Arial"/>
              </a:rPr>
              <a:t>Cinder</a:t>
            </a:r>
            <a:r>
              <a:rPr sz="850" spc="3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1F497D"/>
                </a:solidFill>
                <a:latin typeface="Arial"/>
                <a:cs typeface="Arial"/>
              </a:rPr>
              <a:t>Drivers</a:t>
            </a:r>
            <a:endParaRPr sz="850">
              <a:latin typeface="Arial"/>
              <a:cs typeface="Arial"/>
            </a:endParaRPr>
          </a:p>
          <a:p>
            <a:pPr marL="240029" lvl="1" indent="-114300">
              <a:lnSpc>
                <a:spcPct val="100000"/>
              </a:lnSpc>
              <a:spcBef>
                <a:spcPts val="65"/>
              </a:spcBef>
              <a:buClr>
                <a:srgbClr val="1F497D"/>
              </a:buClr>
              <a:buFont typeface="Arial"/>
              <a:buChar char="•"/>
              <a:tabLst>
                <a:tab pos="240665" algn="l"/>
              </a:tabLst>
            </a:pPr>
            <a:r>
              <a:rPr sz="850" spc="15" dirty="0">
                <a:solidFill>
                  <a:srgbClr val="1F497D"/>
                </a:solidFill>
                <a:latin typeface="Arial"/>
                <a:cs typeface="Arial"/>
              </a:rPr>
              <a:t>Ceph</a:t>
            </a:r>
            <a:endParaRPr sz="850">
              <a:latin typeface="Arial"/>
              <a:cs typeface="Arial"/>
            </a:endParaRPr>
          </a:p>
          <a:p>
            <a:pPr marL="240029" lvl="1" indent="-114300">
              <a:lnSpc>
                <a:spcPct val="100000"/>
              </a:lnSpc>
              <a:spcBef>
                <a:spcPts val="65"/>
              </a:spcBef>
              <a:buClr>
                <a:srgbClr val="1F497D"/>
              </a:buClr>
              <a:buFont typeface="Arial"/>
              <a:buChar char="•"/>
              <a:tabLst>
                <a:tab pos="240665" algn="l"/>
              </a:tabLst>
            </a:pPr>
            <a:r>
              <a:rPr sz="850" spc="-55" dirty="0">
                <a:solidFill>
                  <a:srgbClr val="1F497D"/>
                </a:solidFill>
                <a:latin typeface="Arial"/>
                <a:cs typeface="Arial"/>
              </a:rPr>
              <a:t>L</a:t>
            </a:r>
            <a:r>
              <a:rPr sz="850" spc="25" dirty="0">
                <a:solidFill>
                  <a:srgbClr val="1F497D"/>
                </a:solidFill>
                <a:latin typeface="Arial"/>
                <a:cs typeface="Arial"/>
              </a:rPr>
              <a:t>VM</a:t>
            </a:r>
            <a:endParaRPr sz="850">
              <a:latin typeface="Arial"/>
              <a:cs typeface="Arial"/>
            </a:endParaRPr>
          </a:p>
          <a:p>
            <a:pPr marL="240029" lvl="1" indent="-114300">
              <a:lnSpc>
                <a:spcPct val="100000"/>
              </a:lnSpc>
              <a:spcBef>
                <a:spcPts val="165"/>
              </a:spcBef>
              <a:buClr>
                <a:srgbClr val="1F497D"/>
              </a:buClr>
              <a:buFont typeface="Arial"/>
              <a:buChar char="•"/>
              <a:tabLst>
                <a:tab pos="240665" algn="l"/>
              </a:tabLst>
            </a:pPr>
            <a:r>
              <a:rPr sz="850" spc="15" dirty="0">
                <a:solidFill>
                  <a:srgbClr val="1F497D"/>
                </a:solidFill>
                <a:latin typeface="Arial"/>
                <a:cs typeface="Arial"/>
              </a:rPr>
              <a:t>Huawei:</a:t>
            </a:r>
            <a:r>
              <a:rPr sz="850" spc="3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1F497D"/>
                </a:solidFill>
                <a:latin typeface="Arial"/>
                <a:cs typeface="Arial"/>
              </a:rPr>
              <a:t>Dorado</a:t>
            </a:r>
            <a:endParaRPr sz="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8446" y="2292081"/>
            <a:ext cx="866140" cy="39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15" dirty="0">
                <a:solidFill>
                  <a:srgbClr val="EE9B2C"/>
                </a:solidFill>
                <a:latin typeface="Arial"/>
                <a:cs typeface="Arial"/>
              </a:rPr>
              <a:t>2017H2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350" b="1" spc="15" dirty="0">
                <a:solidFill>
                  <a:srgbClr val="EE9B2C"/>
                </a:solidFill>
                <a:latin typeface="Arial"/>
                <a:cs typeface="Arial"/>
              </a:rPr>
              <a:t>ZEALAND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8446" y="2882238"/>
            <a:ext cx="1337310" cy="1268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730" marR="415290" indent="-113030">
              <a:lnSpc>
                <a:spcPts val="1290"/>
              </a:lnSpc>
              <a:buClr>
                <a:srgbClr val="1F497D"/>
              </a:buClr>
              <a:buFont typeface="Arial"/>
              <a:buChar char="•"/>
              <a:tabLst>
                <a:tab pos="127635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Kubernetes</a:t>
            </a:r>
            <a:r>
              <a:rPr sz="1150" spc="5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Flex</a:t>
            </a:r>
            <a:r>
              <a:rPr sz="1150" spc="-50" dirty="0">
                <a:solidFill>
                  <a:srgbClr val="1F497D"/>
                </a:solidFill>
                <a:latin typeface="Arial"/>
                <a:cs typeface="Arial"/>
              </a:rPr>
              <a:t>V</a:t>
            </a: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olume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75"/>
              </a:spcBef>
              <a:buClr>
                <a:srgbClr val="1F497D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-50" dirty="0">
                <a:solidFill>
                  <a:srgbClr val="1F497D"/>
                </a:solidFill>
                <a:latin typeface="Arial"/>
                <a:cs typeface="Arial"/>
              </a:rPr>
              <a:t>V</a:t>
            </a:r>
            <a:r>
              <a:rPr sz="1150" spc="10" dirty="0">
                <a:solidFill>
                  <a:srgbClr val="1F497D"/>
                </a:solidFill>
                <a:latin typeface="Arial"/>
                <a:cs typeface="Arial"/>
              </a:rPr>
              <a:t>o</a:t>
            </a:r>
            <a:r>
              <a:rPr sz="1150" spc="5" dirty="0">
                <a:solidFill>
                  <a:srgbClr val="1F497D"/>
                </a:solidFill>
                <a:latin typeface="Arial"/>
                <a:cs typeface="Arial"/>
              </a:rPr>
              <a:t>l</a:t>
            </a:r>
            <a:r>
              <a:rPr sz="1150" spc="4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150" spc="20" dirty="0">
                <a:solidFill>
                  <a:srgbClr val="1F497D"/>
                </a:solidFill>
                <a:latin typeface="Arial"/>
                <a:cs typeface="Arial"/>
              </a:rPr>
              <a:t>CRU</a:t>
            </a:r>
            <a:r>
              <a:rPr sz="1150" spc="25" dirty="0">
                <a:solidFill>
                  <a:srgbClr val="1F497D"/>
                </a:solidFill>
                <a:latin typeface="Arial"/>
                <a:cs typeface="Arial"/>
              </a:rPr>
              <a:t>D</a:t>
            </a:r>
            <a:endParaRPr sz="1150">
              <a:latin typeface="Arial"/>
              <a:cs typeface="Arial"/>
            </a:endParaRPr>
          </a:p>
          <a:p>
            <a:pPr marL="125730" marR="5080" indent="-113030">
              <a:lnSpc>
                <a:spcPts val="1290"/>
              </a:lnSpc>
              <a:spcBef>
                <a:spcPts val="320"/>
              </a:spcBef>
              <a:buClr>
                <a:srgbClr val="1F497D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Standalone</a:t>
            </a:r>
            <a:r>
              <a:rPr sz="1150" spc="5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Cinder</a:t>
            </a:r>
            <a:r>
              <a:rPr sz="1150" spc="4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150" spc="10" dirty="0">
                <a:solidFill>
                  <a:srgbClr val="1F497D"/>
                </a:solidFill>
                <a:latin typeface="Arial"/>
                <a:cs typeface="Arial"/>
              </a:rPr>
              <a:t>Integration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75"/>
              </a:spcBef>
              <a:buClr>
                <a:srgbClr val="1F497D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CSI</a:t>
            </a:r>
            <a:r>
              <a:rPr sz="1150" spc="4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Support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1F497D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1F497D"/>
                </a:solidFill>
                <a:latin typeface="Arial"/>
                <a:cs typeface="Arial"/>
              </a:rPr>
              <a:t>Ceph,</a:t>
            </a:r>
            <a:r>
              <a:rPr sz="1150" spc="4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150" spc="-75" dirty="0">
                <a:solidFill>
                  <a:srgbClr val="1F497D"/>
                </a:solidFill>
                <a:latin typeface="Arial"/>
                <a:cs typeface="Arial"/>
              </a:rPr>
              <a:t>L</a:t>
            </a:r>
            <a:r>
              <a:rPr sz="1150" spc="25" dirty="0">
                <a:solidFill>
                  <a:srgbClr val="1F497D"/>
                </a:solidFill>
                <a:latin typeface="Arial"/>
                <a:cs typeface="Arial"/>
              </a:rPr>
              <a:t>VM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37307" y="2292081"/>
            <a:ext cx="553720" cy="39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15" dirty="0">
                <a:solidFill>
                  <a:srgbClr val="A9227B"/>
                </a:solidFill>
                <a:latin typeface="Arial"/>
                <a:cs typeface="Arial"/>
              </a:rPr>
              <a:t>2018H2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350" b="1" spc="15" dirty="0">
                <a:solidFill>
                  <a:srgbClr val="A9227B"/>
                </a:solidFill>
                <a:latin typeface="Arial"/>
                <a:cs typeface="Arial"/>
              </a:rPr>
              <a:t>BALI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37301" y="2882226"/>
            <a:ext cx="1295400" cy="1750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buFont typeface="Arial"/>
              <a:buChar char="•"/>
              <a:tabLst>
                <a:tab pos="126364" algn="l"/>
              </a:tabLst>
            </a:pPr>
            <a:r>
              <a:rPr sz="1150" spc="20" dirty="0">
                <a:latin typeface="Arial"/>
                <a:cs typeface="Arial"/>
              </a:rPr>
              <a:t>S3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Object</a:t>
            </a:r>
            <a:endParaRPr sz="1150">
              <a:latin typeface="Arial"/>
              <a:cs typeface="Arial"/>
            </a:endParaRPr>
          </a:p>
          <a:p>
            <a:pPr marL="125730" marR="38735" indent="-113030">
              <a:lnSpc>
                <a:spcPts val="1190"/>
              </a:lnSpc>
              <a:spcBef>
                <a:spcPts val="400"/>
              </a:spcBef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latin typeface="Arial"/>
                <a:cs typeface="Arial"/>
              </a:rPr>
              <a:t>Multi-Cloud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Data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Control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latin typeface="Arial"/>
                <a:cs typeface="Arial"/>
              </a:rPr>
              <a:t>Multi-OpenStack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latin typeface="Arial"/>
                <a:cs typeface="Arial"/>
              </a:rPr>
              <a:t>Monitoring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ts val="1350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latin typeface="Arial"/>
                <a:cs typeface="Arial"/>
              </a:rPr>
              <a:t>Storage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Groups</a:t>
            </a:r>
            <a:endParaRPr sz="1150">
              <a:latin typeface="Arial"/>
              <a:cs typeface="Arial"/>
            </a:endParaRPr>
          </a:p>
          <a:p>
            <a:pPr marL="125730">
              <a:lnSpc>
                <a:spcPts val="990"/>
              </a:lnSpc>
            </a:pPr>
            <a:r>
              <a:rPr sz="850" spc="15" dirty="0">
                <a:latin typeface="Arial"/>
                <a:cs typeface="Arial"/>
              </a:rPr>
              <a:t>Snapshots,</a:t>
            </a:r>
            <a:r>
              <a:rPr sz="850" spc="30" dirty="0">
                <a:latin typeface="Times New Roman"/>
                <a:cs typeface="Times New Roman"/>
              </a:rPr>
              <a:t> </a:t>
            </a:r>
            <a:r>
              <a:rPr sz="850" spc="15" dirty="0">
                <a:latin typeface="Arial"/>
                <a:cs typeface="Arial"/>
              </a:rPr>
              <a:t>Replication</a:t>
            </a:r>
            <a:endParaRPr sz="850">
              <a:latin typeface="Arial"/>
              <a:cs typeface="Arial"/>
            </a:endParaRPr>
          </a:p>
          <a:p>
            <a:pPr marL="125730" marR="347980" indent="-113030">
              <a:lnSpc>
                <a:spcPts val="1290"/>
              </a:lnSpc>
              <a:spcBef>
                <a:spcPts val="250"/>
              </a:spcBef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latin typeface="Arial"/>
                <a:cs typeface="Arial"/>
              </a:rPr>
              <a:t>Southbound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15" dirty="0">
                <a:latin typeface="Arial"/>
                <a:cs typeface="Arial"/>
              </a:rPr>
              <a:t>Swordfish*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126364" algn="l"/>
              </a:tabLst>
            </a:pPr>
            <a:r>
              <a:rPr sz="1000" spc="15" dirty="0">
                <a:latin typeface="Arial"/>
                <a:cs typeface="Arial"/>
              </a:rPr>
              <a:t>NVMeoF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spc="15" dirty="0">
                <a:latin typeface="Arial"/>
                <a:cs typeface="Arial"/>
              </a:rPr>
              <a:t>Preview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96155" y="2294337"/>
            <a:ext cx="84709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15" dirty="0">
                <a:solidFill>
                  <a:srgbClr val="BFC0BC"/>
                </a:solidFill>
                <a:latin typeface="Arial"/>
                <a:cs typeface="Arial"/>
              </a:rPr>
              <a:t>2019H2++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96155" y="2693884"/>
            <a:ext cx="976630" cy="1130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Optimization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-25" dirty="0">
                <a:solidFill>
                  <a:srgbClr val="919191"/>
                </a:solidFill>
                <a:latin typeface="Arial"/>
                <a:cs typeface="Arial"/>
              </a:rPr>
              <a:t>T</a:t>
            </a:r>
            <a:r>
              <a:rPr sz="1150" spc="10" dirty="0">
                <a:solidFill>
                  <a:srgbClr val="919191"/>
                </a:solidFill>
                <a:latin typeface="Arial"/>
                <a:cs typeface="Arial"/>
              </a:rPr>
              <a:t>iering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Security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2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Sharing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Networking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25" dirty="0">
                <a:solidFill>
                  <a:srgbClr val="919191"/>
                </a:solidFill>
                <a:latin typeface="Arial"/>
                <a:cs typeface="Arial"/>
              </a:rPr>
              <a:t>SCM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16731" y="2314687"/>
            <a:ext cx="641350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sz="1150" b="1" spc="20" dirty="0">
                <a:solidFill>
                  <a:srgbClr val="6FB745"/>
                </a:solidFill>
                <a:latin typeface="Arial"/>
                <a:cs typeface="Arial"/>
              </a:rPr>
              <a:t>2019H1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1570"/>
              </a:lnSpc>
            </a:pPr>
            <a:r>
              <a:rPr sz="1350" b="1" spc="15" dirty="0">
                <a:solidFill>
                  <a:srgbClr val="6FB745"/>
                </a:solidFill>
                <a:latin typeface="Arial"/>
                <a:cs typeface="Arial"/>
              </a:rPr>
              <a:t>CAPRI*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6731" y="2882226"/>
            <a:ext cx="1177925" cy="1130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0" dirty="0">
                <a:solidFill>
                  <a:srgbClr val="919191"/>
                </a:solidFill>
                <a:latin typeface="Arial"/>
                <a:cs typeface="Arial"/>
              </a:rPr>
              <a:t>File</a:t>
            </a:r>
            <a:r>
              <a:rPr sz="1150" spc="40" dirty="0">
                <a:solidFill>
                  <a:srgbClr val="919191"/>
                </a:solidFill>
                <a:latin typeface="Times New Roman"/>
                <a:cs typeface="Times New Roman"/>
              </a:rPr>
              <a:t> </a:t>
            </a: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Share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2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Analytics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Lifecycle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Migration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Data</a:t>
            </a:r>
            <a:r>
              <a:rPr sz="1150" spc="40" dirty="0">
                <a:solidFill>
                  <a:srgbClr val="919191"/>
                </a:solidFill>
                <a:latin typeface="Times New Roman"/>
                <a:cs typeface="Times New Roman"/>
              </a:rPr>
              <a:t> </a:t>
            </a:r>
            <a:r>
              <a:rPr sz="1150" spc="15" dirty="0">
                <a:solidFill>
                  <a:srgbClr val="919191"/>
                </a:solidFill>
                <a:latin typeface="Arial"/>
                <a:cs typeface="Arial"/>
              </a:rPr>
              <a:t>Protection</a:t>
            </a:r>
            <a:endParaRPr sz="1150">
              <a:latin typeface="Arial"/>
              <a:cs typeface="Arial"/>
            </a:endParaRPr>
          </a:p>
          <a:p>
            <a:pPr marL="125730" indent="-113030">
              <a:lnSpc>
                <a:spcPct val="100000"/>
              </a:lnSpc>
              <a:spcBef>
                <a:spcPts val="100"/>
              </a:spcBef>
              <a:buClr>
                <a:srgbClr val="7F7F7F"/>
              </a:buClr>
              <a:buFont typeface="Arial"/>
              <a:buChar char="•"/>
              <a:tabLst>
                <a:tab pos="126364" algn="l"/>
              </a:tabLst>
            </a:pPr>
            <a:r>
              <a:rPr sz="1150" spc="20" dirty="0">
                <a:solidFill>
                  <a:srgbClr val="919191"/>
                </a:solidFill>
                <a:latin typeface="Arial"/>
                <a:cs typeface="Arial"/>
              </a:rPr>
              <a:t>NVMeoF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5056" y="1711235"/>
            <a:ext cx="3460115" cy="327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b="1" spc="-5" dirty="0">
                <a:latin typeface="Arial"/>
                <a:cs typeface="Arial"/>
              </a:rPr>
              <a:t>O</a:t>
            </a:r>
            <a:r>
              <a:rPr sz="2350" b="1" dirty="0">
                <a:latin typeface="Arial"/>
                <a:cs typeface="Arial"/>
              </a:rPr>
              <a:t>p</a:t>
            </a:r>
            <a:r>
              <a:rPr sz="2350" b="1" spc="10" dirty="0">
                <a:latin typeface="Arial"/>
                <a:cs typeface="Arial"/>
              </a:rPr>
              <a:t>e</a:t>
            </a:r>
            <a:r>
              <a:rPr sz="2350" b="1" dirty="0">
                <a:latin typeface="Arial"/>
                <a:cs typeface="Arial"/>
              </a:rPr>
              <a:t>n</a:t>
            </a:r>
            <a:r>
              <a:rPr sz="2350" b="1" spc="15" dirty="0">
                <a:latin typeface="Arial"/>
                <a:cs typeface="Arial"/>
              </a:rPr>
              <a:t>SDS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2350" b="1" spc="15" dirty="0">
                <a:latin typeface="Arial"/>
                <a:cs typeface="Arial"/>
              </a:rPr>
              <a:t>R</a:t>
            </a:r>
            <a:r>
              <a:rPr sz="2350" b="1" dirty="0">
                <a:latin typeface="Arial"/>
                <a:cs typeface="Arial"/>
              </a:rPr>
              <a:t>o</a:t>
            </a:r>
            <a:r>
              <a:rPr sz="2350" b="1" spc="10" dirty="0">
                <a:latin typeface="Arial"/>
                <a:cs typeface="Arial"/>
              </a:rPr>
              <a:t>a</a:t>
            </a:r>
            <a:r>
              <a:rPr sz="2350" b="1" dirty="0">
                <a:latin typeface="Arial"/>
                <a:cs typeface="Arial"/>
              </a:rPr>
              <a:t>d</a:t>
            </a:r>
            <a:r>
              <a:rPr sz="2350" b="1" spc="15" dirty="0">
                <a:latin typeface="Arial"/>
                <a:cs typeface="Arial"/>
              </a:rPr>
              <a:t>ma</a:t>
            </a:r>
            <a:r>
              <a:rPr sz="2350" b="1" dirty="0">
                <a:latin typeface="Arial"/>
                <a:cs typeface="Arial"/>
              </a:rPr>
              <a:t>p</a:t>
            </a:r>
            <a:r>
              <a:rPr sz="2350" b="1" spc="70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Arial"/>
                <a:cs typeface="Arial"/>
              </a:rPr>
              <a:t>v0.17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86090" y="5618192"/>
            <a:ext cx="786999" cy="5738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40551" y="5722153"/>
            <a:ext cx="536899" cy="3659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90283" y="5707681"/>
            <a:ext cx="578159" cy="3948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75359" y="5795619"/>
            <a:ext cx="715094" cy="2190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75812" y="5824547"/>
            <a:ext cx="570564" cy="1611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13697" y="5794216"/>
            <a:ext cx="821423" cy="22180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8100" y="5838099"/>
            <a:ext cx="381987" cy="15569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54854" y="5822229"/>
            <a:ext cx="492477" cy="16577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68894" y="5846424"/>
            <a:ext cx="648675" cy="11739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82856" y="5749707"/>
            <a:ext cx="280640" cy="31082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24972" y="5757779"/>
            <a:ext cx="650162" cy="29468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05227" y="5802964"/>
            <a:ext cx="487512" cy="22310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11824" y="5796237"/>
            <a:ext cx="512204" cy="21599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48272" y="5783376"/>
            <a:ext cx="418206" cy="27715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49734" y="2666670"/>
            <a:ext cx="4039870" cy="1220470"/>
          </a:xfrm>
          <a:custGeom>
            <a:avLst/>
            <a:gdLst/>
            <a:ahLst/>
            <a:cxnLst/>
            <a:rect l="l" t="t" r="r" b="b"/>
            <a:pathLst>
              <a:path w="4039870" h="1220470">
                <a:moveTo>
                  <a:pt x="0" y="1220474"/>
                </a:moveTo>
                <a:lnTo>
                  <a:pt x="4039758" y="1220474"/>
                </a:lnTo>
                <a:lnTo>
                  <a:pt x="4039758" y="0"/>
                </a:lnTo>
                <a:lnTo>
                  <a:pt x="0" y="0"/>
                </a:lnTo>
                <a:lnTo>
                  <a:pt x="0" y="1220474"/>
                </a:lnTo>
                <a:close/>
              </a:path>
            </a:pathLst>
          </a:custGeom>
          <a:solidFill>
            <a:srgbClr val="A2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49734" y="3883200"/>
            <a:ext cx="4039870" cy="1220470"/>
          </a:xfrm>
          <a:custGeom>
            <a:avLst/>
            <a:gdLst/>
            <a:ahLst/>
            <a:cxnLst/>
            <a:rect l="l" t="t" r="r" b="b"/>
            <a:pathLst>
              <a:path w="4039870" h="1220470">
                <a:moveTo>
                  <a:pt x="0" y="1220474"/>
                </a:moveTo>
                <a:lnTo>
                  <a:pt x="4039758" y="1220474"/>
                </a:lnTo>
                <a:lnTo>
                  <a:pt x="4039758" y="0"/>
                </a:lnTo>
                <a:lnTo>
                  <a:pt x="0" y="0"/>
                </a:lnTo>
                <a:lnTo>
                  <a:pt x="0" y="1220474"/>
                </a:lnTo>
                <a:close/>
              </a:path>
            </a:pathLst>
          </a:custGeom>
          <a:solidFill>
            <a:srgbClr val="59B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80828" y="4325729"/>
            <a:ext cx="2237105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5"/>
              </a:lnSpc>
            </a:pPr>
            <a:r>
              <a:rPr sz="1350" b="1" spc="10" dirty="0">
                <a:solidFill>
                  <a:srgbClr val="FFFFFF"/>
                </a:solidFill>
                <a:latin typeface="Arial"/>
                <a:cs typeface="Arial"/>
              </a:rPr>
              <a:t>Accepting</a:t>
            </a:r>
            <a:r>
              <a:rPr sz="135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135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Members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ts val="1245"/>
              </a:lnSpc>
            </a:pPr>
            <a:r>
              <a:rPr sz="1050" b="1" spc="-4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050" b="1" spc="15" dirty="0">
                <a:solidFill>
                  <a:srgbClr val="FFFFFF"/>
                </a:solidFill>
                <a:latin typeface="Arial"/>
                <a:cs typeface="Arial"/>
              </a:rPr>
              <a:t>endors</a:t>
            </a:r>
            <a:r>
              <a:rPr sz="10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b="1" spc="2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05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b="1" spc="15" dirty="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r>
              <a:rPr sz="105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b="1" spc="15" dirty="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sz="105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b="1" spc="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050" b="1" spc="15" dirty="0">
                <a:solidFill>
                  <a:srgbClr val="FFFFFF"/>
                </a:solidFill>
                <a:latin typeface="Arial"/>
                <a:cs typeface="Arial"/>
              </a:rPr>
              <a:t>elcome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8324" y="3084216"/>
            <a:ext cx="855980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80"/>
              </a:lnSpc>
            </a:pP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sz="135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OUT</a:t>
            </a:r>
            <a:r>
              <a:rPr sz="13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2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8324" y="4300737"/>
            <a:ext cx="807085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80"/>
              </a:lnSpc>
            </a:pP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3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20" dirty="0">
                <a:solidFill>
                  <a:srgbClr val="FFFFFF"/>
                </a:solidFill>
                <a:latin typeface="Arial"/>
                <a:cs typeface="Arial"/>
              </a:rPr>
              <a:t>MEMBER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67706" y="2885157"/>
            <a:ext cx="0" cy="783590"/>
          </a:xfrm>
          <a:custGeom>
            <a:avLst/>
            <a:gdLst/>
            <a:ahLst/>
            <a:cxnLst/>
            <a:rect l="l" t="t" r="r" b="b"/>
            <a:pathLst>
              <a:path h="783589">
                <a:moveTo>
                  <a:pt x="0" y="0"/>
                </a:moveTo>
                <a:lnTo>
                  <a:pt x="0" y="783512"/>
                </a:lnTo>
              </a:path>
            </a:pathLst>
          </a:custGeom>
          <a:ln w="942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67706" y="4101673"/>
            <a:ext cx="0" cy="783590"/>
          </a:xfrm>
          <a:custGeom>
            <a:avLst/>
            <a:gdLst/>
            <a:ahLst/>
            <a:cxnLst/>
            <a:rect l="l" t="t" r="r" b="b"/>
            <a:pathLst>
              <a:path h="783589">
                <a:moveTo>
                  <a:pt x="0" y="0"/>
                </a:moveTo>
                <a:lnTo>
                  <a:pt x="0" y="783522"/>
                </a:lnTo>
              </a:path>
            </a:pathLst>
          </a:custGeom>
          <a:ln w="942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80828" y="3109208"/>
            <a:ext cx="1939925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5"/>
              </a:lnSpc>
            </a:pP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OpenSDS</a:t>
            </a:r>
            <a:r>
              <a:rPr sz="135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25" dirty="0">
                <a:solidFill>
                  <a:srgbClr val="FFFFFF"/>
                </a:solidFill>
                <a:latin typeface="Arial"/>
                <a:cs typeface="Arial"/>
              </a:rPr>
              <a:t>@</a:t>
            </a:r>
            <a:r>
              <a:rPr sz="135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SNIA</a:t>
            </a:r>
            <a:r>
              <a:rPr sz="13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Arial"/>
                <a:cs typeface="Arial"/>
              </a:rPr>
              <a:t>SDC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ts val="1245"/>
              </a:lnSpc>
            </a:pPr>
            <a:r>
              <a:rPr sz="1050" b="1" spc="15" dirty="0">
                <a:solidFill>
                  <a:srgbClr val="FFFFFF"/>
                </a:solidFill>
                <a:latin typeface="Arial"/>
                <a:cs typeface="Arial"/>
              </a:rPr>
              <a:t>Santa</a:t>
            </a:r>
            <a:r>
              <a:rPr sz="105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b="1" spc="10" dirty="0">
                <a:solidFill>
                  <a:srgbClr val="FFFFFF"/>
                </a:solidFill>
                <a:latin typeface="Arial"/>
                <a:cs typeface="Arial"/>
              </a:rPr>
              <a:t>Clara,</a:t>
            </a:r>
            <a:r>
              <a:rPr sz="105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b="1" spc="15" dirty="0">
                <a:solidFill>
                  <a:srgbClr val="FFFFFF"/>
                </a:solidFill>
                <a:latin typeface="Arial"/>
                <a:cs typeface="Arial"/>
              </a:rPr>
              <a:t>Sep</a:t>
            </a:r>
            <a:r>
              <a:rPr sz="105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50" b="1" spc="15" dirty="0">
                <a:solidFill>
                  <a:srgbClr val="FFFFFF"/>
                </a:solidFill>
                <a:latin typeface="Arial"/>
                <a:cs typeface="Arial"/>
              </a:rPr>
              <a:t>24-27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68900" y="2666680"/>
            <a:ext cx="2480945" cy="2437130"/>
          </a:xfrm>
          <a:custGeom>
            <a:avLst/>
            <a:gdLst/>
            <a:ahLst/>
            <a:cxnLst/>
            <a:rect l="l" t="t" r="r" b="b"/>
            <a:pathLst>
              <a:path w="2480945" h="2437129">
                <a:moveTo>
                  <a:pt x="0" y="2436994"/>
                </a:moveTo>
                <a:lnTo>
                  <a:pt x="2480834" y="2436994"/>
                </a:lnTo>
                <a:lnTo>
                  <a:pt x="2480834" y="0"/>
                </a:lnTo>
                <a:lnTo>
                  <a:pt x="0" y="0"/>
                </a:lnTo>
                <a:lnTo>
                  <a:pt x="0" y="2436994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63380" y="4753131"/>
            <a:ext cx="268554" cy="268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79211" y="4526257"/>
            <a:ext cx="236898" cy="2368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88427" y="2898651"/>
            <a:ext cx="1608455" cy="992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550" b="1" dirty="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sz="355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55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550" b="1" spc="-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550" b="1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endParaRPr sz="3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10514" y="4055271"/>
            <a:ext cx="174291" cy="1742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88093" y="4254479"/>
            <a:ext cx="219132" cy="2190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31633" y="4075967"/>
            <a:ext cx="1694814" cy="882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 marR="5080">
              <a:lnSpc>
                <a:spcPts val="2010"/>
              </a:lnSpc>
            </a:pP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https://ww</a:t>
            </a:r>
            <a:r>
              <a:rPr sz="950" b="1" spc="-15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w</a:t>
            </a: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.opensds.io</a:t>
            </a:r>
            <a:r>
              <a:rPr sz="9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</a:rPr>
              <a:t>https://github.com/opensds</a:t>
            </a:r>
            <a:r>
              <a:rPr sz="95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50" b="1" spc="20" dirty="0">
                <a:solidFill>
                  <a:srgbClr val="FFFFFF"/>
                </a:solidFill>
                <a:latin typeface="Arial"/>
                <a:cs typeface="Arial"/>
                <a:hlinkClick r:id="rId8"/>
              </a:rPr>
              <a:t>info@opensds.io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40"/>
              </a:lnSpc>
              <a:spcBef>
                <a:spcPts val="575"/>
              </a:spcBef>
            </a:pPr>
            <a:r>
              <a:rPr sz="950" b="1" spc="20" dirty="0">
                <a:solidFill>
                  <a:srgbClr val="FFFFFF"/>
                </a:solidFill>
                <a:latin typeface="Arial"/>
                <a:cs typeface="Arial"/>
              </a:rPr>
              <a:t>@opensds_io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9937" y="3554951"/>
            <a:ext cx="766962" cy="2744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817</Words>
  <Application>Microsoft Office PowerPoint</Application>
  <PresentationFormat>Benutzerdefiniert</PresentationFormat>
  <Paragraphs>244</Paragraphs>
  <Slides>13</Slides>
  <Notes>13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4" baseType="lpstr">
      <vt:lpstr>Office Theme</vt:lpstr>
      <vt:lpstr>PowerPoint-Präsentation</vt:lpstr>
      <vt:lpstr>Overview</vt:lpstr>
      <vt:lpstr>The Projects</vt:lpstr>
      <vt:lpstr>PowerPoint-Präsentation</vt:lpstr>
      <vt:lpstr>PowerPoint-Präsentation</vt:lpstr>
      <vt:lpstr>PowerPoint-Präsentation</vt:lpstr>
      <vt:lpstr>PowerPoint-Präsentation</vt:lpstr>
      <vt:lpstr>NVMe-oF: Local NVMe Performance</vt:lpstr>
      <vt:lpstr>NVMe-oF: Kernel Initiator</vt:lpstr>
      <vt:lpstr>NVMe-oF: Kernel Target</vt:lpstr>
      <vt:lpstr>NVMe-oF in OpenSDS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Online2PDF.com</cp:lastModifiedBy>
  <cp:revision>1</cp:revision>
  <dcterms:created xsi:type="dcterms:W3CDTF">2018-11-28T03:44:17Z</dcterms:created>
  <dcterms:modified xsi:type="dcterms:W3CDTF">2018-11-28T02:44:20Z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2018-11-28T00:00:00Z</vt:filetime>
  </property>
  <property fmtid="{D5CDD505-2E9C-101B-9397-08002B2CF9AE}" pid="3" name="LastSaved">
    <vt:filetime>2018-11-28T00:00:00Z</vt:filetime>
  </property>
</Properties>
</file>